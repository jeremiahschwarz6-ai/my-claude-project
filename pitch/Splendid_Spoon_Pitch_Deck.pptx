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" id="{c3e5f638-5227-cb61-c20f-3d2c9afb5070}">
          <p14:sldIdLst>
            <p14:sldId id="256"/>
          </p14:sldIdLst>
        </p14:section>
        <p14:section name="Situation" id="{2de0a888-01fb-b7b4-30db-74e93f0f7b36}">
          <p14:sldIdLst>
            <p14:sldId id="257"/>
            <p14:sldId id="258"/>
            <p14:sldId id="259"/>
          </p14:sldIdLst>
        </p14:section>
        <p14:section name="Audience" id="{3292719d-d286-8794-a689-8095063f5562}">
          <p14:sldIdLst>
            <p14:sldId id="260"/>
            <p14:sldId id="261"/>
          </p14:sldIdLst>
        </p14:section>
        <p14:section name="Strategy" id="{4efd23f7-9370-ddc0-6a9c-b493c111b337}">
          <p14:sldIdLst>
            <p14:sldId id="262"/>
            <p14:sldId id="263"/>
          </p14:sldIdLst>
        </p14:section>
        <p14:section name="Audit" id="{705ea4f8-86e4-86d2-6bf6-a4f924b1b825}">
          <p14:sldIdLst>
            <p14:sldId id="264"/>
            <p14:sldId id="265"/>
          </p14:sldIdLst>
        </p14:section>
        <p14:section name="Recommendation" id="{107017b2-9196-7a66-1a31-ead93992c062}">
          <p14:sldIdLst>
            <p14:sldId id="266"/>
            <p14:sldId id="267"/>
            <p14:sldId id="268"/>
            <p14:sldId id="269"/>
          </p14:sldIdLst>
        </p14:section>
        <p14:section name="Close" id="{148a67d9-3191-4e6e-0a10-46fa51a9e35a}">
          <p14:sldIdLst>
            <p14:sldId id="270"/>
            <p14:sldId id="271"/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confident and slow. The whole pitch hangs on this phrase: you are renting your customers from Meta, and rent goes up every year.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 the problem before any solution. The zero is the punchline — they have no compounding owned discovery.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fast — thirty seconds. The founder's dual credential (chef plus biologist) matters later for content credibility.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strategic pivot of the whole pitch: stop selling the diet, start selling the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Land the last line and pause. It is the insight the entire strategy rests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Slow down here. Two beats of silence after the title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two rejected territories first — it proves the choice was reasoned, not convenient.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Aaker gives the persona academic grounding — say the framework name out loud, it is a course concept.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at YouTube's bar. This chart sets up the scorecard on the next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grid left to right. End on the F. Do not rush past it — this is the moment the pitch turns.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 line. Short and declarative, then straight into Pinterest.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strongest slide in the deck. A pin keeps working for months; an Instagram post is dead in a 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both to about twenty seconds each. The Reddit point about answering complaints in public is the memorable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Deliberately counterintuitive — recommending less effort somewhere proves the rest is prioritization, not a wish list.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closing line gets a laugh and signals confidence. Objectives that cannot fail are not objectives.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on the audience you are renting. Stop talking. Invite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read this slide aloud. It is on screen for APA compliance.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B4D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011680"/>
            <a:ext cx="10515600" cy="18288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22960" y="3977640"/>
            <a:ext cx="96012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E7B6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ASHED">
    <p:bg>
      <p:bgPr>
        <a:solidFill>
          <a:srgbClr val="F1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E7B6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E7B6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371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9BC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SPLENDID SPOON</a:t>
            </a:r>
            <a:endParaRPr lang="en-US" sz="1500" dirty="0"/>
          </a:p>
        </p:txBody>
      </p:sp>
      <p:sp>
        <p:nvSpPr>
          <p:cNvPr id="3" name="Text 1"/>
          <p:cNvSpPr/>
          <p:nvPr>
            <p:ph hasCustomPrompt="1"/>
          </p:nvPr>
        </p:nvSpPr>
        <p:spPr>
          <a:xfrm>
            <a:off x="822960" y="2011680"/>
            <a:ext cx="10515600" cy="18288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Stop renting your customers</a:t>
            </a:r>
            <a:endParaRPr lang="en-US" dirty="0"/>
          </a:p>
        </p:txBody>
      </p:sp>
      <p:sp>
        <p:nvSpPr>
          <p:cNvPr id="4" name="Text 2"/>
          <p:cNvSpPr/>
          <p:nvPr>
            <p:ph hasCustomPrompt="1"/>
          </p:nvPr>
        </p:nvSpPr>
        <p:spPr>
          <a:xfrm>
            <a:off x="822960" y="3977640"/>
            <a:ext cx="9601200" cy="1463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A social media strategy built on one idea: own the weekday lunch.</a:t>
            </a:r>
            <a:endParaRPr lang="en-US" dirty="0"/>
          </a:p>
          <a:p>
            <a:pPr indent="0" marL="0">
              <a:buNone/>
            </a:pPr>
            <a:r>
              <a:rPr lang="en-US" dirty="0"/>
              <a:t>Jeremiah Schwarz  ·  STCO 348, Strategic Communication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hasCustomPrompt="1"/>
          </p:nvPr>
        </p:nvSpPr>
        <p:spPr>
          <a:xfrm>
            <a:off x="685800" y="457200"/>
            <a:ext cx="10789920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The engine that built you is the risk that limits you</a:t>
            </a:r>
            <a:endParaRPr lang="en-US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371600"/>
            <a:ext cx="6583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142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Splendid Spoon's growth has run on paid social. That works until it doesn't — every competitor can outbid you for the same woman, on the same platform, on the same afternoon.</a:t>
            </a:r>
            <a:endParaRPr lang="en-US" sz="1700" dirty="0"/>
          </a:p>
        </p:txBody>
      </p:sp>
      <p:sp>
        <p:nvSpPr>
          <p:cNvPr id="4" name="card-of U.S. adults use Facebook — where the paid engine runs"/>
          <p:cNvSpPr/>
          <p:nvPr/>
        </p:nvSpPr>
        <p:spPr>
          <a:xfrm>
            <a:off x="685800" y="2743200"/>
            <a:ext cx="3200400" cy="1600200"/>
          </a:xfrm>
          <a:prstGeom prst="roundRect">
            <a:avLst>
              <a:gd name="adj" fmla="val 5714"/>
            </a:avLst>
          </a:prstGeom>
          <a:solidFill>
            <a:srgbClr val="F1F5EE"/>
          </a:solidFill>
          <a:ln w="12700">
            <a:solidFill>
              <a:srgbClr val="F1F5E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2907792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2F73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71%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3584448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42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U.S. adults use Facebook — where the paid engine runs</a:t>
            </a:r>
            <a:endParaRPr lang="en-US" sz="1300" dirty="0"/>
          </a:p>
        </p:txBody>
      </p:sp>
      <p:sp>
        <p:nvSpPr>
          <p:cNvPr id="7" name="card-owned channels compounding discovery for you today"/>
          <p:cNvSpPr/>
          <p:nvPr/>
        </p:nvSpPr>
        <p:spPr>
          <a:xfrm>
            <a:off x="4114800" y="2743200"/>
            <a:ext cx="3200400" cy="1600200"/>
          </a:xfrm>
          <a:prstGeom prst="roundRect">
            <a:avLst>
              <a:gd name="adj" fmla="val 5714"/>
            </a:avLst>
          </a:prstGeom>
          <a:solidFill>
            <a:srgbClr val="F1F5EE"/>
          </a:solidFill>
          <a:ln w="12700">
            <a:solidFill>
              <a:srgbClr val="F1F5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297680" y="2907792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C855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4297680" y="3584448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42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owned channels compounding discovery for you today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772400" y="2331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E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Rented attention</a:t>
            </a:r>
            <a:endParaRPr lang="en-US" sz="1300" dirty="0"/>
          </a:p>
        </p:txBody>
      </p:sp>
      <p:sp>
        <p:nvSpPr>
          <p:cNvPr id="11" name="quote-card"/>
          <p:cNvSpPr/>
          <p:nvPr/>
        </p:nvSpPr>
        <p:spPr>
          <a:xfrm>
            <a:off x="7772400" y="2743200"/>
            <a:ext cx="3657600" cy="1600200"/>
          </a:xfrm>
          <a:prstGeom prst="roundRect">
            <a:avLst>
              <a:gd name="adj" fmla="val 5714"/>
            </a:avLst>
          </a:prstGeom>
          <a:solidFill>
            <a:srgbClr val="1B4D23"/>
          </a:solidFill>
          <a:ln w="12700">
            <a:solidFill>
              <a:srgbClr val="1B4D2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973568" y="2907792"/>
            <a:ext cx="325526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“You don't own the audience. You lease it by the impression, and the lease renews at market rate.”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E7B6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hasCustomPrompt="1"/>
          </p:nvPr>
        </p:nvSpPr>
        <p:spPr>
          <a:xfrm>
            <a:off x="685800" y="457200"/>
            <a:ext cx="10789920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Who we're working with</a:t>
            </a:r>
            <a:endParaRPr lang="en-US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32588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42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Splendid Spoon delivers fully prepared, 100% plant-based meals nationwide. Founded in Brooklyn in 2013 by Nicole Centeno — a French Culinary Institute–trained chef and former research biologist.</a:t>
            </a:r>
            <a:endParaRPr lang="en-US" sz="1600" dirty="0"/>
          </a:p>
        </p:txBody>
      </p:sp>
      <p:sp>
        <p:nvSpPr>
          <p:cNvPr id="4" name="card-Founded in a rented Brooklyn pizza kitchen"/>
          <p:cNvSpPr/>
          <p:nvPr/>
        </p:nvSpPr>
        <p:spPr>
          <a:xfrm>
            <a:off x="685800" y="2514600"/>
            <a:ext cx="2542032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2679192"/>
            <a:ext cx="21762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2F73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2013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3355848"/>
            <a:ext cx="21762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42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Founded in a rented Brooklyn pizza kitchen</a:t>
            </a:r>
            <a:endParaRPr lang="en-US" sz="1300" dirty="0"/>
          </a:p>
        </p:txBody>
      </p:sp>
      <p:sp>
        <p:nvSpPr>
          <p:cNvPr id="7" name="card-Cumulative D2C revenue after the Mosaic merger"/>
          <p:cNvSpPr/>
          <p:nvPr/>
        </p:nvSpPr>
        <p:spPr>
          <a:xfrm>
            <a:off x="3447288" y="2514600"/>
            <a:ext cx="2542032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630168" y="2679192"/>
            <a:ext cx="21762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2F73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$190M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3630168" y="3355848"/>
            <a:ext cx="21762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42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D2C revenue after the Mosaic merger</a:t>
            </a:r>
            <a:endParaRPr lang="en-US" sz="1300" dirty="0"/>
          </a:p>
        </p:txBody>
      </p:sp>
      <p:sp>
        <p:nvSpPr>
          <p:cNvPr id="10" name="card-Plant-based products across chilled and frozen"/>
          <p:cNvSpPr/>
          <p:nvPr/>
        </p:nvSpPr>
        <p:spPr>
          <a:xfrm>
            <a:off x="6208776" y="2514600"/>
            <a:ext cx="2542032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91656" y="2679192"/>
            <a:ext cx="21762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2F73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200+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6391656" y="3355848"/>
            <a:ext cx="21762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42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Plant-based products across chilled and frozen</a:t>
            </a:r>
            <a:endParaRPr lang="en-US" sz="1300" dirty="0"/>
          </a:p>
        </p:txBody>
      </p:sp>
      <p:sp>
        <p:nvSpPr>
          <p:cNvPr id="13" name="card-From refrigerator to a finished meal"/>
          <p:cNvSpPr/>
          <p:nvPr/>
        </p:nvSpPr>
        <p:spPr>
          <a:xfrm>
            <a:off x="8970264" y="2514600"/>
            <a:ext cx="2542032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153144" y="2679192"/>
            <a:ext cx="21762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2F73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min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9153144" y="3355848"/>
            <a:ext cx="21762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42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refrigerator to a finished meal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466344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January 2026: acquired Mosaic Foods, adding in-house manufacturing — the company can now make its own food.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E7B6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hasCustomPrompt="1"/>
          </p:nvPr>
        </p:nvSpPr>
        <p:spPr>
          <a:xfrm>
            <a:off x="685800" y="457200"/>
            <a:ext cx="10789920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Two trends pulling in opposite directions</a:t>
            </a:r>
            <a:endParaRPr lang="en-US" dirty="0"/>
          </a:p>
        </p:txBody>
      </p:sp>
      <p:sp>
        <p:nvSpPr>
          <p:cNvPr id="3" name="trend-down"/>
          <p:cNvSpPr/>
          <p:nvPr/>
        </p:nvSpPr>
        <p:spPr>
          <a:xfrm>
            <a:off x="685800" y="1463040"/>
            <a:ext cx="5303520" cy="3566160"/>
          </a:xfrm>
          <a:prstGeom prst="roundRect">
            <a:avLst>
              <a:gd name="adj" fmla="val 3077"/>
            </a:avLst>
          </a:prstGeom>
          <a:solidFill>
            <a:srgbClr val="F1F5EE"/>
          </a:solidFill>
          <a:ln w="12700">
            <a:solidFill>
              <a:srgbClr val="F1F5E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60120" y="16916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AGAINST US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205740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855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− 4%  then  − 2%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83464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42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U.S. plant-based sales declined two years running, to $7.9 billion, as retailers cut shelf assortment (Good Food Institute, 2026).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41148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category tailwind has reversed.</a:t>
            </a:r>
            <a:endParaRPr lang="en-US" sz="1400" dirty="0"/>
          </a:p>
        </p:txBody>
      </p:sp>
      <p:sp>
        <p:nvSpPr>
          <p:cNvPr id="8" name="trend-up"/>
          <p:cNvSpPr/>
          <p:nvPr/>
        </p:nvSpPr>
        <p:spPr>
          <a:xfrm>
            <a:off x="6355080" y="1463040"/>
            <a:ext cx="5120640" cy="3566160"/>
          </a:xfrm>
          <a:prstGeom prst="roundRect">
            <a:avLst>
              <a:gd name="adj" fmla="val 3077"/>
            </a:avLst>
          </a:prstGeom>
          <a:solidFill>
            <a:srgbClr val="1B4D23"/>
          </a:solidFill>
          <a:ln w="12700">
            <a:solidFill>
              <a:srgbClr val="1B4D2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629400" y="16916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BC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FOR US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629400" y="205740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$13.7B → $30.7B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6629400" y="283464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meal delivery grows at a 12.2% compound rate through 2033 (Coherent Market Insights, 2026).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629400" y="41148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BC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 convenience, not a diet.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530352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E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read: lead with time saved. Plant-based is how the food is made, not why she buys it.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E7B6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hasCustomPrompt="1"/>
          </p:nvPr>
        </p:nvSpPr>
        <p:spPr>
          <a:xfrm>
            <a:off x="685800" y="457200"/>
            <a:ext cx="10789920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One audience, chosen on purpose</a:t>
            </a:r>
            <a:endParaRPr lang="en-US" dirty="0"/>
          </a:p>
        </p:txBody>
      </p:sp>
      <p:sp>
        <p:nvSpPr>
          <p:cNvPr id="3" name="persona"/>
          <p:cNvSpPr/>
          <p:nvPr/>
        </p:nvSpPr>
        <p:spPr>
          <a:xfrm>
            <a:off x="685800" y="1417320"/>
            <a:ext cx="5029200" cy="3017520"/>
          </a:xfrm>
          <a:prstGeom prst="roundRect">
            <a:avLst>
              <a:gd name="adj" fmla="val 3636"/>
            </a:avLst>
          </a:prstGeom>
          <a:solidFill>
            <a:srgbClr val="1B4D23"/>
          </a:solidFill>
          <a:ln w="12700">
            <a:solidFill>
              <a:srgbClr val="1B4D2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60120" y="16459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BC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TARGET PUBLIC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196596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Time-scarce working mothers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880360"/>
            <a:ext cx="4480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9BC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Ages 30–45  ·  dual-income metro households  ·  $100K+  ·  flexitarian, not vegan</a:t>
            </a:r>
            <a:endParaRPr lang="en-US" sz="1500" dirty="0"/>
          </a:p>
        </p:txBody>
      </p:sp>
      <p:sp>
        <p:nvSpPr>
          <p:cNvPr id="7" name="row-73.9%"/>
          <p:cNvSpPr/>
          <p:nvPr/>
        </p:nvSpPr>
        <p:spPr>
          <a:xfrm>
            <a:off x="6035040" y="1417320"/>
            <a:ext cx="544068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236208" y="150876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F73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73.9%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7909560" y="1508760"/>
            <a:ext cx="3364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42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U.S. mothers are in the labor force (BLS, 2026)</a:t>
            </a:r>
            <a:endParaRPr lang="en-US" sz="1300" dirty="0"/>
          </a:p>
        </p:txBody>
      </p:sp>
      <p:sp>
        <p:nvSpPr>
          <p:cNvPr id="10" name="row-43 min"/>
          <p:cNvSpPr/>
          <p:nvPr/>
        </p:nvSpPr>
        <p:spPr>
          <a:xfrm>
            <a:off x="6035040" y="2468880"/>
            <a:ext cx="544068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36208" y="256032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F73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 min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7909560" y="2560320"/>
            <a:ext cx="3364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42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day is all Americans now spend on food prep and cleanup</a:t>
            </a:r>
            <a:endParaRPr lang="en-US" sz="1300" dirty="0"/>
          </a:p>
        </p:txBody>
      </p:sp>
      <p:sp>
        <p:nvSpPr>
          <p:cNvPr id="13" name="row-58%"/>
          <p:cNvSpPr/>
          <p:nvPr/>
        </p:nvSpPr>
        <p:spPr>
          <a:xfrm>
            <a:off x="6035040" y="3520440"/>
            <a:ext cx="544068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36208" y="361188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F73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58%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7909560" y="3611880"/>
            <a:ext cx="3364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42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meal-delivery subscribers are women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480060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4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She is not short on nutrition knowledge. She is short on minutes.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E7B6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371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9BC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INSIGHT</a:t>
            </a:r>
            <a:endParaRPr lang="en-US" sz="1500" dirty="0"/>
          </a:p>
        </p:txBody>
      </p:sp>
      <p:sp>
        <p:nvSpPr>
          <p:cNvPr id="3" name="Text 1"/>
          <p:cNvSpPr/>
          <p:nvPr>
            <p:ph hasCustomPrompt="1"/>
          </p:nvPr>
        </p:nvSpPr>
        <p:spPr>
          <a:xfrm>
            <a:off x="822960" y="2011680"/>
            <a:ext cx="10515600" cy="18288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The barrier isn't knowledge. It's minutes.</a:t>
            </a:r>
            <a:endParaRPr lang="en-US" dirty="0"/>
          </a:p>
        </p:txBody>
      </p:sp>
      <p:sp>
        <p:nvSpPr>
          <p:cNvPr id="4" name="Text 2"/>
          <p:cNvSpPr/>
          <p:nvPr>
            <p:ph hasCustomPrompt="1"/>
          </p:nvPr>
        </p:nvSpPr>
        <p:spPr>
          <a:xfrm>
            <a:off x="822960" y="3977640"/>
            <a:ext cx="9601200" cy="1463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Every competitor sells aspiration. We sell relief — permission to stop negotiating with yourself about lunch.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hasCustomPrompt="1"/>
          </p:nvPr>
        </p:nvSpPr>
        <p:spPr>
          <a:xfrm>
            <a:off x="685800" y="457200"/>
            <a:ext cx="10789920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The content tilt</a:t>
            </a:r>
            <a:endParaRPr lang="en-US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325880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i="1" dirty="0">
                <a:solidFill>
                  <a:srgbClr val="6E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Joe Pulizzi defines the content tilt as “that area of little to no competition … that actually gives you a chance to break through the noise” (Pulizzi, n.d.).</a:t>
            </a:r>
            <a:endParaRPr lang="en-US" sz="1500" dirty="0"/>
          </a:p>
        </p:txBody>
      </p:sp>
      <p:sp>
        <p:nvSpPr>
          <p:cNvPr id="4" name="tilt-0"/>
          <p:cNvSpPr/>
          <p:nvPr/>
        </p:nvSpPr>
        <p:spPr>
          <a:xfrm>
            <a:off x="685800" y="2240280"/>
            <a:ext cx="10789920" cy="1051560"/>
          </a:xfrm>
          <a:prstGeom prst="roundRect">
            <a:avLst>
              <a:gd name="adj" fmla="val 8696"/>
            </a:avLst>
          </a:prstGeom>
          <a:solidFill>
            <a:srgbClr val="F1F5EE"/>
          </a:solidFill>
          <a:ln w="12700">
            <a:solidFill>
              <a:srgbClr val="F1F5E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51460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E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240487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E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Plant-based recipes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5212080" y="2404872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6E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Saturated. Every food brand and blogger is already there.</a:t>
            </a:r>
            <a:endParaRPr lang="en-US" sz="1300" dirty="0"/>
          </a:p>
        </p:txBody>
      </p:sp>
      <p:sp>
        <p:nvSpPr>
          <p:cNvPr id="8" name="tilt-1"/>
          <p:cNvSpPr/>
          <p:nvPr/>
        </p:nvSpPr>
        <p:spPr>
          <a:xfrm>
            <a:off x="685800" y="3474720"/>
            <a:ext cx="10789920" cy="1051560"/>
          </a:xfrm>
          <a:prstGeom prst="roundRect">
            <a:avLst>
              <a:gd name="adj" fmla="val 8696"/>
            </a:avLst>
          </a:prstGeom>
          <a:solidFill>
            <a:srgbClr val="F1F5EE"/>
          </a:solidFill>
          <a:ln w="12700">
            <a:solidFill>
              <a:srgbClr val="F1F5E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4400" y="374904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E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1463040" y="363931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E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loss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5212080" y="3639312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6E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Crowded, medicalized, and a promise the product can't make.</a:t>
            </a:r>
            <a:endParaRPr lang="en-US" sz="1300" dirty="0"/>
          </a:p>
        </p:txBody>
      </p:sp>
      <p:sp>
        <p:nvSpPr>
          <p:cNvPr id="12" name="tilt-2"/>
          <p:cNvSpPr/>
          <p:nvPr/>
        </p:nvSpPr>
        <p:spPr>
          <a:xfrm>
            <a:off x="685800" y="4709160"/>
            <a:ext cx="10789920" cy="1051560"/>
          </a:xfrm>
          <a:prstGeom prst="roundRect">
            <a:avLst>
              <a:gd name="adj" fmla="val 8696"/>
            </a:avLst>
          </a:prstGeom>
          <a:solidFill>
            <a:srgbClr val="1B4D23"/>
          </a:solidFill>
          <a:ln w="12700">
            <a:solidFill>
              <a:srgbClr val="1B4D2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14400" y="498348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BC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1463040" y="487375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zero-prep weekday meal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5212080" y="4873752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Owned at breakfast and lunch, when time is shortest and willpower is lowest. Nobody is competing here.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594360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Through-line: “One plant-based choice a day.” A habit, not a conversion.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E7B6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hasCustomPrompt="1"/>
          </p:nvPr>
        </p:nvSpPr>
        <p:spPr>
          <a:xfrm>
            <a:off x="685800" y="457200"/>
            <a:ext cx="10789920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How the brand should sound</a:t>
            </a:r>
            <a:endParaRPr lang="en-US" dirty="0"/>
          </a:p>
        </p:txBody>
      </p:sp>
      <p:sp>
        <p:nvSpPr>
          <p:cNvPr id="3" name="voice"/>
          <p:cNvSpPr/>
          <p:nvPr/>
        </p:nvSpPr>
        <p:spPr>
          <a:xfrm>
            <a:off x="685800" y="1371600"/>
            <a:ext cx="5212080" cy="1920240"/>
          </a:xfrm>
          <a:prstGeom prst="roundRect">
            <a:avLst>
              <a:gd name="adj" fmla="val 5714"/>
            </a:avLst>
          </a:prstGeom>
          <a:solidFill>
            <a:srgbClr val="1B4D23"/>
          </a:solidFill>
          <a:ln w="12700">
            <a:solidFill>
              <a:srgbClr val="1B4D2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60120" y="1600200"/>
            <a:ext cx="4663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7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calm, capable friend who has already solved the problem you are still worrying about.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6172200" y="1371600"/>
            <a:ext cx="5303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142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Aaker's (1997) dimensions of brand personality, Splendid Spoon indexes on sincerity and competence — and deliberately not on excitement.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172200" y="2743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E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with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955280" y="274320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2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relief — never guilt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172200" y="345643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E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are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955280" y="3456432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2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concrete: calories, protein, allergens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172200" y="4169664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E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955280" y="4169664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2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wellness authority or a coach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3749040"/>
            <a:ext cx="5212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i="1" dirty="0">
                <a:solidFill>
                  <a:srgbClr val="6E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Specificity is the argument. Vague wellness language is what the competition already sounds like.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E7B6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hasCustomPrompt="1"/>
          </p:nvPr>
        </p:nvSpPr>
        <p:spPr>
          <a:xfrm>
            <a:off x="685800" y="457200"/>
            <a:ext cx="10789920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Where her attention actually is</a:t>
            </a:r>
            <a:endParaRPr lang="en-US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78308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</a:t>
            </a:r>
            <a:endParaRPr lang="en-US" sz="1300" dirty="0"/>
          </a:p>
        </p:txBody>
      </p:sp>
      <p:sp>
        <p:nvSpPr>
          <p:cNvPr id="4" name="track-YouTube"/>
          <p:cNvSpPr/>
          <p:nvPr/>
        </p:nvSpPr>
        <p:spPr>
          <a:xfrm>
            <a:off x="2148840" y="1783080"/>
            <a:ext cx="4572000" cy="384048"/>
          </a:xfrm>
          <a:prstGeom prst="rect">
            <a:avLst/>
          </a:prstGeom>
          <a:solidFill>
            <a:srgbClr val="F1F5EE"/>
          </a:solidFill>
          <a:ln w="12700">
            <a:solidFill>
              <a:srgbClr val="F1F5EE"/>
            </a:solidFill>
            <a:prstDash val="solid"/>
          </a:ln>
        </p:spPr>
      </p:sp>
      <p:sp>
        <p:nvSpPr>
          <p:cNvPr id="5" name="bar-YouTube"/>
          <p:cNvSpPr/>
          <p:nvPr/>
        </p:nvSpPr>
        <p:spPr>
          <a:xfrm>
            <a:off x="2148840" y="1783080"/>
            <a:ext cx="3840480" cy="384048"/>
          </a:xfrm>
          <a:prstGeom prst="rect">
            <a:avLst/>
          </a:prstGeom>
          <a:solidFill>
            <a:srgbClr val="2F7336"/>
          </a:solidFill>
          <a:ln w="12700">
            <a:solidFill>
              <a:srgbClr val="2F733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0" y="178308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84%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569464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</a:t>
            </a:r>
            <a:endParaRPr lang="en-US" sz="1300" dirty="0"/>
          </a:p>
        </p:txBody>
      </p:sp>
      <p:sp>
        <p:nvSpPr>
          <p:cNvPr id="8" name="track-Facebook"/>
          <p:cNvSpPr/>
          <p:nvPr/>
        </p:nvSpPr>
        <p:spPr>
          <a:xfrm>
            <a:off x="2148840" y="2569464"/>
            <a:ext cx="4572000" cy="384048"/>
          </a:xfrm>
          <a:prstGeom prst="rect">
            <a:avLst/>
          </a:prstGeom>
          <a:solidFill>
            <a:srgbClr val="F1F5EE"/>
          </a:solidFill>
          <a:ln w="12700">
            <a:solidFill>
              <a:srgbClr val="F1F5EE"/>
            </a:solidFill>
            <a:prstDash val="solid"/>
          </a:ln>
        </p:spPr>
      </p:sp>
      <p:sp>
        <p:nvSpPr>
          <p:cNvPr id="9" name="bar-Facebook"/>
          <p:cNvSpPr/>
          <p:nvPr/>
        </p:nvSpPr>
        <p:spPr>
          <a:xfrm>
            <a:off x="2148840" y="2569464"/>
            <a:ext cx="3246120" cy="384048"/>
          </a:xfrm>
          <a:prstGeom prst="rect">
            <a:avLst/>
          </a:prstGeom>
          <a:solidFill>
            <a:srgbClr val="2F7336"/>
          </a:solidFill>
          <a:ln w="12700">
            <a:solidFill>
              <a:srgbClr val="2F733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0" y="2569464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71%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335584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</a:t>
            </a:r>
            <a:endParaRPr lang="en-US" sz="1300" dirty="0"/>
          </a:p>
        </p:txBody>
      </p:sp>
      <p:sp>
        <p:nvSpPr>
          <p:cNvPr id="12" name="track-Instagram"/>
          <p:cNvSpPr/>
          <p:nvPr/>
        </p:nvSpPr>
        <p:spPr>
          <a:xfrm>
            <a:off x="2148840" y="3355848"/>
            <a:ext cx="4572000" cy="384048"/>
          </a:xfrm>
          <a:prstGeom prst="rect">
            <a:avLst/>
          </a:prstGeom>
          <a:solidFill>
            <a:srgbClr val="F1F5EE"/>
          </a:solidFill>
          <a:ln w="12700">
            <a:solidFill>
              <a:srgbClr val="F1F5EE"/>
            </a:solidFill>
            <a:prstDash val="solid"/>
          </a:ln>
        </p:spPr>
      </p:sp>
      <p:sp>
        <p:nvSpPr>
          <p:cNvPr id="13" name="bar-Instagram"/>
          <p:cNvSpPr/>
          <p:nvPr/>
        </p:nvSpPr>
        <p:spPr>
          <a:xfrm>
            <a:off x="2148840" y="3355848"/>
            <a:ext cx="2286000" cy="384048"/>
          </a:xfrm>
          <a:prstGeom prst="rect">
            <a:avLst/>
          </a:prstGeom>
          <a:solidFill>
            <a:srgbClr val="2F7336"/>
          </a:solidFill>
          <a:ln w="12700">
            <a:solidFill>
              <a:srgbClr val="2F733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0" y="3355848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414223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TikTok</a:t>
            </a:r>
            <a:endParaRPr lang="en-US" sz="1300" dirty="0"/>
          </a:p>
        </p:txBody>
      </p:sp>
      <p:sp>
        <p:nvSpPr>
          <p:cNvPr id="16" name="track-TikTok"/>
          <p:cNvSpPr/>
          <p:nvPr/>
        </p:nvSpPr>
        <p:spPr>
          <a:xfrm>
            <a:off x="2148840" y="4142232"/>
            <a:ext cx="4572000" cy="384048"/>
          </a:xfrm>
          <a:prstGeom prst="rect">
            <a:avLst/>
          </a:prstGeom>
          <a:solidFill>
            <a:srgbClr val="F1F5EE"/>
          </a:solidFill>
          <a:ln w="12700">
            <a:solidFill>
              <a:srgbClr val="F1F5EE"/>
            </a:solidFill>
            <a:prstDash val="solid"/>
          </a:ln>
        </p:spPr>
      </p:sp>
      <p:sp>
        <p:nvSpPr>
          <p:cNvPr id="17" name="bar-TikTok"/>
          <p:cNvSpPr/>
          <p:nvPr/>
        </p:nvSpPr>
        <p:spPr>
          <a:xfrm>
            <a:off x="2148840" y="4142232"/>
            <a:ext cx="1691640" cy="384048"/>
          </a:xfrm>
          <a:prstGeom prst="rect">
            <a:avLst/>
          </a:prstGeom>
          <a:solidFill>
            <a:srgbClr val="2F7336"/>
          </a:solidFill>
          <a:ln w="12700">
            <a:solidFill>
              <a:srgbClr val="2F733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858000" y="4142232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37%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4928616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Reddit</a:t>
            </a:r>
            <a:endParaRPr lang="en-US" sz="1300" dirty="0"/>
          </a:p>
        </p:txBody>
      </p:sp>
      <p:sp>
        <p:nvSpPr>
          <p:cNvPr id="20" name="track-Reddit"/>
          <p:cNvSpPr/>
          <p:nvPr/>
        </p:nvSpPr>
        <p:spPr>
          <a:xfrm>
            <a:off x="2148840" y="4928616"/>
            <a:ext cx="4572000" cy="384048"/>
          </a:xfrm>
          <a:prstGeom prst="rect">
            <a:avLst/>
          </a:prstGeom>
          <a:solidFill>
            <a:srgbClr val="F1F5EE"/>
          </a:solidFill>
          <a:ln w="12700">
            <a:solidFill>
              <a:srgbClr val="F1F5EE"/>
            </a:solidFill>
            <a:prstDash val="solid"/>
          </a:ln>
        </p:spPr>
      </p:sp>
      <p:sp>
        <p:nvSpPr>
          <p:cNvPr id="21" name="bar-Reddit"/>
          <p:cNvSpPr/>
          <p:nvPr/>
        </p:nvSpPr>
        <p:spPr>
          <a:xfrm>
            <a:off x="2148840" y="4928616"/>
            <a:ext cx="1188720" cy="384048"/>
          </a:xfrm>
          <a:prstGeom prst="rect">
            <a:avLst/>
          </a:prstGeom>
          <a:solidFill>
            <a:srgbClr val="2F7336"/>
          </a:solidFill>
          <a:ln w="12700">
            <a:solidFill>
              <a:srgbClr val="2F733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858000" y="4928616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26%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85800" y="5806440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U.S. adults who use each platform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85800" y="6053328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Pew Research Center, 2025</a:t>
            </a:r>
            <a:endParaRPr lang="en-US" sz="1000" dirty="0"/>
          </a:p>
        </p:txBody>
      </p:sp>
      <p:sp>
        <p:nvSpPr>
          <p:cNvPr id="25" name="reach-note"/>
          <p:cNvSpPr/>
          <p:nvPr/>
        </p:nvSpPr>
        <p:spPr>
          <a:xfrm>
            <a:off x="7955280" y="1737360"/>
            <a:ext cx="3520440" cy="3200400"/>
          </a:xfrm>
          <a:prstGeom prst="roundRect">
            <a:avLst>
              <a:gd name="adj" fmla="val 3429"/>
            </a:avLst>
          </a:prstGeom>
          <a:solidFill>
            <a:srgbClr val="F1F5EE"/>
          </a:solidFill>
          <a:ln w="12700">
            <a:solidFill>
              <a:srgbClr val="F1F5E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183880" y="201168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42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platforms with the widest reach — YouTube at 84% — are the two where Splendid Spoon has no presence at all.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8183880" y="352044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6E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Reddit has grown from 18% to 26% in four years, and 77% of people now add “Reddit” to a Google search for recommendations.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E7B6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hasCustomPrompt="1"/>
          </p:nvPr>
        </p:nvSpPr>
        <p:spPr>
          <a:xfrm>
            <a:off x="685800" y="457200"/>
            <a:ext cx="10789920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Where Splendid Spoon actually is</a:t>
            </a:r>
            <a:endParaRPr lang="en-US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23444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2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graded all nine channels against the research. Three are excellent. One is a hole.</a:t>
            </a:r>
            <a:endParaRPr lang="en-US" sz="1500" dirty="0"/>
          </a:p>
        </p:txBody>
      </p:sp>
      <p:sp>
        <p:nvSpPr>
          <p:cNvPr id="4" name="grade-Instagram"/>
          <p:cNvSpPr/>
          <p:nvPr/>
        </p:nvSpPr>
        <p:spPr>
          <a:xfrm>
            <a:off x="685800" y="1783080"/>
            <a:ext cx="3410712" cy="1234440"/>
          </a:xfrm>
          <a:prstGeom prst="roundRect">
            <a:avLst>
              <a:gd name="adj" fmla="val 5926"/>
            </a:avLst>
          </a:prstGeom>
          <a:solidFill>
            <a:srgbClr val="1B4D23"/>
          </a:solidFill>
          <a:ln w="12700">
            <a:solidFill>
              <a:srgbClr val="1B4D2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50392" y="1929384"/>
            <a:ext cx="777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1673352" y="1965960"/>
            <a:ext cx="2258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673352" y="2313432"/>
            <a:ext cx="2258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106,000 followers; strongest owned channel</a:t>
            </a:r>
            <a:endParaRPr lang="en-US" sz="1100" dirty="0"/>
          </a:p>
        </p:txBody>
      </p:sp>
      <p:sp>
        <p:nvSpPr>
          <p:cNvPr id="8" name="grade-Blog — The Spoonful"/>
          <p:cNvSpPr/>
          <p:nvPr/>
        </p:nvSpPr>
        <p:spPr>
          <a:xfrm>
            <a:off x="4370832" y="1783080"/>
            <a:ext cx="3410712" cy="1234440"/>
          </a:xfrm>
          <a:prstGeom prst="roundRect">
            <a:avLst>
              <a:gd name="adj" fmla="val 5926"/>
            </a:avLst>
          </a:prstGeom>
          <a:solidFill>
            <a:srgbClr val="1B4D23"/>
          </a:solidFill>
          <a:ln w="12700">
            <a:solidFill>
              <a:srgbClr val="1B4D2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35424" y="1929384"/>
            <a:ext cx="777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3800" dirty="0"/>
          </a:p>
        </p:txBody>
      </p:sp>
      <p:sp>
        <p:nvSpPr>
          <p:cNvPr id="10" name="Text 8"/>
          <p:cNvSpPr txBox="1"/>
          <p:nvPr/>
        </p:nvSpPr>
        <p:spPr>
          <a:xfrm>
            <a:off x="5358384" y="1965960"/>
            <a:ext cx="2258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Blog — The Spoonful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358384" y="2313432"/>
            <a:ext cx="2258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Recipes and meal plans that rank in search</a:t>
            </a:r>
            <a:endParaRPr lang="en-US" sz="1100" dirty="0"/>
          </a:p>
        </p:txBody>
      </p:sp>
      <p:sp>
        <p:nvSpPr>
          <p:cNvPr id="12" name="grade-Facebook"/>
          <p:cNvSpPr/>
          <p:nvPr/>
        </p:nvSpPr>
        <p:spPr>
          <a:xfrm>
            <a:off x="8055864" y="1783080"/>
            <a:ext cx="3410712" cy="1234440"/>
          </a:xfrm>
          <a:prstGeom prst="roundRect">
            <a:avLst>
              <a:gd name="adj" fmla="val 5926"/>
            </a:avLst>
          </a:prstGeom>
          <a:solidFill>
            <a:srgbClr val="1B4D23"/>
          </a:solidFill>
          <a:ln w="12700">
            <a:solidFill>
              <a:srgbClr val="1B4D2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0456" y="1929384"/>
            <a:ext cx="777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3800" dirty="0"/>
          </a:p>
        </p:txBody>
      </p:sp>
      <p:sp>
        <p:nvSpPr>
          <p:cNvPr id="14" name="Text 12"/>
          <p:cNvSpPr txBox="1"/>
          <p:nvPr/>
        </p:nvSpPr>
        <p:spPr>
          <a:xfrm>
            <a:off x="9043416" y="1965960"/>
            <a:ext cx="2258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043416" y="2313432"/>
            <a:ext cx="2258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48,900 likes; precise paid targeting</a:t>
            </a:r>
            <a:endParaRPr lang="en-US" sz="1100" dirty="0"/>
          </a:p>
        </p:txBody>
      </p:sp>
      <p:sp>
        <p:nvSpPr>
          <p:cNvPr id="16" name="grade-Podcasts"/>
          <p:cNvSpPr/>
          <p:nvPr/>
        </p:nvSpPr>
        <p:spPr>
          <a:xfrm>
            <a:off x="685800" y="3200400"/>
            <a:ext cx="3410712" cy="1234440"/>
          </a:xfrm>
          <a:prstGeom prst="roundRect">
            <a:avLst>
              <a:gd name="adj" fmla="val 5926"/>
            </a:avLst>
          </a:prstGeom>
          <a:solidFill>
            <a:srgbClr val="2F7336"/>
          </a:solidFill>
          <a:ln w="12700">
            <a:solidFill>
              <a:srgbClr val="2F733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50392" y="3346704"/>
            <a:ext cx="777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3800" dirty="0"/>
          </a:p>
        </p:txBody>
      </p:sp>
      <p:sp>
        <p:nvSpPr>
          <p:cNvPr id="18" name="Text 16"/>
          <p:cNvSpPr txBox="1"/>
          <p:nvPr/>
        </p:nvSpPr>
        <p:spPr>
          <a:xfrm>
            <a:off x="1673352" y="3383280"/>
            <a:ext cx="2258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Podcasts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673352" y="3730752"/>
            <a:ext cx="2258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~22 sponsorships a year, all rented</a:t>
            </a:r>
            <a:endParaRPr lang="en-US" sz="1100" dirty="0"/>
          </a:p>
        </p:txBody>
      </p:sp>
      <p:sp>
        <p:nvSpPr>
          <p:cNvPr id="20" name="grade-LinkedIn"/>
          <p:cNvSpPr/>
          <p:nvPr/>
        </p:nvSpPr>
        <p:spPr>
          <a:xfrm>
            <a:off x="4370832" y="3200400"/>
            <a:ext cx="3410712" cy="1234440"/>
          </a:xfrm>
          <a:prstGeom prst="roundRect">
            <a:avLst>
              <a:gd name="adj" fmla="val 5926"/>
            </a:avLst>
          </a:prstGeom>
          <a:solidFill>
            <a:srgbClr val="5C9E3F"/>
          </a:solidFill>
          <a:ln w="12700">
            <a:solidFill>
              <a:srgbClr val="5C9E3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535424" y="3346704"/>
            <a:ext cx="777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428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3800" dirty="0"/>
          </a:p>
        </p:txBody>
      </p:sp>
      <p:sp>
        <p:nvSpPr>
          <p:cNvPr id="22" name="Text 20"/>
          <p:cNvSpPr txBox="1"/>
          <p:nvPr/>
        </p:nvSpPr>
        <p:spPr>
          <a:xfrm>
            <a:off x="5358384" y="3383280"/>
            <a:ext cx="2258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5358384" y="3730752"/>
            <a:ext cx="2258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42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4,200 followers; used as a notice board</a:t>
            </a:r>
            <a:endParaRPr lang="en-US" sz="1100" dirty="0"/>
          </a:p>
        </p:txBody>
      </p:sp>
      <p:sp>
        <p:nvSpPr>
          <p:cNvPr id="24" name="grade-TikTok"/>
          <p:cNvSpPr/>
          <p:nvPr/>
        </p:nvSpPr>
        <p:spPr>
          <a:xfrm>
            <a:off x="8055864" y="3200400"/>
            <a:ext cx="3410712" cy="1234440"/>
          </a:xfrm>
          <a:prstGeom prst="roundRect">
            <a:avLst>
              <a:gd name="adj" fmla="val 5926"/>
            </a:avLst>
          </a:prstGeom>
          <a:solidFill>
            <a:srgbClr val="9BC47A"/>
          </a:solidFill>
          <a:ln w="12700">
            <a:solidFill>
              <a:srgbClr val="9BC47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220456" y="3346704"/>
            <a:ext cx="777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428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3800" dirty="0"/>
          </a:p>
        </p:txBody>
      </p:sp>
      <p:sp>
        <p:nvSpPr>
          <p:cNvPr id="26" name="Text 24"/>
          <p:cNvSpPr txBox="1"/>
          <p:nvPr/>
        </p:nvSpPr>
        <p:spPr>
          <a:xfrm>
            <a:off x="9043416" y="3383280"/>
            <a:ext cx="2258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TikTok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9043416" y="3730752"/>
            <a:ext cx="2258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42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3,480 followers — 3% of Instagram</a:t>
            </a:r>
            <a:endParaRPr lang="en-US" sz="1100" dirty="0"/>
          </a:p>
        </p:txBody>
      </p:sp>
      <p:sp>
        <p:nvSpPr>
          <p:cNvPr id="28" name="grade-YouTube"/>
          <p:cNvSpPr/>
          <p:nvPr/>
        </p:nvSpPr>
        <p:spPr>
          <a:xfrm>
            <a:off x="685800" y="4617720"/>
            <a:ext cx="3410712" cy="1234440"/>
          </a:xfrm>
          <a:prstGeom prst="roundRect">
            <a:avLst>
              <a:gd name="adj" fmla="val 5926"/>
            </a:avLst>
          </a:prstGeom>
          <a:solidFill>
            <a:srgbClr val="9BC47A"/>
          </a:solidFill>
          <a:ln w="12700">
            <a:solidFill>
              <a:srgbClr val="9BC47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50392" y="4764024"/>
            <a:ext cx="777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428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3800" dirty="0"/>
          </a:p>
        </p:txBody>
      </p:sp>
      <p:sp>
        <p:nvSpPr>
          <p:cNvPr id="30" name="Text 28"/>
          <p:cNvSpPr txBox="1"/>
          <p:nvPr/>
        </p:nvSpPr>
        <p:spPr>
          <a:xfrm>
            <a:off x="1673352" y="4800600"/>
            <a:ext cx="2258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1673352" y="5148072"/>
            <a:ext cx="2258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42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channel. 84% of adults unreached</a:t>
            </a:r>
            <a:endParaRPr lang="en-US" sz="1100" dirty="0"/>
          </a:p>
        </p:txBody>
      </p:sp>
      <p:sp>
        <p:nvSpPr>
          <p:cNvPr id="32" name="grade-Reddit"/>
          <p:cNvSpPr/>
          <p:nvPr/>
        </p:nvSpPr>
        <p:spPr>
          <a:xfrm>
            <a:off x="4370832" y="4617720"/>
            <a:ext cx="3410712" cy="1234440"/>
          </a:xfrm>
          <a:prstGeom prst="roundRect">
            <a:avLst>
              <a:gd name="adj" fmla="val 5926"/>
            </a:avLst>
          </a:prstGeom>
          <a:solidFill>
            <a:srgbClr val="9BC47A"/>
          </a:solidFill>
          <a:ln w="12700">
            <a:solidFill>
              <a:srgbClr val="9BC47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535424" y="4764024"/>
            <a:ext cx="777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428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3800" dirty="0"/>
          </a:p>
        </p:txBody>
      </p:sp>
      <p:sp>
        <p:nvSpPr>
          <p:cNvPr id="34" name="Text 32"/>
          <p:cNvSpPr txBox="1"/>
          <p:nvPr/>
        </p:nvSpPr>
        <p:spPr>
          <a:xfrm>
            <a:off x="5358384" y="4800600"/>
            <a:ext cx="2258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Reddit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5358384" y="5148072"/>
            <a:ext cx="2258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42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account where trust is being built</a:t>
            </a:r>
            <a:endParaRPr lang="en-US" sz="1100" dirty="0"/>
          </a:p>
        </p:txBody>
      </p:sp>
      <p:sp>
        <p:nvSpPr>
          <p:cNvPr id="36" name="grade-Pinterest"/>
          <p:cNvSpPr/>
          <p:nvPr/>
        </p:nvSpPr>
        <p:spPr>
          <a:xfrm>
            <a:off x="8055864" y="4617720"/>
            <a:ext cx="3410712" cy="1234440"/>
          </a:xfrm>
          <a:prstGeom prst="roundRect">
            <a:avLst>
              <a:gd name="adj" fmla="val 5926"/>
            </a:avLst>
          </a:prstGeom>
          <a:solidFill>
            <a:srgbClr val="C8551F"/>
          </a:solidFill>
          <a:ln w="12700">
            <a:solidFill>
              <a:srgbClr val="C8551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220456" y="4764024"/>
            <a:ext cx="777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</a:t>
            </a:r>
            <a:endParaRPr lang="en-US" sz="3800" dirty="0"/>
          </a:p>
        </p:txBody>
      </p:sp>
      <p:sp>
        <p:nvSpPr>
          <p:cNvPr id="38" name="Text 36"/>
          <p:cNvSpPr txBox="1"/>
          <p:nvPr/>
        </p:nvSpPr>
        <p:spPr>
          <a:xfrm>
            <a:off x="9043416" y="4800600"/>
            <a:ext cx="2258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Pinterest</a:t>
            </a:r>
            <a:endParaRPr lang="en-US" sz="1500" dirty="0"/>
          </a:p>
        </p:txBody>
      </p:sp>
      <p:sp>
        <p:nvSpPr>
          <p:cNvPr id="39" name="Text 37"/>
          <p:cNvSpPr txBox="1"/>
          <p:nvPr/>
        </p:nvSpPr>
        <p:spPr>
          <a:xfrm>
            <a:off x="9043416" y="5148072"/>
            <a:ext cx="2258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Absent from its best-matched platform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685800" y="612648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Grades reflect fit against the audience research — not effort or follower count.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E7B6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371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9BC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RECOMMENDATION</a:t>
            </a:r>
            <a:endParaRPr lang="en-US" sz="1500" dirty="0"/>
          </a:p>
        </p:txBody>
      </p:sp>
      <p:sp>
        <p:nvSpPr>
          <p:cNvPr id="3" name="Text 1"/>
          <p:cNvSpPr/>
          <p:nvPr>
            <p:ph hasCustomPrompt="1"/>
          </p:nvPr>
        </p:nvSpPr>
        <p:spPr>
          <a:xfrm>
            <a:off x="822960" y="2011680"/>
            <a:ext cx="10515600" cy="18288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Stop renting attention. Start owning discovery.</a:t>
            </a:r>
            <a:endParaRPr lang="en-US" dirty="0"/>
          </a:p>
        </p:txBody>
      </p:sp>
      <p:sp>
        <p:nvSpPr>
          <p:cNvPr id="4" name="Text 2"/>
          <p:cNvSpPr/>
          <p:nvPr>
            <p:ph hasCustomPrompt="1"/>
          </p:nvPr>
        </p:nvSpPr>
        <p:spPr>
          <a:xfrm>
            <a:off x="822960" y="3977640"/>
            <a:ext cx="9601200" cy="1463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Three moves, in priority order — and one deliberate retreat.</a:t>
            </a: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hasCustomPrompt="1"/>
          </p:nvPr>
        </p:nvSpPr>
        <p:spPr>
          <a:xfrm>
            <a:off x="685800" y="457200"/>
            <a:ext cx="10789920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Priority 1 — Pinterest</a:t>
            </a:r>
            <a:endParaRPr lang="en-US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28016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B4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“Your next three weeks of lunches, planned before you are hungry.”</a:t>
            </a:r>
            <a:endParaRPr lang="en-US" sz="1800" dirty="0"/>
          </a:p>
        </p:txBody>
      </p:sp>
      <p:sp>
        <p:nvSpPr>
          <p:cNvPr id="4" name="card-of Pinterest users are there to plan a purchase"/>
          <p:cNvSpPr/>
          <p:nvPr/>
        </p:nvSpPr>
        <p:spPr>
          <a:xfrm>
            <a:off x="685800" y="1920240"/>
            <a:ext cx="2542032" cy="1600200"/>
          </a:xfrm>
          <a:prstGeom prst="roundRect">
            <a:avLst>
              <a:gd name="adj" fmla="val 5714"/>
            </a:avLst>
          </a:prstGeom>
          <a:solidFill>
            <a:srgbClr val="F1F5EE"/>
          </a:solidFill>
          <a:ln w="12700">
            <a:solidFill>
              <a:srgbClr val="F1F5E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2084832"/>
            <a:ext cx="21762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2F73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93%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761488"/>
            <a:ext cx="21762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42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Pinterest users are there to plan a purchase</a:t>
            </a:r>
            <a:endParaRPr lang="en-US" sz="1300" dirty="0"/>
          </a:p>
        </p:txBody>
      </p:sp>
      <p:sp>
        <p:nvSpPr>
          <p:cNvPr id="7" name="card-use it while they are grocery shopping"/>
          <p:cNvSpPr/>
          <p:nvPr/>
        </p:nvSpPr>
        <p:spPr>
          <a:xfrm>
            <a:off x="3447288" y="1920240"/>
            <a:ext cx="2542032" cy="1600200"/>
          </a:xfrm>
          <a:prstGeom prst="roundRect">
            <a:avLst>
              <a:gd name="adj" fmla="val 5714"/>
            </a:avLst>
          </a:prstGeom>
          <a:solidFill>
            <a:srgbClr val="F1F5EE"/>
          </a:solidFill>
          <a:ln w="12700">
            <a:solidFill>
              <a:srgbClr val="F1F5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630168" y="2084832"/>
            <a:ext cx="21762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2F73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86%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3630168" y="2761488"/>
            <a:ext cx="21762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42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 while they are grocery shopping</a:t>
            </a:r>
            <a:endParaRPr lang="en-US" sz="1300" dirty="0"/>
          </a:p>
        </p:txBody>
      </p:sp>
      <p:sp>
        <p:nvSpPr>
          <p:cNvPr id="10" name="card-ahead is when they save — planning, not reacting"/>
          <p:cNvSpPr/>
          <p:nvPr/>
        </p:nvSpPr>
        <p:spPr>
          <a:xfrm>
            <a:off x="6208776" y="1920240"/>
            <a:ext cx="2542032" cy="1600200"/>
          </a:xfrm>
          <a:prstGeom prst="roundRect">
            <a:avLst>
              <a:gd name="adj" fmla="val 5714"/>
            </a:avLst>
          </a:prstGeom>
          <a:solidFill>
            <a:srgbClr val="F1F5EE"/>
          </a:solidFill>
          <a:ln w="12700">
            <a:solidFill>
              <a:srgbClr val="F1F5E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91656" y="2084832"/>
            <a:ext cx="21762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2F73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1–3 mo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6391656" y="2761488"/>
            <a:ext cx="21762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42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ahead is when they save — planning, not reacting</a:t>
            </a:r>
            <a:endParaRPr lang="en-US" sz="1300" dirty="0"/>
          </a:p>
        </p:txBody>
      </p:sp>
      <p:sp>
        <p:nvSpPr>
          <p:cNvPr id="13" name="card-Food is the platform's single largest category"/>
          <p:cNvSpPr/>
          <p:nvPr/>
        </p:nvSpPr>
        <p:spPr>
          <a:xfrm>
            <a:off x="8970264" y="1920240"/>
            <a:ext cx="2542032" cy="1600200"/>
          </a:xfrm>
          <a:prstGeom prst="roundRect">
            <a:avLst>
              <a:gd name="adj" fmla="val 5714"/>
            </a:avLst>
          </a:prstGeom>
          <a:solidFill>
            <a:srgbClr val="F1F5EE"/>
          </a:solidFill>
          <a:ln w="12700">
            <a:solidFill>
              <a:srgbClr val="F1F5E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153144" y="2084832"/>
            <a:ext cx="21762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2F73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#1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9153144" y="2761488"/>
            <a:ext cx="21762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42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is the platform's single largest category</a:t>
            </a:r>
            <a:endParaRPr lang="en-US" sz="1300" dirty="0"/>
          </a:p>
        </p:txBody>
      </p:sp>
      <p:sp>
        <p:nvSpPr>
          <p:cNvPr id="16" name="pin-exec"/>
          <p:cNvSpPr/>
          <p:nvPr/>
        </p:nvSpPr>
        <p:spPr>
          <a:xfrm>
            <a:off x="685800" y="3794760"/>
            <a:ext cx="5303520" cy="2057400"/>
          </a:xfrm>
          <a:prstGeom prst="roundRect">
            <a:avLst>
              <a:gd name="adj" fmla="val 5333"/>
            </a:avLst>
          </a:prstGeom>
          <a:solidFill>
            <a:srgbClr val="F1F5EE"/>
          </a:solidFill>
          <a:ln w="12700">
            <a:solidFill>
              <a:srgbClr val="F1F5E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14400" y="39776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E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914400" y="4297680"/>
            <a:ext cx="4846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142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recipe and meal-plan pins. Boards for Desk Lunch, 7-Day Plant-Based Plan, One Choice a Day. Pin 30–60 days ahead of the season. Link to plan pages, never the homepage.</a:t>
            </a:r>
            <a:endParaRPr lang="en-US" sz="1350" dirty="0"/>
          </a:p>
        </p:txBody>
      </p:sp>
      <p:sp>
        <p:nvSpPr>
          <p:cNvPr id="19" name="pin-obj"/>
          <p:cNvSpPr/>
          <p:nvPr/>
        </p:nvSpPr>
        <p:spPr>
          <a:xfrm>
            <a:off x="6172200" y="3794760"/>
            <a:ext cx="5303520" cy="2057400"/>
          </a:xfrm>
          <a:prstGeom prst="roundRect">
            <a:avLst>
              <a:gd name="adj" fmla="val 5333"/>
            </a:avLst>
          </a:prstGeom>
          <a:solidFill>
            <a:srgbClr val="1B4D23"/>
          </a:solidFill>
          <a:ln w="12700">
            <a:solidFill>
              <a:srgbClr val="1B4D2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0" y="39776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BC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0" y="4297680"/>
            <a:ext cx="4846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live within 60 days  ·  25 pins a month  ·  50,000 monthly impressions and 1,500 referred sessions by month six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685800" y="5989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Searchlab, 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E7B6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hasCustomPrompt="1"/>
          </p:nvPr>
        </p:nvSpPr>
        <p:spPr>
          <a:xfrm>
            <a:off x="685800" y="457200"/>
            <a:ext cx="10789920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Priorities 2 and 3 — YouTube and Reddit</a:t>
            </a:r>
            <a:endParaRPr lang="en-US" dirty="0"/>
          </a:p>
        </p:txBody>
      </p:sp>
      <p:sp>
        <p:nvSpPr>
          <p:cNvPr id="3" name="col-YouTube"/>
          <p:cNvSpPr/>
          <p:nvPr/>
        </p:nvSpPr>
        <p:spPr>
          <a:xfrm>
            <a:off x="685800" y="1371600"/>
            <a:ext cx="525780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60120" y="1572768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4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YouTube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2011680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F73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84% of U.S. adults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59152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42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“Watch exactly how two minutes becomes lunch.”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2926080"/>
            <a:ext cx="4709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42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is visual and preparation is demonstrable — a two-minute meal is already a two-minute video. Launch a channel; repurpose Reels as Shorts; run a founder-led nutrition series on her chef-and-biologist credential.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4754880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1B4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 90 days  ·  2 videos a week  ·  10,000 subscribers in year one</a:t>
            </a:r>
            <a:endParaRPr lang="en-US" sz="1250" dirty="0"/>
          </a:p>
        </p:txBody>
      </p:sp>
      <p:sp>
        <p:nvSpPr>
          <p:cNvPr id="9" name="col-Reddit"/>
          <p:cNvSpPr/>
          <p:nvPr/>
        </p:nvSpPr>
        <p:spPr>
          <a:xfrm>
            <a:off x="6217920" y="1371600"/>
            <a:ext cx="525780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92240" y="1572768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4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Reddit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6492240" y="2011680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F73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77% add “Reddit” to searches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492240" y="2359152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42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“Straight answers where marketing isn't trusted.”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492240" y="2926080"/>
            <a:ext cx="4709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42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a verified account and host a founder AMA. Answer the delivery and taste complaints in public rather than deleting them — 64% of users prefer transparency to promotion, and founder AMAs draw four times the engagement.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492240" y="4754880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1B4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in 30 days  ·  one AMA in six months  ·  reply to every mention inside 48 hours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E7B6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hasCustomPrompt="1"/>
          </p:nvPr>
        </p:nvSpPr>
        <p:spPr>
          <a:xfrm>
            <a:off x="685800" y="457200"/>
            <a:ext cx="10789920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And one thing to stop chasing</a:t>
            </a:r>
            <a:endParaRPr lang="en-US" dirty="0"/>
          </a:p>
        </p:txBody>
      </p:sp>
      <p:sp>
        <p:nvSpPr>
          <p:cNvPr id="3" name="tiktok-card"/>
          <p:cNvSpPr/>
          <p:nvPr/>
        </p:nvSpPr>
        <p:spPr>
          <a:xfrm>
            <a:off x="685800" y="1463040"/>
            <a:ext cx="5120640" cy="3291840"/>
          </a:xfrm>
          <a:prstGeom prst="roundRect">
            <a:avLst>
              <a:gd name="adj" fmla="val 3333"/>
            </a:avLst>
          </a:prstGeom>
          <a:solidFill>
            <a:srgbClr val="F1F5EE"/>
          </a:solidFill>
          <a:ln w="12700">
            <a:solidFill>
              <a:srgbClr val="F1F5E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60120" y="17373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TIKTOK — HOLD AT MAINTENANCE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210312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855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3,480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88036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42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followers — about 3% of the Instagram audience, after real effort.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361188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6E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TikTok's heaviest users are the youngest adults — precisely the people least able to afford a $9.99–$13.49 meal.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172200" y="150876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4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that buys us</a:t>
            </a:r>
            <a:endParaRPr lang="en-US" sz="1800" dirty="0"/>
          </a:p>
        </p:txBody>
      </p:sp>
      <p:sp>
        <p:nvSpPr>
          <p:cNvPr id="9" name="bullet-0"/>
          <p:cNvSpPr/>
          <p:nvPr/>
        </p:nvSpPr>
        <p:spPr>
          <a:xfrm>
            <a:off x="6172200" y="2130552"/>
            <a:ext cx="274320" cy="274320"/>
          </a:xfrm>
          <a:prstGeom prst="ellipse">
            <a:avLst/>
          </a:prstGeom>
          <a:solidFill>
            <a:srgbClr val="1B4D23"/>
          </a:solidFill>
          <a:ln w="12700">
            <a:solidFill>
              <a:srgbClr val="1B4D2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172200" y="21305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629400" y="205740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142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Repurpose three Reels a week at near-zero marginal cost — keep the account alive, stop funding original production for it.</a:t>
            </a:r>
            <a:endParaRPr lang="en-US" sz="1350" dirty="0"/>
          </a:p>
        </p:txBody>
      </p:sp>
      <p:sp>
        <p:nvSpPr>
          <p:cNvPr id="12" name="bullet-1"/>
          <p:cNvSpPr/>
          <p:nvPr/>
        </p:nvSpPr>
        <p:spPr>
          <a:xfrm>
            <a:off x="6172200" y="3090672"/>
            <a:ext cx="274320" cy="274320"/>
          </a:xfrm>
          <a:prstGeom prst="ellipse">
            <a:avLst/>
          </a:prstGeom>
          <a:solidFill>
            <a:srgbClr val="1B4D23"/>
          </a:solidFill>
          <a:ln w="12700">
            <a:solidFill>
              <a:srgbClr val="1B4D2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172200" y="3090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629400" y="301752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142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Redirect that production time into Pinterest and YouTube, where the audience and the intent actually are.</a:t>
            </a:r>
            <a:endParaRPr lang="en-US" sz="1350" dirty="0"/>
          </a:p>
        </p:txBody>
      </p:sp>
      <p:sp>
        <p:nvSpPr>
          <p:cNvPr id="15" name="bullet-2"/>
          <p:cNvSpPr/>
          <p:nvPr/>
        </p:nvSpPr>
        <p:spPr>
          <a:xfrm>
            <a:off x="6172200" y="4050792"/>
            <a:ext cx="274320" cy="274320"/>
          </a:xfrm>
          <a:prstGeom prst="ellipse">
            <a:avLst/>
          </a:prstGeom>
          <a:solidFill>
            <a:srgbClr val="1B4D23"/>
          </a:solidFill>
          <a:ln w="12700">
            <a:solidFill>
              <a:srgbClr val="1B4D2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172200" y="40507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629400" y="397764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142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Formally reassess in two quarters rather than quietly drifting.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685800" y="512064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strategy that only adds is a wish list. Prioritizing means saying what we stop.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E7B6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hasCustomPrompt="1"/>
          </p:nvPr>
        </p:nvSpPr>
        <p:spPr>
          <a:xfrm>
            <a:off x="685800" y="457200"/>
            <a:ext cx="10789920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What the first year looks like</a:t>
            </a:r>
            <a:endParaRPr lang="en-US" dirty="0"/>
          </a:p>
        </p:txBody>
      </p:sp>
      <p:sp>
        <p:nvSpPr>
          <p:cNvPr id="3" name="phase-0"/>
          <p:cNvSpPr/>
          <p:nvPr/>
        </p:nvSpPr>
        <p:spPr>
          <a:xfrm>
            <a:off x="685800" y="1463040"/>
            <a:ext cx="1078992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60120" y="1572768"/>
            <a:ext cx="23774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4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 30 days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3429000" y="1572768"/>
            <a:ext cx="78181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142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Reddit  ·  Build Pinterest boards  ·  Shift 20% of paid budget to win-back</a:t>
            </a:r>
            <a:endParaRPr lang="en-US" sz="1350" dirty="0"/>
          </a:p>
        </p:txBody>
      </p:sp>
      <p:sp>
        <p:nvSpPr>
          <p:cNvPr id="6" name="phase-1"/>
          <p:cNvSpPr/>
          <p:nvPr/>
        </p:nvSpPr>
        <p:spPr>
          <a:xfrm>
            <a:off x="685800" y="2633472"/>
            <a:ext cx="1078992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0120" y="2743200"/>
            <a:ext cx="23774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4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day 60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3429000" y="2743200"/>
            <a:ext cx="78181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142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Pinterest live, 25 pins a month  ·  Blog to four search-intent posts a month</a:t>
            </a:r>
            <a:endParaRPr lang="en-US" sz="1350" dirty="0"/>
          </a:p>
        </p:txBody>
      </p:sp>
      <p:sp>
        <p:nvSpPr>
          <p:cNvPr id="9" name="phase-2"/>
          <p:cNvSpPr/>
          <p:nvPr/>
        </p:nvSpPr>
        <p:spPr>
          <a:xfrm>
            <a:off x="685800" y="3803904"/>
            <a:ext cx="1078992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60120" y="3913632"/>
            <a:ext cx="23774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4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day 90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3913632"/>
            <a:ext cx="78181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142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channel live  ·  2 videos a week  ·  TikTok down to repurposed only</a:t>
            </a:r>
            <a:endParaRPr lang="en-US" sz="1350" dirty="0"/>
          </a:p>
        </p:txBody>
      </p:sp>
      <p:sp>
        <p:nvSpPr>
          <p:cNvPr id="12" name="phase-3"/>
          <p:cNvSpPr/>
          <p:nvPr/>
        </p:nvSpPr>
        <p:spPr>
          <a:xfrm>
            <a:off x="685800" y="4974336"/>
            <a:ext cx="10789920" cy="987552"/>
          </a:xfrm>
          <a:prstGeom prst="roundRect">
            <a:avLst>
              <a:gd name="adj" fmla="val 9259"/>
            </a:avLst>
          </a:prstGeom>
          <a:solidFill>
            <a:srgbClr val="1B4D23"/>
          </a:solidFill>
          <a:ln w="12700">
            <a:solidFill>
              <a:srgbClr val="1B4D2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60120" y="5084064"/>
            <a:ext cx="23774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Month 12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3429000" y="5084064"/>
            <a:ext cx="78181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9BC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 YouTube subscribers  ·  +30% organic sessions  ·  flat acquisition cost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617220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7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number here is falsifiable. That is the point — you can fire me on the metrics.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E7B6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371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9BC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500" dirty="0"/>
          </a:p>
        </p:txBody>
      </p:sp>
      <p:sp>
        <p:nvSpPr>
          <p:cNvPr id="3" name="Text 1"/>
          <p:cNvSpPr/>
          <p:nvPr>
            <p:ph hasCustomPrompt="1"/>
          </p:nvPr>
        </p:nvSpPr>
        <p:spPr>
          <a:xfrm>
            <a:off x="822960" y="2011680"/>
            <a:ext cx="10515600" cy="18288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Own the lunch hour before someone else does</a:t>
            </a:r>
            <a:endParaRPr lang="en-US" dirty="0"/>
          </a:p>
        </p:txBody>
      </p:sp>
      <p:sp>
        <p:nvSpPr>
          <p:cNvPr id="4" name="Text 2"/>
          <p:cNvSpPr/>
          <p:nvPr>
            <p:ph hasCustomPrompt="1"/>
          </p:nvPr>
        </p:nvSpPr>
        <p:spPr>
          <a:xfrm>
            <a:off x="822960" y="3977640"/>
            <a:ext cx="9601200" cy="1463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Pinterest in 60 days. YouTube in 90. One plant-based choice a day — and a brand that finally owns the audience it has been renting.</a:t>
            </a:r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hasCustomPrompt="1"/>
          </p:nvPr>
        </p:nvSpPr>
        <p:spPr>
          <a:xfrm>
            <a:off x="685800" y="457200"/>
            <a:ext cx="10789920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References</a:t>
            </a:r>
            <a:endParaRPr lang="en-US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371600"/>
            <a:ext cx="1078992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142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Aaker, J. L. (1997). Dimensions of brand personality. Journal of Marketing Research, 34(3), 347–356.</a:t>
            </a:r>
            <a:endParaRPr lang="en-US" sz="1250" dirty="0"/>
          </a:p>
          <a:p>
            <a:pPr indent="0" marL="0">
              <a:lnSpc>
                <a:spcPts val="26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142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Coherent Market Insights. (2026). Prepared meal delivery market size and YoY growth rate, 2033.</a:t>
            </a:r>
            <a:endParaRPr lang="en-US" sz="1250" dirty="0"/>
          </a:p>
          <a:p>
            <a:pPr indent="0" marL="0">
              <a:lnSpc>
                <a:spcPts val="26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142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Food Institute. (2026). U.S. retail market insights for the plant-based industry.</a:t>
            </a:r>
            <a:endParaRPr lang="en-US" sz="1250" dirty="0"/>
          </a:p>
          <a:p>
            <a:pPr indent="0" marL="0">
              <a:lnSpc>
                <a:spcPts val="26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142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Pew Research Center. (2025, November 20). Americans’ social media use 2025.</a:t>
            </a:r>
            <a:endParaRPr lang="en-US" sz="1250" dirty="0"/>
          </a:p>
          <a:p>
            <a:pPr indent="0" marL="0">
              <a:lnSpc>
                <a:spcPts val="26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142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Pulizzi, J. (n.d.). What is a content tilt? The Tilt.</a:t>
            </a:r>
            <a:endParaRPr lang="en-US" sz="1250" dirty="0"/>
          </a:p>
          <a:p>
            <a:pPr indent="0" marL="0">
              <a:lnSpc>
                <a:spcPts val="26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142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Searchlab. (2026). Pinterest statistics 2026: 80+ facts on reach, shopping and ads.</a:t>
            </a:r>
            <a:endParaRPr lang="en-US" sz="1250" dirty="0"/>
          </a:p>
          <a:p>
            <a:pPr indent="0" marL="0">
              <a:lnSpc>
                <a:spcPts val="26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142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Sprout Social. (2026). Reddit statistics in 2026 and tactics to grow your brand.</a:t>
            </a:r>
            <a:endParaRPr lang="en-US" sz="1250" dirty="0"/>
          </a:p>
          <a:p>
            <a:pPr indent="0" marL="0">
              <a:lnSpc>
                <a:spcPts val="26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142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U.S. Bureau of Labor Statistics. (2026). Labor force participation rate was 73.9 percent for mothers and 93.7 percent for fathers in 2025.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E7B6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plendid Spoon Pitch">
  <a:themeElements>
    <a:clrScheme name="Splendid Spoon Pitch">
      <a:dk1>
        <a:srgbClr val="14281B"/>
      </a:dk1>
      <a:lt1>
        <a:srgbClr val="FFFFFF"/>
      </a:lt1>
      <a:dk2>
        <a:srgbClr val="2F7336"/>
      </a:dk2>
      <a:lt2>
        <a:srgbClr val="F1F5EE"/>
      </a:lt2>
      <a:accent1>
        <a:srgbClr val="2F7336"/>
      </a:accent1>
      <a:accent2>
        <a:srgbClr val="5C9E3F"/>
      </a:accent2>
      <a:accent3>
        <a:srgbClr val="1B4D23"/>
      </a:accent3>
      <a:accent4>
        <a:srgbClr val="9BC47A"/>
      </a:accent4>
      <a:accent5>
        <a:srgbClr val="C8551F"/>
      </a:accent5>
      <a:accent6>
        <a:srgbClr val="6E7B66"/>
      </a:accent6>
      <a:hlink>
        <a:srgbClr val="2F7336"/>
      </a:hlink>
      <a:folHlink>
        <a:srgbClr val="5C9E3F"/>
      </a:folHlink>
    </a:clrScheme>
    <a:fontScheme name="Splendid Spoon Pitch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Splendid Spoon — Social Media Strategy Pitch</dc:title>
  <dc:subject>PptxGenJS Presentation</dc:subject>
  <dc:creator>STCO 348</dc:creator>
  <cp:lastModifiedBy>STCO 348</cp:lastModifiedBy>
  <cp:revision>1</cp:revision>
  <dcterms:created xsi:type="dcterms:W3CDTF">2026-10-13T02:47:43Z</dcterms:created>
  <dcterms:modified xsi:type="dcterms:W3CDTF">2026-10-13T02:47:43Z</dcterms:modified>
</cp:coreProperties>
</file>