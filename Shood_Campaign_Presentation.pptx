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thank you for having me. My name is [Student Name], and today—September 17, 2026—I'm excited to walk you through 'Sole to Soul,' a one-month digital public relations campaign built specifically for Shood. Over the next few minutes I'll share who we're trying to reach, the creative idea and hashtag that ties everything together, the exact digital channels we'll use and why, sample content, how supporters will participate each week, our September timeline, and the faith foundation beneath it all. My goal is a plan you can picture launching on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dive in, a quick reminder of who we're serving. Shood is a Richmond-based nonprofit founded in 2017 that collects, cleans, and refits running shoes, then delivers them with dignity to people experiencing poverty and homelessness—more than 25,000 pairs so far, all through volunteers. That mission of dignity is the north star for everything you'll see today. On the right is our roadmap: we'll move from the audience, to the creative idea, to the channels and content, and finish with the timeline and the biblical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primary public is Richmond-area active adults roughly 25 to 45—recreational runners, walkers, and fitness enthusiasts. Psychographically, they're health-minded and community-oriented, they respond to values like dignity and second chances, and research on nonprofit fundraising shows they give when they feel a personal connection to the cause. Practically, they matter to Shood for one very concrete reason: they own and regularly replace the exact resource we need—running shoes. They're also digitally savvy and mobile-first, which shapes every channel decision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audience lives on their phones. They scroll Instagram and TikTok daily, belong to Richmond Facebook groups, and track their workouts on Strava—which becomes important later. When it comes to what actually holds their attention, studies of nonprofit engagement find that authenticity beats polish: they want real transformation stories, honest behind-the-scenes glimpses of the volunteer work, useful fitness tips, and clear evidence of impact—how many pairs went out and whose life changed. So our content strategy leads with emotion and proof, not solicitation.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creative heart of the campaign: 'Sole to Soul.' It's a deliberate play on words—the sole of a shoe meeting the soul of a person. That single idea captures Shood's conviction that a well-fitted pair restores not just physical comfort but human dignity. Strategically it does three things for you: it reframes a donated shoe from a discarded object into a vehicle for dignity, it's naturally visual and story-driven so it matches how our audience consumes media, and it flexes across every platform so we never have to repeat the same post twice—which the assignment and good practice both require.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campaign needs one rallying cry, and ours is hashtag Sole to Soul R-V-A. It's original—it isn't borrowed from an existing slogan—and it does a lot of work in a few characters. It carries the sole-to-soul wordplay, it plants the flag firmly in Richmond with 'RVA,' and it's short enough to travel cleanly across Instagram, TikTok, and Facebook while staying easy to search and track. Consistency matters here: this exact hashtag appears on every post, every week, so all the individual pieces ladder up to one measurable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media mix. Rather than repeat one message everywhere, each channel gets a distinct job—research shows nonprofits raise more when they diversify content instead of recycling it. Instagram is our visual heart. TikTok is the discovery engine that reaches beyond our followers. Facebook is the community hub that organizes real-world shoe drives. Mobile shows up through a Strava running challenge plus text-to-give. And the blog on shood.org is the campaign's home for deeper storytelling. The next slides take each one in turn—its primary uses and why it earned a place in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Instagram is the visual anchor of the campaign. Its primary uses are photo and short-video sharing through the feed, Stories, and Reels, and its features—carousels, polls, question stickers, and the link sticker—support both storytelling and a direct call to action. We chose it because our target public is highly visual, and Instagram's emphasis on aesthetics is a perfect match for Shood's before-and-after refurbishing imagery. This is where the emotional heart of 'Sole to Soul' lives, through polished recipient and volunteer stories.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TikTok is our discovery and reach engine. Its primary uses are short-form vertical video and participatory trends, and features like duets, stitches, and trending sounds—paired with its discovery algorithm—help small organizations reach far beyond their existing followers. We selected it to attract younger runners and to make the campaign shareable through authentic, unpolished 'day in the life' and shoe-transformation videos. Where Instagram is refined, TikTok is raw and energetic—so the two never duplicate each other's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Facebook is our community-organizing and events hub. Its primary uses are longer posts, event pages, local group sharing, and built-in fundraisers with a donate button—exactly the tools we need to coordinate in-person collection drives. We chose it because Richmond running clubs, neighborhood groups, and many of our older donors are still very active there. Facebook handles the real-world logistics—the Saturday drives—that Instagram and TikTok simply 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Mobile shows up in two ways, both designed to meet supporters exactly where they already are. First, a September Strava club challenge called 'Miles for Soles': runners log their miles on the Strava app, and once the group crosses a mileage threshold, a sponsoring running store donates a pair of shoes. It turns the very activity that connects them to the cause—running—into fundraising. Second, text-to-give and a QR code linked to a mobile-optimized donation page, so a supporter can complete a gift in seconds from their phone. Together these lower the friction of both action and donation.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blog on shood.org is the campaign's content home and its search-visible archive. Nonprofits use owned media to provide the depth that social platforms can't, and because active, community-oriented content is what converts online attention into donations, the blog strengthens the entire campaign. Each week we'll publish one long-form story—a volunteer profile, a recipient's journey, the science of proper shoe fit, and a campaign wrap-up—each ending with a clear call to donate, volunteer, or join the Strava challenge. Our social posts tease and link back here, making the blog the connective tissue of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the theme shows up in real content, adapted to each platform so nothing is duplicated. On Instagram, a before-and-after carousel: a scuffed donated shoe, then the same shoe refurbished, then fitted on a smiling neighbor—captioned 'one pair, two lives changed.' On TikTok, a fast-cut transformation video from the workshop set to a trending sound—'throwaway to fresh start'—that invites viewers to duet their own donation reveal. On Facebook, an event post for the first Saturday drive: 'clear your closet, give dignity.' Each one literalizes the sole-to-soul journey, and each carries the hashtag.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week has at least one piece of user-generated content, so supporters co-create the campaign rather than just watch it. Week one is the hashtag Sole to Soul R-V-A photo challenge: post a picture of the shoes you're donating and you're entered to win a running-store gift card. Week two is a 'Why I Run' story prompt on Instagram Stories, and we reshare the responses. Week three is the Strava 'Miles for Soles' challenge, where runners screenshot their totals. And week four is an interactive shoe-fit 'Dignity Quiz' that teaches how a proper fit should feel. Each one is interactive, shareable, and on-theme.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it all sequences across September. Week one launches the theme—the Instagram reveal carousel, the TikTok workshop video, the first Saturday drive on the 6th, and the photo challenge, with text-to-give going live. Week two shifts to community and the 'Why I Run' stories, plus running-club drives. Week three builds momentum with the Strava 'Miles for Soles' challenge and a sponsor match. Week four closes on impact—an impact carousel, a thank-you montage, the fundraiser close, and the Dignity Quiz. Each week owns a single narrative beat—launch, community, movement, impact—so every channel reinforces the same focus without repeating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foundation beneath all of it. Shood's mission of delivering shoes with dignity is deeply consistent with Scripture. In Matthew 25:40, Jesus says that whatever we did for the least of these, we did for Him—so each donated pair is service rendered ultimately to Christ. The imagery of feet is striking for this campaign: Romans 10:15 calls beautiful the feet that bring good news, and Ephesians 6:15 speaks of feet fitted with the gospel of peace. A campaign literally centered on fitting feet with dignity becomes a way to embody that good news. The 'Sole to Soul' theme treats every person as an image-bearer worthy of dignity—inviting servant-hearted generosity rather than transactional giving.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sources behind the plan, formatted in APA 7th edition. The scholarly research—Wiley and colleagues, DeMasters, Elvira-Lorilla, and Bhati and McDonnell—was published between 2023 and 2025 and grounds our claims about nonprofit engagement, authenticity on TikTok, and fundraising. The Luttrell textbook, the Bible, and the client interview with Shood's founder complete the required set. This reference slide sits outside the required slide count. Thank you—I'm glad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44"/>
        </a:solidFill>
      </p:bgPr>
    </p:bg>
    <p:spTree>
      <p:nvGrpSpPr>
        <p:cNvPr id="1" name=""/>
        <p:cNvGrpSpPr/>
        <p:nvPr/>
      </p:nvGrpSpPr>
      <p:grpSpPr>
        <a:xfrm>
          <a:off x="0" y="0"/>
          <a:ext cx="0" cy="0"/>
          <a:chOff x="0" y="0"/>
          <a:chExt cx="0" cy="0"/>
        </a:xfrm>
      </p:grpSpPr>
      <p:sp>
        <p:nvSpPr>
          <p:cNvPr id="2" name="Shape 0"/>
          <p:cNvSpPr/>
          <p:nvPr/>
        </p:nvSpPr>
        <p:spPr>
          <a:xfrm>
            <a:off x="8869680" y="-1463040"/>
            <a:ext cx="4937760" cy="4937760"/>
          </a:xfrm>
          <a:prstGeom prst="ellipse">
            <a:avLst/>
          </a:prstGeom>
          <a:solidFill>
            <a:srgbClr val="27334F"/>
          </a:solidFill>
          <a:ln/>
        </p:spPr>
      </p:sp>
      <p:sp>
        <p:nvSpPr>
          <p:cNvPr id="3" name="Shape 1"/>
          <p:cNvSpPr/>
          <p:nvPr/>
        </p:nvSpPr>
        <p:spPr>
          <a:xfrm>
            <a:off x="10241280" y="3566160"/>
            <a:ext cx="3291840" cy="3291840"/>
          </a:xfrm>
          <a:prstGeom prst="ellipse">
            <a:avLst/>
          </a:prstGeom>
          <a:solidFill>
            <a:srgbClr val="FF6B4A">
              <a:alpha val="18000"/>
            </a:srgbClr>
          </a:solidFill>
          <a:ln/>
        </p:spPr>
      </p:sp>
      <p:sp>
        <p:nvSpPr>
          <p:cNvPr id="4" name="Shape 2"/>
          <p:cNvSpPr/>
          <p:nvPr/>
        </p:nvSpPr>
        <p:spPr>
          <a:xfrm>
            <a:off x="822960" y="777240"/>
            <a:ext cx="1371600" cy="1371600"/>
          </a:xfrm>
          <a:prstGeom prst="ellipse">
            <a:avLst/>
          </a:prstGeom>
          <a:solidFill>
            <a:srgbClr val="FF6B4A"/>
          </a:solidFill>
          <a:ln/>
        </p:spPr>
      </p:sp>
      <p:pic>
        <p:nvPicPr>
          <p:cNvPr id="5" name="Image 0" descr="preencoded.png">    </p:cNvPr>
          <p:cNvPicPr>
            <a:picLocks noChangeAspect="1"/>
          </p:cNvPicPr>
          <p:nvPr/>
        </p:nvPicPr>
        <p:blipFill>
          <a:blip r:embed="rId1"/>
          <a:stretch>
            <a:fillRect/>
          </a:stretch>
        </p:blipFill>
        <p:spPr>
          <a:xfrm>
            <a:off x="1207008" y="1161288"/>
            <a:ext cx="603504" cy="603504"/>
          </a:xfrm>
          <a:prstGeom prst="rect">
            <a:avLst/>
          </a:prstGeom>
        </p:spPr>
      </p:pic>
      <p:sp>
        <p:nvSpPr>
          <p:cNvPr id="6" name="Text 3"/>
          <p:cNvSpPr/>
          <p:nvPr/>
        </p:nvSpPr>
        <p:spPr>
          <a:xfrm>
            <a:off x="868680" y="2331720"/>
            <a:ext cx="10058400" cy="365760"/>
          </a:xfrm>
          <a:prstGeom prst="rect">
            <a:avLst/>
          </a:prstGeom>
          <a:noFill/>
          <a:ln/>
        </p:spPr>
        <p:txBody>
          <a:bodyPr wrap="square" rtlCol="0" anchor="ctr"/>
          <a:lstStyle/>
          <a:p>
            <a:pPr indent="0" marL="0">
              <a:buNone/>
            </a:pPr>
            <a:r>
              <a:rPr lang="en-US" sz="1400" b="1" spc="300" kern="0" dirty="0">
                <a:solidFill>
                  <a:srgbClr val="F4B740"/>
                </a:solidFill>
                <a:latin typeface="Calibri" pitchFamily="34" charset="0"/>
                <a:ea typeface="Calibri" pitchFamily="34" charset="-122"/>
                <a:cs typeface="Calibri" pitchFamily="34" charset="-120"/>
              </a:rPr>
              <a:t>STCO 357  •  DIGITAL PUBLIC RELATIONS</a:t>
            </a:r>
            <a:endParaRPr lang="en-US" sz="1400" dirty="0"/>
          </a:p>
        </p:txBody>
      </p:sp>
      <p:sp>
        <p:nvSpPr>
          <p:cNvPr id="7" name="Text 4"/>
          <p:cNvSpPr/>
          <p:nvPr/>
        </p:nvSpPr>
        <p:spPr>
          <a:xfrm>
            <a:off x="822960" y="2697480"/>
            <a:ext cx="10515600" cy="1188720"/>
          </a:xfrm>
          <a:prstGeom prst="rect">
            <a:avLst/>
          </a:prstGeom>
          <a:noFill/>
          <a:ln/>
        </p:spPr>
        <p:txBody>
          <a:bodyPr wrap="square"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Sole to Soul</a:t>
            </a:r>
            <a:endParaRPr lang="en-US" sz="6600" dirty="0"/>
          </a:p>
        </p:txBody>
      </p:sp>
      <p:sp>
        <p:nvSpPr>
          <p:cNvPr id="8" name="Text 5"/>
          <p:cNvSpPr/>
          <p:nvPr/>
        </p:nvSpPr>
        <p:spPr>
          <a:xfrm>
            <a:off x="868680" y="3886200"/>
            <a:ext cx="9601200" cy="548640"/>
          </a:xfrm>
          <a:prstGeom prst="rect">
            <a:avLst/>
          </a:prstGeom>
          <a:noFill/>
          <a:ln/>
        </p:spPr>
        <p:txBody>
          <a:bodyPr wrap="square" rtlCol="0" anchor="ctr"/>
          <a:lstStyle/>
          <a:p>
            <a:pPr indent="0" marL="0">
              <a:buNone/>
            </a:pPr>
            <a:r>
              <a:rPr lang="en-US" sz="2100" dirty="0">
                <a:solidFill>
                  <a:srgbClr val="CBD5E6"/>
                </a:solidFill>
                <a:latin typeface="Calibri" pitchFamily="34" charset="0"/>
                <a:ea typeface="Calibri" pitchFamily="34" charset="-122"/>
                <a:cs typeface="Calibri" pitchFamily="34" charset="-120"/>
              </a:rPr>
              <a:t>A One-Month Digital PR Campaign for Shood (Shoes for Good)</a:t>
            </a:r>
            <a:endParaRPr lang="en-US" sz="2100" dirty="0"/>
          </a:p>
        </p:txBody>
      </p:sp>
      <p:sp>
        <p:nvSpPr>
          <p:cNvPr id="9" name="Text 6"/>
          <p:cNvSpPr/>
          <p:nvPr/>
        </p:nvSpPr>
        <p:spPr>
          <a:xfrm>
            <a:off x="868680" y="4572000"/>
            <a:ext cx="5486400" cy="548640"/>
          </a:xfrm>
          <a:prstGeom prst="rect">
            <a:avLst/>
          </a:prstGeom>
          <a:noFill/>
          <a:ln/>
        </p:spPr>
        <p:txBody>
          <a:bodyPr wrap="square" rtlCol="0" anchor="ctr"/>
          <a:lstStyle/>
          <a:p>
            <a:pPr indent="0" marL="0">
              <a:buNone/>
            </a:pPr>
            <a:r>
              <a:rPr lang="en-US" sz="2400" b="1" i="1" dirty="0">
                <a:solidFill>
                  <a:srgbClr val="FF6B4A"/>
                </a:solidFill>
                <a:latin typeface="Cambria" pitchFamily="34" charset="0"/>
                <a:ea typeface="Cambria" pitchFamily="34" charset="-122"/>
                <a:cs typeface="Cambria" pitchFamily="34" charset="-120"/>
              </a:rPr>
              <a:t>#SoleToSoulRVA</a:t>
            </a:r>
            <a:endParaRPr lang="en-US" sz="2400" dirty="0"/>
          </a:p>
        </p:txBody>
      </p:sp>
      <p:sp>
        <p:nvSpPr>
          <p:cNvPr id="10" name="Text 7"/>
          <p:cNvSpPr/>
          <p:nvPr/>
        </p:nvSpPr>
        <p:spPr>
          <a:xfrm>
            <a:off x="868680" y="5806440"/>
            <a:ext cx="10515600" cy="457200"/>
          </a:xfrm>
          <a:prstGeom prst="rect">
            <a:avLst/>
          </a:prstGeom>
          <a:noFill/>
          <a:ln/>
        </p:spPr>
        <p:txBody>
          <a:bodyPr wrap="square" rtlCol="0" anchor="ctr"/>
          <a:lstStyle/>
          <a:p>
            <a:pPr indent="0" marL="0">
              <a:buNone/>
            </a:pPr>
            <a:r>
              <a:rPr lang="en-US" sz="1500" b="1" dirty="0">
                <a:solidFill>
                  <a:srgbClr val="AAB6CC"/>
                </a:solidFill>
                <a:latin typeface="Calibri" pitchFamily="34" charset="0"/>
                <a:ea typeface="Calibri" pitchFamily="34" charset="-122"/>
                <a:cs typeface="Calibri" pitchFamily="34" charset="-120"/>
              </a:rPr>
              <a:t>Student Name</a:t>
            </a:r>
            <a:pPr indent="0" marL="0">
              <a:buNone/>
            </a:pPr>
            <a:r>
              <a:rPr lang="en-US" sz="1500" dirty="0">
                <a:solidFill>
                  <a:srgbClr val="AAB6CC"/>
                </a:solidFill>
                <a:latin typeface="Calibri" pitchFamily="34" charset="0"/>
                <a:ea typeface="Calibri" pitchFamily="34" charset="-122"/>
                <a:cs typeface="Calibri" pitchFamily="34" charset="-120"/>
              </a:rPr>
              <a:t>     |     September 17, 2026     |     Presented to Shood Leadership</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256032"/>
            <a:ext cx="10972800" cy="320040"/>
          </a:xfrm>
          <a:prstGeom prst="rect">
            <a:avLst/>
          </a:prstGeom>
          <a:noFill/>
          <a:ln/>
        </p:spPr>
        <p:txBody>
          <a:bodyPr wrap="square" rtlCol="0" anchor="ctr"/>
          <a:lstStyle/>
          <a:p>
            <a:pPr indent="0" marL="0">
              <a:buNone/>
            </a:pPr>
            <a:r>
              <a:rPr lang="en-US" sz="1200" b="1" spc="300" kern="0" dirty="0">
                <a:solidFill>
                  <a:srgbClr val="FF6B4A"/>
                </a:solidFill>
                <a:latin typeface="Calibri" pitchFamily="34" charset="0"/>
                <a:ea typeface="Calibri" pitchFamily="34" charset="-122"/>
                <a:cs typeface="Calibri" pitchFamily="34" charset="-120"/>
              </a:rPr>
              <a:t>CAMPAIGN AT A GLANCE</a:t>
            </a:r>
            <a:endParaRPr lang="en-US" sz="1200" dirty="0"/>
          </a:p>
        </p:txBody>
      </p:sp>
      <p:sp>
        <p:nvSpPr>
          <p:cNvPr id="3" name="Text 1"/>
          <p:cNvSpPr/>
          <p:nvPr/>
        </p:nvSpPr>
        <p:spPr>
          <a:xfrm>
            <a:off x="548640" y="457200"/>
            <a:ext cx="11064240" cy="822960"/>
          </a:xfrm>
          <a:prstGeom prst="rect">
            <a:avLst/>
          </a:prstGeom>
          <a:noFill/>
          <a:ln/>
        </p:spPr>
        <p:txBody>
          <a:bodyPr wrap="square" rtlCol="0" anchor="ctr"/>
          <a:lstStyle/>
          <a:p>
            <a:pPr algn="l" indent="0" marL="0">
              <a:buNone/>
            </a:pPr>
            <a:r>
              <a:rPr lang="en-US" sz="3400" b="1" dirty="0">
                <a:solidFill>
                  <a:srgbClr val="1E2A44"/>
                </a:solidFill>
                <a:latin typeface="Cambria" pitchFamily="34" charset="0"/>
                <a:ea typeface="Cambria" pitchFamily="34" charset="-122"/>
                <a:cs typeface="Cambria" pitchFamily="34" charset="-120"/>
              </a:rPr>
              <a:t>Meet Shood — and Today's Roadmap</a:t>
            </a:r>
            <a:endParaRPr lang="en-US" sz="3400" dirty="0"/>
          </a:p>
        </p:txBody>
      </p:sp>
      <p:sp>
        <p:nvSpPr>
          <p:cNvPr id="4" name="Shape 2"/>
          <p:cNvSpPr/>
          <p:nvPr/>
        </p:nvSpPr>
        <p:spPr>
          <a:xfrm>
            <a:off x="548640" y="1554480"/>
            <a:ext cx="5212080" cy="4663440"/>
          </a:xfrm>
          <a:prstGeom prst="roundRect">
            <a:avLst>
              <a:gd name="adj" fmla="val 2353"/>
            </a:avLst>
          </a:prstGeom>
          <a:solidFill>
            <a:srgbClr val="1E2A44"/>
          </a:solidFill>
          <a:ln/>
          <a:effectLst>
            <a:outerShdw sx="100000" sy="100000" kx="0" ky="0" algn="bl" rotWithShape="0" blurRad="101600" dist="38100" dir="5400000">
              <a:srgbClr val="9AA6B8">
                <a:alpha val="35000"/>
              </a:srgbClr>
            </a:outerShdw>
          </a:effectLst>
        </p:spPr>
      </p:sp>
      <p:sp>
        <p:nvSpPr>
          <p:cNvPr id="5" name="Shape 3"/>
          <p:cNvSpPr/>
          <p:nvPr/>
        </p:nvSpPr>
        <p:spPr>
          <a:xfrm>
            <a:off x="868680" y="1874520"/>
            <a:ext cx="914400" cy="914400"/>
          </a:xfrm>
          <a:prstGeom prst="ellipse">
            <a:avLst/>
          </a:prstGeom>
          <a:solidFill>
            <a:srgbClr val="FF6B4A"/>
          </a:solidFill>
          <a:ln/>
        </p:spPr>
      </p:sp>
      <p:pic>
        <p:nvPicPr>
          <p:cNvPr id="6" name="Image 0" descr="preencoded.png">    </p:cNvPr>
          <p:cNvPicPr>
            <a:picLocks noChangeAspect="1"/>
          </p:cNvPicPr>
          <p:nvPr/>
        </p:nvPicPr>
        <p:blipFill>
          <a:blip r:embed="rId1"/>
          <a:stretch>
            <a:fillRect/>
          </a:stretch>
        </p:blipFill>
        <p:spPr>
          <a:xfrm>
            <a:off x="1124712" y="2130552"/>
            <a:ext cx="402336" cy="402336"/>
          </a:xfrm>
          <a:prstGeom prst="rect">
            <a:avLst/>
          </a:prstGeom>
        </p:spPr>
      </p:pic>
      <p:sp>
        <p:nvSpPr>
          <p:cNvPr id="7" name="Text 4"/>
          <p:cNvSpPr/>
          <p:nvPr/>
        </p:nvSpPr>
        <p:spPr>
          <a:xfrm>
            <a:off x="1965960" y="2011680"/>
            <a:ext cx="3657600" cy="64008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Meet Shood</a:t>
            </a:r>
            <a:endParaRPr lang="en-US" sz="2400" dirty="0"/>
          </a:p>
        </p:txBody>
      </p:sp>
      <p:sp>
        <p:nvSpPr>
          <p:cNvPr id="8" name="Text 5"/>
          <p:cNvSpPr/>
          <p:nvPr/>
        </p:nvSpPr>
        <p:spPr>
          <a:xfrm>
            <a:off x="914400" y="2971800"/>
            <a:ext cx="4572000" cy="3017520"/>
          </a:xfrm>
          <a:prstGeom prst="rect">
            <a:avLst/>
          </a:prstGeom>
          <a:noFill/>
          <a:ln/>
        </p:spPr>
        <p:txBody>
          <a:bodyPr wrap="square" rtlCol="0" anchor="ctr"/>
          <a:lstStyle/>
          <a:p>
            <a:pPr marL="228600" indent="-228600">
              <a:spcAft>
                <a:spcPts val="1000"/>
              </a:spcAft>
              <a:buSzPct val="100000"/>
              <a:buChar char="•"/>
            </a:pPr>
            <a:r>
              <a:rPr lang="en-US" sz="1700" dirty="0">
                <a:solidFill>
                  <a:srgbClr val="E6ECF7"/>
                </a:solidFill>
                <a:latin typeface="Calibri" pitchFamily="34" charset="0"/>
                <a:ea typeface="Calibri" pitchFamily="34" charset="-122"/>
                <a:cs typeface="Calibri" pitchFamily="34" charset="-120"/>
              </a:rPr>
              <a:t>Richmond nonprofit, founded 2017</a:t>
            </a:r>
            <a:endParaRPr lang="en-US" sz="1700" dirty="0"/>
          </a:p>
          <a:p>
            <a:pPr marL="228600" indent="-228600">
              <a:spcAft>
                <a:spcPts val="1000"/>
              </a:spcAft>
              <a:buSzPct val="100000"/>
              <a:buChar char="•"/>
            </a:pPr>
            <a:r>
              <a:rPr lang="en-US" sz="1700" dirty="0">
                <a:solidFill>
                  <a:srgbClr val="E6ECF7"/>
                </a:solidFill>
                <a:latin typeface="Calibri" pitchFamily="34" charset="0"/>
                <a:ea typeface="Calibri" pitchFamily="34" charset="-122"/>
                <a:cs typeface="Calibri" pitchFamily="34" charset="-120"/>
              </a:rPr>
              <a:t>25,000+ pairs delivered with dignity</a:t>
            </a:r>
            <a:endParaRPr lang="en-US" sz="1700" dirty="0"/>
          </a:p>
          <a:p>
            <a:pPr marL="228600" indent="-228600">
              <a:spcAft>
                <a:spcPts val="1000"/>
              </a:spcAft>
              <a:buSzPct val="100000"/>
              <a:buChar char="•"/>
            </a:pPr>
            <a:r>
              <a:rPr lang="en-US" sz="1700" dirty="0">
                <a:solidFill>
                  <a:srgbClr val="E6ECF7"/>
                </a:solidFill>
                <a:latin typeface="Calibri" pitchFamily="34" charset="0"/>
                <a:ea typeface="Calibri" pitchFamily="34" charset="-122"/>
                <a:cs typeface="Calibri" pitchFamily="34" charset="-120"/>
              </a:rPr>
              <a:t>Running shoes cleaned and restored</a:t>
            </a:r>
            <a:endParaRPr lang="en-US" sz="1700" dirty="0"/>
          </a:p>
          <a:p>
            <a:pPr marL="228600" indent="-228600">
              <a:spcAft>
                <a:spcPts val="1000"/>
              </a:spcAft>
              <a:buSzPct val="100000"/>
              <a:buChar char="•"/>
            </a:pPr>
            <a:r>
              <a:rPr lang="en-US" sz="1700" dirty="0">
                <a:solidFill>
                  <a:srgbClr val="E6ECF7"/>
                </a:solidFill>
                <a:latin typeface="Calibri" pitchFamily="34" charset="0"/>
                <a:ea typeface="Calibri" pitchFamily="34" charset="-122"/>
                <a:cs typeface="Calibri" pitchFamily="34" charset="-120"/>
              </a:rPr>
              <a:t>Serves neighbors facing poverty</a:t>
            </a:r>
            <a:endParaRPr lang="en-US" sz="1700" dirty="0"/>
          </a:p>
          <a:p>
            <a:pPr marL="228600" indent="-228600">
              <a:spcAft>
                <a:spcPts val="1000"/>
              </a:spcAft>
              <a:buSzPct val="100000"/>
              <a:buChar char="•"/>
            </a:pPr>
            <a:r>
              <a:rPr lang="en-US" sz="1700" dirty="0">
                <a:solidFill>
                  <a:srgbClr val="E6ECF7"/>
                </a:solidFill>
                <a:latin typeface="Calibri" pitchFamily="34" charset="0"/>
                <a:ea typeface="Calibri" pitchFamily="34" charset="-122"/>
                <a:cs typeface="Calibri" pitchFamily="34" charset="-120"/>
              </a:rPr>
              <a:t>100% volunteer-run</a:t>
            </a:r>
            <a:endParaRPr lang="en-US" sz="1700" dirty="0"/>
          </a:p>
        </p:txBody>
      </p:sp>
      <p:sp>
        <p:nvSpPr>
          <p:cNvPr id="9" name="Shape 6"/>
          <p:cNvSpPr/>
          <p:nvPr/>
        </p:nvSpPr>
        <p:spPr>
          <a:xfrm>
            <a:off x="6263640" y="1691640"/>
            <a:ext cx="658368" cy="658368"/>
          </a:xfrm>
          <a:prstGeom prst="ellipse">
            <a:avLst/>
          </a:prstGeom>
          <a:solidFill>
            <a:srgbClr val="FF6B4A"/>
          </a:solidFill>
          <a:ln/>
        </p:spPr>
      </p:sp>
      <p:pic>
        <p:nvPicPr>
          <p:cNvPr id="10" name="Image 1" descr="preencoded.png">    </p:cNvPr>
          <p:cNvPicPr>
            <a:picLocks noChangeAspect="1"/>
          </p:cNvPicPr>
          <p:nvPr/>
        </p:nvPicPr>
        <p:blipFill>
          <a:blip r:embed="rId2"/>
          <a:stretch>
            <a:fillRect/>
          </a:stretch>
        </p:blipFill>
        <p:spPr>
          <a:xfrm>
            <a:off x="6437376" y="1865376"/>
            <a:ext cx="310896" cy="310896"/>
          </a:xfrm>
          <a:prstGeom prst="rect">
            <a:avLst/>
          </a:prstGeom>
        </p:spPr>
      </p:pic>
      <p:sp>
        <p:nvSpPr>
          <p:cNvPr id="11" name="Text 7"/>
          <p:cNvSpPr/>
          <p:nvPr/>
        </p:nvSpPr>
        <p:spPr>
          <a:xfrm>
            <a:off x="7086600" y="1709928"/>
            <a:ext cx="4572000" cy="621792"/>
          </a:xfrm>
          <a:prstGeom prst="rect">
            <a:avLst/>
          </a:prstGeom>
          <a:noFill/>
          <a:ln/>
        </p:spPr>
        <p:txBody>
          <a:bodyPr wrap="square" rtlCol="0" anchor="ctr"/>
          <a:lstStyle/>
          <a:p>
            <a:pPr indent="0" marL="0">
              <a:buNone/>
            </a:pPr>
            <a:r>
              <a:rPr lang="en-US" sz="1800" b="1" dirty="0">
                <a:solidFill>
                  <a:srgbClr val="24303F"/>
                </a:solidFill>
                <a:latin typeface="Calibri" pitchFamily="34" charset="0"/>
                <a:ea typeface="Calibri" pitchFamily="34" charset="-122"/>
                <a:cs typeface="Calibri" pitchFamily="34" charset="-120"/>
              </a:rPr>
              <a:t>Target public &amp; insights</a:t>
            </a:r>
            <a:endParaRPr lang="en-US" sz="1800" dirty="0"/>
          </a:p>
        </p:txBody>
      </p:sp>
      <p:sp>
        <p:nvSpPr>
          <p:cNvPr id="12" name="Shape 8"/>
          <p:cNvSpPr/>
          <p:nvPr/>
        </p:nvSpPr>
        <p:spPr>
          <a:xfrm>
            <a:off x="6263640" y="2624328"/>
            <a:ext cx="658368" cy="658368"/>
          </a:xfrm>
          <a:prstGeom prst="ellipse">
            <a:avLst/>
          </a:prstGeom>
          <a:solidFill>
            <a:srgbClr val="FF6B4A"/>
          </a:solidFill>
          <a:ln/>
        </p:spPr>
      </p:sp>
      <p:pic>
        <p:nvPicPr>
          <p:cNvPr id="13" name="Image 2" descr="preencoded.png">    </p:cNvPr>
          <p:cNvPicPr>
            <a:picLocks noChangeAspect="1"/>
          </p:cNvPicPr>
          <p:nvPr/>
        </p:nvPicPr>
        <p:blipFill>
          <a:blip r:embed="rId3"/>
          <a:stretch>
            <a:fillRect/>
          </a:stretch>
        </p:blipFill>
        <p:spPr>
          <a:xfrm>
            <a:off x="6437376" y="2798064"/>
            <a:ext cx="310896" cy="310896"/>
          </a:xfrm>
          <a:prstGeom prst="rect">
            <a:avLst/>
          </a:prstGeom>
        </p:spPr>
      </p:pic>
      <p:sp>
        <p:nvSpPr>
          <p:cNvPr id="14" name="Text 9"/>
          <p:cNvSpPr/>
          <p:nvPr/>
        </p:nvSpPr>
        <p:spPr>
          <a:xfrm>
            <a:off x="7086600" y="2642616"/>
            <a:ext cx="4572000" cy="621792"/>
          </a:xfrm>
          <a:prstGeom prst="rect">
            <a:avLst/>
          </a:prstGeom>
          <a:noFill/>
          <a:ln/>
        </p:spPr>
        <p:txBody>
          <a:bodyPr wrap="square" rtlCol="0" anchor="ctr"/>
          <a:lstStyle/>
          <a:p>
            <a:pPr indent="0" marL="0">
              <a:buNone/>
            </a:pPr>
            <a:r>
              <a:rPr lang="en-US" sz="1800" b="1" dirty="0">
                <a:solidFill>
                  <a:srgbClr val="24303F"/>
                </a:solidFill>
                <a:latin typeface="Calibri" pitchFamily="34" charset="0"/>
                <a:ea typeface="Calibri" pitchFamily="34" charset="-122"/>
                <a:cs typeface="Calibri" pitchFamily="34" charset="-120"/>
              </a:rPr>
              <a:t>Creative theme &amp; hashtag</a:t>
            </a:r>
            <a:endParaRPr lang="en-US" sz="1800" dirty="0"/>
          </a:p>
        </p:txBody>
      </p:sp>
      <p:sp>
        <p:nvSpPr>
          <p:cNvPr id="15" name="Shape 10"/>
          <p:cNvSpPr/>
          <p:nvPr/>
        </p:nvSpPr>
        <p:spPr>
          <a:xfrm>
            <a:off x="6263640" y="3557016"/>
            <a:ext cx="658368" cy="658368"/>
          </a:xfrm>
          <a:prstGeom prst="ellipse">
            <a:avLst/>
          </a:prstGeom>
          <a:solidFill>
            <a:srgbClr val="FF6B4A"/>
          </a:solidFill>
          <a:ln/>
        </p:spPr>
      </p:sp>
      <p:pic>
        <p:nvPicPr>
          <p:cNvPr id="16" name="Image 3" descr="preencoded.png">    </p:cNvPr>
          <p:cNvPicPr>
            <a:picLocks noChangeAspect="1"/>
          </p:cNvPicPr>
          <p:nvPr/>
        </p:nvPicPr>
        <p:blipFill>
          <a:blip r:embed="rId4"/>
          <a:stretch>
            <a:fillRect/>
          </a:stretch>
        </p:blipFill>
        <p:spPr>
          <a:xfrm>
            <a:off x="6437376" y="3730752"/>
            <a:ext cx="310896" cy="310896"/>
          </a:xfrm>
          <a:prstGeom prst="rect">
            <a:avLst/>
          </a:prstGeom>
        </p:spPr>
      </p:pic>
      <p:sp>
        <p:nvSpPr>
          <p:cNvPr id="17" name="Text 11"/>
          <p:cNvSpPr/>
          <p:nvPr/>
        </p:nvSpPr>
        <p:spPr>
          <a:xfrm>
            <a:off x="7086600" y="3575304"/>
            <a:ext cx="4572000" cy="621792"/>
          </a:xfrm>
          <a:prstGeom prst="rect">
            <a:avLst/>
          </a:prstGeom>
          <a:noFill/>
          <a:ln/>
        </p:spPr>
        <p:txBody>
          <a:bodyPr wrap="square" rtlCol="0" anchor="ctr"/>
          <a:lstStyle/>
          <a:p>
            <a:pPr indent="0" marL="0">
              <a:buNone/>
            </a:pPr>
            <a:r>
              <a:rPr lang="en-US" sz="1800" b="1" dirty="0">
                <a:solidFill>
                  <a:srgbClr val="24303F"/>
                </a:solidFill>
                <a:latin typeface="Calibri" pitchFamily="34" charset="0"/>
                <a:ea typeface="Calibri" pitchFamily="34" charset="-122"/>
                <a:cs typeface="Calibri" pitchFamily="34" charset="-120"/>
              </a:rPr>
              <a:t>Channels, mobile &amp; blog</a:t>
            </a:r>
            <a:endParaRPr lang="en-US" sz="1800" dirty="0"/>
          </a:p>
        </p:txBody>
      </p:sp>
      <p:sp>
        <p:nvSpPr>
          <p:cNvPr id="18" name="Shape 12"/>
          <p:cNvSpPr/>
          <p:nvPr/>
        </p:nvSpPr>
        <p:spPr>
          <a:xfrm>
            <a:off x="6263640" y="4489704"/>
            <a:ext cx="658368" cy="658368"/>
          </a:xfrm>
          <a:prstGeom prst="ellipse">
            <a:avLst/>
          </a:prstGeom>
          <a:solidFill>
            <a:srgbClr val="FF6B4A"/>
          </a:solidFill>
          <a:ln/>
        </p:spPr>
      </p:sp>
      <p:pic>
        <p:nvPicPr>
          <p:cNvPr id="19" name="Image 4" descr="preencoded.png">    </p:cNvPr>
          <p:cNvPicPr>
            <a:picLocks noChangeAspect="1"/>
          </p:cNvPicPr>
          <p:nvPr/>
        </p:nvPicPr>
        <p:blipFill>
          <a:blip r:embed="rId5"/>
          <a:stretch>
            <a:fillRect/>
          </a:stretch>
        </p:blipFill>
        <p:spPr>
          <a:xfrm>
            <a:off x="6437376" y="4663440"/>
            <a:ext cx="310896" cy="310896"/>
          </a:xfrm>
          <a:prstGeom prst="rect">
            <a:avLst/>
          </a:prstGeom>
        </p:spPr>
      </p:pic>
      <p:sp>
        <p:nvSpPr>
          <p:cNvPr id="20" name="Text 13"/>
          <p:cNvSpPr/>
          <p:nvPr/>
        </p:nvSpPr>
        <p:spPr>
          <a:xfrm>
            <a:off x="7086600" y="4507992"/>
            <a:ext cx="4572000" cy="621792"/>
          </a:xfrm>
          <a:prstGeom prst="rect">
            <a:avLst/>
          </a:prstGeom>
          <a:noFill/>
          <a:ln/>
        </p:spPr>
        <p:txBody>
          <a:bodyPr wrap="square" rtlCol="0" anchor="ctr"/>
          <a:lstStyle/>
          <a:p>
            <a:pPr indent="0" marL="0">
              <a:buNone/>
            </a:pPr>
            <a:r>
              <a:rPr lang="en-US" sz="1800" b="1" dirty="0">
                <a:solidFill>
                  <a:srgbClr val="24303F"/>
                </a:solidFill>
                <a:latin typeface="Calibri" pitchFamily="34" charset="0"/>
                <a:ea typeface="Calibri" pitchFamily="34" charset="-122"/>
                <a:cs typeface="Calibri" pitchFamily="34" charset="-120"/>
              </a:rPr>
              <a:t>Content &amp; weekly engagement</a:t>
            </a:r>
            <a:endParaRPr lang="en-US" sz="1800" dirty="0"/>
          </a:p>
        </p:txBody>
      </p:sp>
      <p:sp>
        <p:nvSpPr>
          <p:cNvPr id="21" name="Shape 14"/>
          <p:cNvSpPr/>
          <p:nvPr/>
        </p:nvSpPr>
        <p:spPr>
          <a:xfrm>
            <a:off x="6263640" y="5422392"/>
            <a:ext cx="658368" cy="658368"/>
          </a:xfrm>
          <a:prstGeom prst="ellipse">
            <a:avLst/>
          </a:prstGeom>
          <a:solidFill>
            <a:srgbClr val="FF6B4A"/>
          </a:solidFill>
          <a:ln/>
        </p:spPr>
      </p:sp>
      <p:pic>
        <p:nvPicPr>
          <p:cNvPr id="22" name="Image 5" descr="preencoded.png">    </p:cNvPr>
          <p:cNvPicPr>
            <a:picLocks noChangeAspect="1"/>
          </p:cNvPicPr>
          <p:nvPr/>
        </p:nvPicPr>
        <p:blipFill>
          <a:blip r:embed="rId6"/>
          <a:stretch>
            <a:fillRect/>
          </a:stretch>
        </p:blipFill>
        <p:spPr>
          <a:xfrm>
            <a:off x="6437376" y="5596128"/>
            <a:ext cx="310896" cy="310896"/>
          </a:xfrm>
          <a:prstGeom prst="rect">
            <a:avLst/>
          </a:prstGeom>
        </p:spPr>
      </p:pic>
      <p:sp>
        <p:nvSpPr>
          <p:cNvPr id="23" name="Text 15"/>
          <p:cNvSpPr/>
          <p:nvPr/>
        </p:nvSpPr>
        <p:spPr>
          <a:xfrm>
            <a:off x="7086600" y="5440680"/>
            <a:ext cx="4572000" cy="621792"/>
          </a:xfrm>
          <a:prstGeom prst="rect">
            <a:avLst/>
          </a:prstGeom>
          <a:noFill/>
          <a:ln/>
        </p:spPr>
        <p:txBody>
          <a:bodyPr wrap="square" rtlCol="0" anchor="ctr"/>
          <a:lstStyle/>
          <a:p>
            <a:pPr indent="0" marL="0">
              <a:buNone/>
            </a:pPr>
            <a:r>
              <a:rPr lang="en-US" sz="1800" b="1" dirty="0">
                <a:solidFill>
                  <a:srgbClr val="24303F"/>
                </a:solidFill>
                <a:latin typeface="Calibri" pitchFamily="34" charset="0"/>
                <a:ea typeface="Calibri" pitchFamily="34" charset="-122"/>
                <a:cs typeface="Calibri" pitchFamily="34" charset="-120"/>
              </a:rPr>
              <a:t>Timeline &amp; biblical integration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256032"/>
            <a:ext cx="10972800" cy="320040"/>
          </a:xfrm>
          <a:prstGeom prst="rect">
            <a:avLst/>
          </a:prstGeom>
          <a:noFill/>
          <a:ln/>
        </p:spPr>
        <p:txBody>
          <a:bodyPr wrap="square" rtlCol="0" anchor="ctr"/>
          <a:lstStyle/>
          <a:p>
            <a:pPr indent="0" marL="0">
              <a:buNone/>
            </a:pPr>
            <a:r>
              <a:rPr lang="en-US" sz="1200" b="1" spc="300" kern="0" dirty="0">
                <a:solidFill>
                  <a:srgbClr val="FF6B4A"/>
                </a:solidFill>
                <a:latin typeface="Calibri" pitchFamily="34" charset="0"/>
                <a:ea typeface="Calibri" pitchFamily="34" charset="-122"/>
                <a:cs typeface="Calibri" pitchFamily="34" charset="-120"/>
              </a:rPr>
              <a:t>TARGET PUBLIC</a:t>
            </a:r>
            <a:endParaRPr lang="en-US" sz="1200" dirty="0"/>
          </a:p>
        </p:txBody>
      </p:sp>
      <p:sp>
        <p:nvSpPr>
          <p:cNvPr id="3" name="Text 1"/>
          <p:cNvSpPr/>
          <p:nvPr/>
        </p:nvSpPr>
        <p:spPr>
          <a:xfrm>
            <a:off x="548640" y="457200"/>
            <a:ext cx="11064240" cy="822960"/>
          </a:xfrm>
          <a:prstGeom prst="rect">
            <a:avLst/>
          </a:prstGeom>
          <a:noFill/>
          <a:ln/>
        </p:spPr>
        <p:txBody>
          <a:bodyPr wrap="square" rtlCol="0" anchor="ctr"/>
          <a:lstStyle/>
          <a:p>
            <a:pPr algn="l" indent="0" marL="0">
              <a:buNone/>
            </a:pPr>
            <a:r>
              <a:rPr lang="en-US" sz="3400" b="1" dirty="0">
                <a:solidFill>
                  <a:srgbClr val="1E2A44"/>
                </a:solidFill>
                <a:latin typeface="Cambria" pitchFamily="34" charset="0"/>
                <a:ea typeface="Cambria" pitchFamily="34" charset="-122"/>
                <a:cs typeface="Cambria" pitchFamily="34" charset="-120"/>
              </a:rPr>
              <a:t>Who We're Reaching</a:t>
            </a:r>
            <a:endParaRPr lang="en-US" sz="3400" dirty="0"/>
          </a:p>
        </p:txBody>
      </p:sp>
      <p:sp>
        <p:nvSpPr>
          <p:cNvPr id="4" name="Shape 2"/>
          <p:cNvSpPr/>
          <p:nvPr/>
        </p:nvSpPr>
        <p:spPr>
          <a:xfrm>
            <a:off x="548640" y="1600200"/>
            <a:ext cx="3429000" cy="1371600"/>
          </a:xfrm>
          <a:prstGeom prst="roundRect">
            <a:avLst>
              <a:gd name="adj" fmla="val 8000"/>
            </a:avLst>
          </a:prstGeom>
          <a:solidFill>
            <a:srgbClr val="F3F6FB"/>
          </a:solidFill>
          <a:ln/>
          <a:effectLst>
            <a:outerShdw sx="100000" sy="100000" kx="0" ky="0" algn="bl" rotWithShape="0" blurRad="101600" dist="38100" dir="5400000">
              <a:srgbClr val="9AA6B8">
                <a:alpha val="35000"/>
              </a:srgbClr>
            </a:outerShdw>
          </a:effectLst>
        </p:spPr>
      </p:sp>
      <p:sp>
        <p:nvSpPr>
          <p:cNvPr id="5" name="Text 3"/>
          <p:cNvSpPr/>
          <p:nvPr/>
        </p:nvSpPr>
        <p:spPr>
          <a:xfrm>
            <a:off x="548640" y="1691640"/>
            <a:ext cx="3429000" cy="822960"/>
          </a:xfrm>
          <a:prstGeom prst="rect">
            <a:avLst/>
          </a:prstGeom>
          <a:noFill/>
          <a:ln/>
        </p:spPr>
        <p:txBody>
          <a:bodyPr wrap="square" rtlCol="0" anchor="ctr"/>
          <a:lstStyle/>
          <a:p>
            <a:pPr algn="ctr" indent="0" marL="0">
              <a:buNone/>
            </a:pPr>
            <a:r>
              <a:rPr lang="en-US" sz="4000" b="1" dirty="0">
                <a:solidFill>
                  <a:srgbClr val="FF6B4A"/>
                </a:solidFill>
                <a:latin typeface="Cambria" pitchFamily="34" charset="0"/>
                <a:ea typeface="Cambria" pitchFamily="34" charset="-122"/>
                <a:cs typeface="Cambria" pitchFamily="34" charset="-120"/>
              </a:rPr>
              <a:t>25–45</a:t>
            </a:r>
            <a:endParaRPr lang="en-US" sz="4000" dirty="0"/>
          </a:p>
        </p:txBody>
      </p:sp>
      <p:sp>
        <p:nvSpPr>
          <p:cNvPr id="6" name="Text 4"/>
          <p:cNvSpPr/>
          <p:nvPr/>
        </p:nvSpPr>
        <p:spPr>
          <a:xfrm>
            <a:off x="548640" y="2487168"/>
            <a:ext cx="3429000" cy="411480"/>
          </a:xfrm>
          <a:prstGeom prst="rect">
            <a:avLst/>
          </a:prstGeom>
          <a:noFill/>
          <a:ln/>
        </p:spPr>
        <p:txBody>
          <a:bodyPr wrap="square" rtlCol="0" anchor="ctr"/>
          <a:lstStyle/>
          <a:p>
            <a:pPr algn="ctr" indent="0" marL="0">
              <a:buNone/>
            </a:pPr>
            <a:r>
              <a:rPr lang="en-US" sz="1400" dirty="0">
                <a:solidFill>
                  <a:srgbClr val="6B7688"/>
                </a:solidFill>
                <a:latin typeface="Calibri" pitchFamily="34" charset="0"/>
                <a:ea typeface="Calibri" pitchFamily="34" charset="-122"/>
                <a:cs typeface="Calibri" pitchFamily="34" charset="-120"/>
              </a:rPr>
              <a:t>Age range</a:t>
            </a:r>
            <a:endParaRPr lang="en-US" sz="1400" dirty="0"/>
          </a:p>
        </p:txBody>
      </p:sp>
      <p:sp>
        <p:nvSpPr>
          <p:cNvPr id="7" name="Shape 5"/>
          <p:cNvSpPr/>
          <p:nvPr/>
        </p:nvSpPr>
        <p:spPr>
          <a:xfrm>
            <a:off x="4206240" y="1600200"/>
            <a:ext cx="3429000" cy="1371600"/>
          </a:xfrm>
          <a:prstGeom prst="roundRect">
            <a:avLst>
              <a:gd name="adj" fmla="val 8000"/>
            </a:avLst>
          </a:prstGeom>
          <a:solidFill>
            <a:srgbClr val="F3F6FB"/>
          </a:solidFill>
          <a:ln/>
          <a:effectLst>
            <a:outerShdw sx="100000" sy="100000" kx="0" ky="0" algn="bl" rotWithShape="0" blurRad="101600" dist="38100" dir="5400000">
              <a:srgbClr val="9AA6B8">
                <a:alpha val="35000"/>
              </a:srgbClr>
            </a:outerShdw>
          </a:effectLst>
        </p:spPr>
      </p:sp>
      <p:sp>
        <p:nvSpPr>
          <p:cNvPr id="8" name="Text 6"/>
          <p:cNvSpPr/>
          <p:nvPr/>
        </p:nvSpPr>
        <p:spPr>
          <a:xfrm>
            <a:off x="4206240" y="1691640"/>
            <a:ext cx="3429000" cy="822960"/>
          </a:xfrm>
          <a:prstGeom prst="rect">
            <a:avLst/>
          </a:prstGeom>
          <a:noFill/>
          <a:ln/>
        </p:spPr>
        <p:txBody>
          <a:bodyPr wrap="square" rtlCol="0" anchor="ctr"/>
          <a:lstStyle/>
          <a:p>
            <a:pPr algn="ctr" indent="0" marL="0">
              <a:buNone/>
            </a:pPr>
            <a:r>
              <a:rPr lang="en-US" sz="4000" b="1" dirty="0">
                <a:solidFill>
                  <a:srgbClr val="FF6B4A"/>
                </a:solidFill>
                <a:latin typeface="Cambria" pitchFamily="34" charset="0"/>
                <a:ea typeface="Cambria" pitchFamily="34" charset="-122"/>
                <a:cs typeface="Cambria" pitchFamily="34" charset="-120"/>
              </a:rPr>
              <a:t>RVA</a:t>
            </a:r>
            <a:endParaRPr lang="en-US" sz="4000" dirty="0"/>
          </a:p>
        </p:txBody>
      </p:sp>
      <p:sp>
        <p:nvSpPr>
          <p:cNvPr id="9" name="Text 7"/>
          <p:cNvSpPr/>
          <p:nvPr/>
        </p:nvSpPr>
        <p:spPr>
          <a:xfrm>
            <a:off x="4206240" y="2487168"/>
            <a:ext cx="3429000" cy="411480"/>
          </a:xfrm>
          <a:prstGeom prst="rect">
            <a:avLst/>
          </a:prstGeom>
          <a:noFill/>
          <a:ln/>
        </p:spPr>
        <p:txBody>
          <a:bodyPr wrap="square" rtlCol="0" anchor="ctr"/>
          <a:lstStyle/>
          <a:p>
            <a:pPr algn="ctr" indent="0" marL="0">
              <a:buNone/>
            </a:pPr>
            <a:r>
              <a:rPr lang="en-US" sz="1400" dirty="0">
                <a:solidFill>
                  <a:srgbClr val="6B7688"/>
                </a:solidFill>
                <a:latin typeface="Calibri" pitchFamily="34" charset="0"/>
                <a:ea typeface="Calibri" pitchFamily="34" charset="-122"/>
                <a:cs typeface="Calibri" pitchFamily="34" charset="-120"/>
              </a:rPr>
              <a:t>Greater Richmond</a:t>
            </a:r>
            <a:endParaRPr lang="en-US" sz="1400" dirty="0"/>
          </a:p>
        </p:txBody>
      </p:sp>
      <p:sp>
        <p:nvSpPr>
          <p:cNvPr id="10" name="Shape 8"/>
          <p:cNvSpPr/>
          <p:nvPr/>
        </p:nvSpPr>
        <p:spPr>
          <a:xfrm>
            <a:off x="7863840" y="1600200"/>
            <a:ext cx="3429000" cy="1371600"/>
          </a:xfrm>
          <a:prstGeom prst="roundRect">
            <a:avLst>
              <a:gd name="adj" fmla="val 8000"/>
            </a:avLst>
          </a:prstGeom>
          <a:solidFill>
            <a:srgbClr val="F3F6FB"/>
          </a:solidFill>
          <a:ln/>
          <a:effectLst>
            <a:outerShdw sx="100000" sy="100000" kx="0" ky="0" algn="bl" rotWithShape="0" blurRad="101600" dist="38100" dir="5400000">
              <a:srgbClr val="9AA6B8">
                <a:alpha val="35000"/>
              </a:srgbClr>
            </a:outerShdw>
          </a:effectLst>
        </p:spPr>
      </p:sp>
      <p:sp>
        <p:nvSpPr>
          <p:cNvPr id="11" name="Text 9"/>
          <p:cNvSpPr/>
          <p:nvPr/>
        </p:nvSpPr>
        <p:spPr>
          <a:xfrm>
            <a:off x="7863840" y="1691640"/>
            <a:ext cx="3429000" cy="822960"/>
          </a:xfrm>
          <a:prstGeom prst="rect">
            <a:avLst/>
          </a:prstGeom>
          <a:noFill/>
          <a:ln/>
        </p:spPr>
        <p:txBody>
          <a:bodyPr wrap="square" rtlCol="0" anchor="ctr"/>
          <a:lstStyle/>
          <a:p>
            <a:pPr algn="ctr" indent="0" marL="0">
              <a:buNone/>
            </a:pPr>
            <a:r>
              <a:rPr lang="en-US" sz="4000" b="1" dirty="0">
                <a:solidFill>
                  <a:srgbClr val="FF6B4A"/>
                </a:solidFill>
                <a:latin typeface="Cambria" pitchFamily="34" charset="0"/>
                <a:ea typeface="Cambria" pitchFamily="34" charset="-122"/>
                <a:cs typeface="Cambria" pitchFamily="34" charset="-120"/>
              </a:rPr>
              <a:t>Runners</a:t>
            </a:r>
            <a:endParaRPr lang="en-US" sz="4000" dirty="0"/>
          </a:p>
        </p:txBody>
      </p:sp>
      <p:sp>
        <p:nvSpPr>
          <p:cNvPr id="12" name="Text 10"/>
          <p:cNvSpPr/>
          <p:nvPr/>
        </p:nvSpPr>
        <p:spPr>
          <a:xfrm>
            <a:off x="7863840" y="2487168"/>
            <a:ext cx="3429000" cy="411480"/>
          </a:xfrm>
          <a:prstGeom prst="rect">
            <a:avLst/>
          </a:prstGeom>
          <a:noFill/>
          <a:ln/>
        </p:spPr>
        <p:txBody>
          <a:bodyPr wrap="square" rtlCol="0" anchor="ctr"/>
          <a:lstStyle/>
          <a:p>
            <a:pPr algn="ctr" indent="0" marL="0">
              <a:buNone/>
            </a:pPr>
            <a:r>
              <a:rPr lang="en-US" sz="1400" dirty="0">
                <a:solidFill>
                  <a:srgbClr val="6B7688"/>
                </a:solidFill>
                <a:latin typeface="Calibri" pitchFamily="34" charset="0"/>
                <a:ea typeface="Calibri" pitchFamily="34" charset="-122"/>
                <a:cs typeface="Calibri" pitchFamily="34" charset="-120"/>
              </a:rPr>
              <a:t>Active lifestyle</a:t>
            </a:r>
            <a:endParaRPr lang="en-US" sz="1400" dirty="0"/>
          </a:p>
        </p:txBody>
      </p:sp>
      <p:sp>
        <p:nvSpPr>
          <p:cNvPr id="13" name="Text 11"/>
          <p:cNvSpPr/>
          <p:nvPr/>
        </p:nvSpPr>
        <p:spPr>
          <a:xfrm>
            <a:off x="566928" y="3246120"/>
            <a:ext cx="7315200" cy="457200"/>
          </a:xfrm>
          <a:prstGeom prst="rect">
            <a:avLst/>
          </a:prstGeom>
          <a:noFill/>
          <a:ln/>
        </p:spPr>
        <p:txBody>
          <a:bodyPr wrap="square" rtlCol="0" anchor="ctr"/>
          <a:lstStyle/>
          <a:p>
            <a:pPr indent="0" marL="0">
              <a:buNone/>
            </a:pPr>
            <a:r>
              <a:rPr lang="en-US" sz="2200" b="1" dirty="0">
                <a:solidFill>
                  <a:srgbClr val="1E2A44"/>
                </a:solidFill>
                <a:latin typeface="Cambria" pitchFamily="34" charset="0"/>
                <a:ea typeface="Cambria" pitchFamily="34" charset="-122"/>
                <a:cs typeface="Cambria" pitchFamily="34" charset="-120"/>
              </a:rPr>
              <a:t>Psychographics</a:t>
            </a:r>
            <a:endParaRPr lang="en-US" sz="2200" dirty="0"/>
          </a:p>
        </p:txBody>
      </p:sp>
      <p:sp>
        <p:nvSpPr>
          <p:cNvPr id="14" name="Text 12"/>
          <p:cNvSpPr/>
          <p:nvPr/>
        </p:nvSpPr>
        <p:spPr>
          <a:xfrm>
            <a:off x="640080" y="3794760"/>
            <a:ext cx="5486400" cy="2377440"/>
          </a:xfrm>
          <a:prstGeom prst="rect">
            <a:avLst/>
          </a:prstGeom>
          <a:noFill/>
          <a:ln/>
        </p:spPr>
        <p:txBody>
          <a:bodyPr wrap="square" rtlCol="0" anchor="ctr"/>
          <a:lstStyle/>
          <a:p>
            <a:pPr marL="228600" indent="-228600">
              <a:spcAft>
                <a:spcPts val="1000"/>
              </a:spcAft>
              <a:buSzPct val="100000"/>
              <a:buChar char="•"/>
            </a:pPr>
            <a:r>
              <a:rPr lang="en-US" sz="1700" dirty="0">
                <a:solidFill>
                  <a:srgbClr val="24303F"/>
                </a:solidFill>
                <a:latin typeface="Calibri" pitchFamily="34" charset="0"/>
                <a:ea typeface="Calibri" pitchFamily="34" charset="-122"/>
                <a:cs typeface="Calibri" pitchFamily="34" charset="-120"/>
              </a:rPr>
              <a:t>Health-minded and community-driven</a:t>
            </a:r>
            <a:endParaRPr lang="en-US" sz="1700" dirty="0"/>
          </a:p>
          <a:p>
            <a:pPr marL="228600" indent="-228600">
              <a:spcAft>
                <a:spcPts val="1000"/>
              </a:spcAft>
              <a:buSzPct val="100000"/>
              <a:buChar char="•"/>
            </a:pPr>
            <a:r>
              <a:rPr lang="en-US" sz="1700" dirty="0">
                <a:solidFill>
                  <a:srgbClr val="24303F"/>
                </a:solidFill>
                <a:latin typeface="Calibri" pitchFamily="34" charset="0"/>
                <a:ea typeface="Calibri" pitchFamily="34" charset="-122"/>
                <a:cs typeface="Calibri" pitchFamily="34" charset="-120"/>
              </a:rPr>
              <a:t>Value dignity and second chances</a:t>
            </a:r>
            <a:endParaRPr lang="en-US" sz="1700" dirty="0"/>
          </a:p>
          <a:p>
            <a:pPr marL="228600" indent="-228600">
              <a:spcAft>
                <a:spcPts val="1000"/>
              </a:spcAft>
              <a:buSzPct val="100000"/>
              <a:buChar char="•"/>
            </a:pPr>
            <a:r>
              <a:rPr lang="en-US" sz="1700" dirty="0">
                <a:solidFill>
                  <a:srgbClr val="24303F"/>
                </a:solidFill>
                <a:latin typeface="Calibri" pitchFamily="34" charset="0"/>
                <a:ea typeface="Calibri" pitchFamily="34" charset="-122"/>
                <a:cs typeface="Calibri" pitchFamily="34" charset="-120"/>
              </a:rPr>
              <a:t>Give when personally connected</a:t>
            </a:r>
            <a:endParaRPr lang="en-US" sz="1700" dirty="0"/>
          </a:p>
        </p:txBody>
      </p:sp>
      <p:sp>
        <p:nvSpPr>
          <p:cNvPr id="15" name="Text 13"/>
          <p:cNvSpPr/>
          <p:nvPr/>
        </p:nvSpPr>
        <p:spPr>
          <a:xfrm>
            <a:off x="6309360" y="3794760"/>
            <a:ext cx="5486400" cy="2377440"/>
          </a:xfrm>
          <a:prstGeom prst="rect">
            <a:avLst/>
          </a:prstGeom>
          <a:noFill/>
          <a:ln/>
        </p:spPr>
        <p:txBody>
          <a:bodyPr wrap="square" rtlCol="0" anchor="ctr"/>
          <a:lstStyle/>
          <a:p>
            <a:pPr marL="228600" indent="-228600">
              <a:spcAft>
                <a:spcPts val="1000"/>
              </a:spcAft>
              <a:buSzPct val="100000"/>
              <a:buChar char="•"/>
            </a:pPr>
            <a:r>
              <a:rPr lang="en-US" sz="1700" dirty="0">
                <a:solidFill>
                  <a:srgbClr val="24303F"/>
                </a:solidFill>
                <a:latin typeface="Calibri" pitchFamily="34" charset="0"/>
                <a:ea typeface="Calibri" pitchFamily="34" charset="-122"/>
                <a:cs typeface="Calibri" pitchFamily="34" charset="-120"/>
              </a:rPr>
              <a:t>Cycle through running shoes often</a:t>
            </a:r>
            <a:endParaRPr lang="en-US" sz="1700" dirty="0"/>
          </a:p>
          <a:p>
            <a:pPr marL="228600" indent="-228600">
              <a:spcAft>
                <a:spcPts val="1000"/>
              </a:spcAft>
              <a:buSzPct val="100000"/>
              <a:buChar char="•"/>
            </a:pPr>
            <a:r>
              <a:rPr lang="en-US" sz="1700" dirty="0">
                <a:solidFill>
                  <a:srgbClr val="24303F"/>
                </a:solidFill>
                <a:latin typeface="Calibri" pitchFamily="34" charset="0"/>
                <a:ea typeface="Calibri" pitchFamily="34" charset="-122"/>
                <a:cs typeface="Calibri" pitchFamily="34" charset="-120"/>
              </a:rPr>
              <a:t>Digitally savvy and mobile-first</a:t>
            </a:r>
            <a:endParaRPr lang="en-US" sz="1700" dirty="0"/>
          </a:p>
          <a:p>
            <a:pPr marL="228600" indent="-228600">
              <a:spcAft>
                <a:spcPts val="1000"/>
              </a:spcAft>
              <a:buSzPct val="100000"/>
              <a:buChar char="•"/>
            </a:pPr>
            <a:r>
              <a:rPr lang="en-US" sz="1700" dirty="0">
                <a:solidFill>
                  <a:srgbClr val="24303F"/>
                </a:solidFill>
                <a:latin typeface="Calibri" pitchFamily="34" charset="0"/>
                <a:ea typeface="Calibri" pitchFamily="34" charset="-122"/>
                <a:cs typeface="Calibri" pitchFamily="34" charset="-120"/>
              </a:rPr>
              <a:t>Motivated by local, tangible impact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256032"/>
            <a:ext cx="10972800" cy="320040"/>
          </a:xfrm>
          <a:prstGeom prst="rect">
            <a:avLst/>
          </a:prstGeom>
          <a:noFill/>
          <a:ln/>
        </p:spPr>
        <p:txBody>
          <a:bodyPr wrap="square" rtlCol="0" anchor="ctr"/>
          <a:lstStyle/>
          <a:p>
            <a:pPr indent="0" marL="0">
              <a:buNone/>
            </a:pPr>
            <a:r>
              <a:rPr lang="en-US" sz="1200" b="1" spc="300" kern="0" dirty="0">
                <a:solidFill>
                  <a:srgbClr val="FF6B4A"/>
                </a:solidFill>
                <a:latin typeface="Calibri" pitchFamily="34" charset="0"/>
                <a:ea typeface="Calibri" pitchFamily="34" charset="-122"/>
                <a:cs typeface="Calibri" pitchFamily="34" charset="-120"/>
              </a:rPr>
              <a:t>TARGET PUBLIC</a:t>
            </a:r>
            <a:endParaRPr lang="en-US" sz="1200" dirty="0"/>
          </a:p>
        </p:txBody>
      </p:sp>
      <p:sp>
        <p:nvSpPr>
          <p:cNvPr id="3" name="Text 1"/>
          <p:cNvSpPr/>
          <p:nvPr/>
        </p:nvSpPr>
        <p:spPr>
          <a:xfrm>
            <a:off x="548640" y="457200"/>
            <a:ext cx="11064240" cy="822960"/>
          </a:xfrm>
          <a:prstGeom prst="rect">
            <a:avLst/>
          </a:prstGeom>
          <a:noFill/>
          <a:ln/>
        </p:spPr>
        <p:txBody>
          <a:bodyPr wrap="square" rtlCol="0" anchor="ctr"/>
          <a:lstStyle/>
          <a:p>
            <a:pPr algn="l" indent="0" marL="0">
              <a:buNone/>
            </a:pPr>
            <a:r>
              <a:rPr lang="en-US" sz="3400" b="1" dirty="0">
                <a:solidFill>
                  <a:srgbClr val="1E2A44"/>
                </a:solidFill>
                <a:latin typeface="Cambria" pitchFamily="34" charset="0"/>
                <a:ea typeface="Cambria" pitchFamily="34" charset="-122"/>
                <a:cs typeface="Cambria" pitchFamily="34" charset="-120"/>
              </a:rPr>
              <a:t>How They Engage</a:t>
            </a:r>
            <a:endParaRPr lang="en-US" sz="3400" dirty="0"/>
          </a:p>
        </p:txBody>
      </p:sp>
      <p:sp>
        <p:nvSpPr>
          <p:cNvPr id="4" name="Shape 2"/>
          <p:cNvSpPr/>
          <p:nvPr/>
        </p:nvSpPr>
        <p:spPr>
          <a:xfrm>
            <a:off x="548640" y="1600200"/>
            <a:ext cx="5349240" cy="4572000"/>
          </a:xfrm>
          <a:prstGeom prst="roundRect">
            <a:avLst>
              <a:gd name="adj" fmla="val 2400"/>
            </a:avLst>
          </a:prstGeom>
          <a:solidFill>
            <a:srgbClr val="F3F6FB"/>
          </a:solidFill>
          <a:ln/>
          <a:effectLst>
            <a:outerShdw sx="100000" sy="100000" kx="0" ky="0" algn="bl" rotWithShape="0" blurRad="101600" dist="38100" dir="5400000">
              <a:srgbClr val="9AA6B8">
                <a:alpha val="35000"/>
              </a:srgbClr>
            </a:outerShdw>
          </a:effectLst>
        </p:spPr>
      </p:sp>
      <p:sp>
        <p:nvSpPr>
          <p:cNvPr id="5" name="Shape 3"/>
          <p:cNvSpPr/>
          <p:nvPr/>
        </p:nvSpPr>
        <p:spPr>
          <a:xfrm>
            <a:off x="868680" y="1920240"/>
            <a:ext cx="822960" cy="822960"/>
          </a:xfrm>
          <a:prstGeom prst="ellipse">
            <a:avLst/>
          </a:prstGeom>
          <a:solidFill>
            <a:srgbClr val="FF6B4A"/>
          </a:solidFill>
          <a:ln/>
        </p:spPr>
      </p:sp>
      <p:pic>
        <p:nvPicPr>
          <p:cNvPr id="6" name="Image 0" descr="preencoded.png">    </p:cNvPr>
          <p:cNvPicPr>
            <a:picLocks noChangeAspect="1"/>
          </p:cNvPicPr>
          <p:nvPr/>
        </p:nvPicPr>
        <p:blipFill>
          <a:blip r:embed="rId1"/>
          <a:stretch>
            <a:fillRect/>
          </a:stretch>
        </p:blipFill>
        <p:spPr>
          <a:xfrm>
            <a:off x="1097280" y="2148840"/>
            <a:ext cx="365760" cy="365760"/>
          </a:xfrm>
          <a:prstGeom prst="rect">
            <a:avLst/>
          </a:prstGeom>
        </p:spPr>
      </p:pic>
      <p:sp>
        <p:nvSpPr>
          <p:cNvPr id="7" name="Text 4"/>
          <p:cNvSpPr/>
          <p:nvPr/>
        </p:nvSpPr>
        <p:spPr>
          <a:xfrm>
            <a:off x="1828800" y="2057400"/>
            <a:ext cx="3657600" cy="548640"/>
          </a:xfrm>
          <a:prstGeom prst="rect">
            <a:avLst/>
          </a:prstGeom>
          <a:noFill/>
          <a:ln/>
        </p:spPr>
        <p:txBody>
          <a:bodyPr wrap="square" rtlCol="0" anchor="ctr"/>
          <a:lstStyle/>
          <a:p>
            <a:pPr indent="0" marL="0">
              <a:buNone/>
            </a:pPr>
            <a:r>
              <a:rPr lang="en-US" sz="2100" b="1" dirty="0">
                <a:solidFill>
                  <a:srgbClr val="1E2A44"/>
                </a:solidFill>
                <a:latin typeface="Cambria" pitchFamily="34" charset="0"/>
                <a:ea typeface="Cambria" pitchFamily="34" charset="-122"/>
                <a:cs typeface="Cambria" pitchFamily="34" charset="-120"/>
              </a:rPr>
              <a:t>Media They Use</a:t>
            </a:r>
            <a:endParaRPr lang="en-US" sz="2100" dirty="0"/>
          </a:p>
        </p:txBody>
      </p:sp>
      <p:sp>
        <p:nvSpPr>
          <p:cNvPr id="8" name="Text 5"/>
          <p:cNvSpPr/>
          <p:nvPr/>
        </p:nvSpPr>
        <p:spPr>
          <a:xfrm>
            <a:off x="960120" y="2926080"/>
            <a:ext cx="4663440" cy="2926080"/>
          </a:xfrm>
          <a:prstGeom prst="rect">
            <a:avLst/>
          </a:prstGeom>
          <a:noFill/>
          <a:ln/>
        </p:spPr>
        <p:txBody>
          <a:bodyPr wrap="square" rtlCol="0" anchor="ctr"/>
          <a:lstStyle/>
          <a:p>
            <a:pPr marL="228600" indent="-228600">
              <a:spcAft>
                <a:spcPts val="1000"/>
              </a:spcAft>
              <a:buSzPct val="100000"/>
              <a:buChar char="•"/>
            </a:pPr>
            <a:r>
              <a:rPr lang="en-US" sz="1700" dirty="0">
                <a:solidFill>
                  <a:srgbClr val="24303F"/>
                </a:solidFill>
                <a:latin typeface="Calibri" pitchFamily="34" charset="0"/>
                <a:ea typeface="Calibri" pitchFamily="34" charset="-122"/>
                <a:cs typeface="Calibri" pitchFamily="34" charset="-120"/>
              </a:rPr>
              <a:t>Instagram &amp; TikTok daily</a:t>
            </a:r>
            <a:endParaRPr lang="en-US" sz="1700" dirty="0"/>
          </a:p>
          <a:p>
            <a:pPr marL="228600" indent="-228600">
              <a:spcAft>
                <a:spcPts val="1000"/>
              </a:spcAft>
              <a:buSzPct val="100000"/>
              <a:buChar char="•"/>
            </a:pPr>
            <a:r>
              <a:rPr lang="en-US" sz="1700" dirty="0">
                <a:solidFill>
                  <a:srgbClr val="24303F"/>
                </a:solidFill>
                <a:latin typeface="Calibri" pitchFamily="34" charset="0"/>
                <a:ea typeface="Calibri" pitchFamily="34" charset="-122"/>
                <a:cs typeface="Calibri" pitchFamily="34" charset="-120"/>
              </a:rPr>
              <a:t>Facebook community groups</a:t>
            </a:r>
            <a:endParaRPr lang="en-US" sz="1700" dirty="0"/>
          </a:p>
          <a:p>
            <a:pPr marL="228600" indent="-228600">
              <a:spcAft>
                <a:spcPts val="1000"/>
              </a:spcAft>
              <a:buSzPct val="100000"/>
              <a:buChar char="•"/>
            </a:pPr>
            <a:r>
              <a:rPr lang="en-US" sz="1700" dirty="0">
                <a:solidFill>
                  <a:srgbClr val="24303F"/>
                </a:solidFill>
                <a:latin typeface="Calibri" pitchFamily="34" charset="0"/>
                <a:ea typeface="Calibri" pitchFamily="34" charset="-122"/>
                <a:cs typeface="Calibri" pitchFamily="34" charset="-120"/>
              </a:rPr>
              <a:t>Strava for running</a:t>
            </a:r>
            <a:endParaRPr lang="en-US" sz="1700" dirty="0"/>
          </a:p>
          <a:p>
            <a:pPr marL="228600" indent="-228600">
              <a:spcAft>
                <a:spcPts val="1000"/>
              </a:spcAft>
              <a:buSzPct val="100000"/>
              <a:buChar char="•"/>
            </a:pPr>
            <a:r>
              <a:rPr lang="en-US" sz="1700" dirty="0">
                <a:solidFill>
                  <a:srgbClr val="24303F"/>
                </a:solidFill>
                <a:latin typeface="Calibri" pitchFamily="34" charset="0"/>
                <a:ea typeface="Calibri" pitchFamily="34" charset="-122"/>
                <a:cs typeface="Calibri" pitchFamily="34" charset="-120"/>
              </a:rPr>
              <a:t>Smartphone, always on</a:t>
            </a:r>
            <a:endParaRPr lang="en-US" sz="1700" dirty="0"/>
          </a:p>
        </p:txBody>
      </p:sp>
      <p:sp>
        <p:nvSpPr>
          <p:cNvPr id="9" name="Shape 6"/>
          <p:cNvSpPr/>
          <p:nvPr/>
        </p:nvSpPr>
        <p:spPr>
          <a:xfrm>
            <a:off x="6263640" y="1600200"/>
            <a:ext cx="5349240" cy="4572000"/>
          </a:xfrm>
          <a:prstGeom prst="roundRect">
            <a:avLst>
              <a:gd name="adj" fmla="val 2400"/>
            </a:avLst>
          </a:prstGeom>
          <a:solidFill>
            <a:srgbClr val="1E2A44"/>
          </a:solidFill>
          <a:ln/>
          <a:effectLst>
            <a:outerShdw sx="100000" sy="100000" kx="0" ky="0" algn="bl" rotWithShape="0" blurRad="101600" dist="38100" dir="5400000">
              <a:srgbClr val="9AA6B8">
                <a:alpha val="35000"/>
              </a:srgbClr>
            </a:outerShdw>
          </a:effectLst>
        </p:spPr>
      </p:sp>
      <p:sp>
        <p:nvSpPr>
          <p:cNvPr id="10" name="Shape 7"/>
          <p:cNvSpPr/>
          <p:nvPr/>
        </p:nvSpPr>
        <p:spPr>
          <a:xfrm>
            <a:off x="6583680" y="1920240"/>
            <a:ext cx="822960" cy="822960"/>
          </a:xfrm>
          <a:prstGeom prst="ellipse">
            <a:avLst/>
          </a:prstGeom>
          <a:solidFill>
            <a:srgbClr val="FF6B4A"/>
          </a:solidFill>
          <a:ln/>
        </p:spPr>
      </p:sp>
      <p:pic>
        <p:nvPicPr>
          <p:cNvPr id="11" name="Image 1" descr="preencoded.png">    </p:cNvPr>
          <p:cNvPicPr>
            <a:picLocks noChangeAspect="1"/>
          </p:cNvPicPr>
          <p:nvPr/>
        </p:nvPicPr>
        <p:blipFill>
          <a:blip r:embed="rId2"/>
          <a:stretch>
            <a:fillRect/>
          </a:stretch>
        </p:blipFill>
        <p:spPr>
          <a:xfrm>
            <a:off x="6812280" y="2148840"/>
            <a:ext cx="365760" cy="365760"/>
          </a:xfrm>
          <a:prstGeom prst="rect">
            <a:avLst/>
          </a:prstGeom>
        </p:spPr>
      </p:pic>
      <p:sp>
        <p:nvSpPr>
          <p:cNvPr id="12" name="Text 8"/>
          <p:cNvSpPr/>
          <p:nvPr/>
        </p:nvSpPr>
        <p:spPr>
          <a:xfrm>
            <a:off x="7543800" y="2057400"/>
            <a:ext cx="3657600" cy="548640"/>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Content They Love</a:t>
            </a:r>
            <a:endParaRPr lang="en-US" sz="2100" dirty="0"/>
          </a:p>
        </p:txBody>
      </p:sp>
      <p:sp>
        <p:nvSpPr>
          <p:cNvPr id="13" name="Text 9"/>
          <p:cNvSpPr/>
          <p:nvPr/>
        </p:nvSpPr>
        <p:spPr>
          <a:xfrm>
            <a:off x="6675120" y="2926080"/>
            <a:ext cx="4663440" cy="2926080"/>
          </a:xfrm>
          <a:prstGeom prst="rect">
            <a:avLst/>
          </a:prstGeom>
          <a:noFill/>
          <a:ln/>
        </p:spPr>
        <p:txBody>
          <a:bodyPr wrap="square" rtlCol="0" anchor="ctr"/>
          <a:lstStyle/>
          <a:p>
            <a:pPr marL="228600" indent="-228600">
              <a:spcAft>
                <a:spcPts val="1000"/>
              </a:spcAft>
              <a:buSzPct val="100000"/>
              <a:buChar char="•"/>
            </a:pPr>
            <a:r>
              <a:rPr lang="en-US" sz="1700" dirty="0">
                <a:solidFill>
                  <a:srgbClr val="E6ECF7"/>
                </a:solidFill>
                <a:latin typeface="Calibri" pitchFamily="34" charset="0"/>
                <a:ea typeface="Calibri" pitchFamily="34" charset="-122"/>
                <a:cs typeface="Calibri" pitchFamily="34" charset="-120"/>
              </a:rPr>
              <a:t>Authentic transformation stories</a:t>
            </a:r>
            <a:endParaRPr lang="en-US" sz="1700" dirty="0"/>
          </a:p>
          <a:p>
            <a:pPr marL="228600" indent="-228600">
              <a:spcAft>
                <a:spcPts val="1000"/>
              </a:spcAft>
              <a:buSzPct val="100000"/>
              <a:buChar char="•"/>
            </a:pPr>
            <a:r>
              <a:rPr lang="en-US" sz="1700" dirty="0">
                <a:solidFill>
                  <a:srgbClr val="E6ECF7"/>
                </a:solidFill>
                <a:latin typeface="Calibri" pitchFamily="34" charset="0"/>
                <a:ea typeface="Calibri" pitchFamily="34" charset="-122"/>
                <a:cs typeface="Calibri" pitchFamily="34" charset="-120"/>
              </a:rPr>
              <a:t>Behind-the-scenes volunteering</a:t>
            </a:r>
            <a:endParaRPr lang="en-US" sz="1700" dirty="0"/>
          </a:p>
          <a:p>
            <a:pPr marL="228600" indent="-228600">
              <a:spcAft>
                <a:spcPts val="1000"/>
              </a:spcAft>
              <a:buSzPct val="100000"/>
              <a:buChar char="•"/>
            </a:pPr>
            <a:r>
              <a:rPr lang="en-US" sz="1700" dirty="0">
                <a:solidFill>
                  <a:srgbClr val="E6ECF7"/>
                </a:solidFill>
                <a:latin typeface="Calibri" pitchFamily="34" charset="0"/>
                <a:ea typeface="Calibri" pitchFamily="34" charset="-122"/>
                <a:cs typeface="Calibri" pitchFamily="34" charset="-120"/>
              </a:rPr>
              <a:t>Practical fitness tips</a:t>
            </a:r>
            <a:endParaRPr lang="en-US" sz="1700" dirty="0"/>
          </a:p>
          <a:p>
            <a:pPr marL="228600" indent="-228600">
              <a:spcAft>
                <a:spcPts val="1000"/>
              </a:spcAft>
              <a:buSzPct val="100000"/>
              <a:buChar char="•"/>
            </a:pPr>
            <a:r>
              <a:rPr lang="en-US" sz="1700" dirty="0">
                <a:solidFill>
                  <a:srgbClr val="E6ECF7"/>
                </a:solidFill>
                <a:latin typeface="Calibri" pitchFamily="34" charset="0"/>
                <a:ea typeface="Calibri" pitchFamily="34" charset="-122"/>
                <a:cs typeface="Calibri" pitchFamily="34" charset="-120"/>
              </a:rPr>
              <a:t>Real, measurable impact</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A44"/>
        </a:solidFill>
      </p:bgPr>
    </p:bg>
    <p:spTree>
      <p:nvGrpSpPr>
        <p:cNvPr id="1" name=""/>
        <p:cNvGrpSpPr/>
        <p:nvPr/>
      </p:nvGrpSpPr>
      <p:grpSpPr>
        <a:xfrm>
          <a:off x="0" y="0"/>
          <a:ext cx="0" cy="0"/>
          <a:chOff x="0" y="0"/>
          <a:chExt cx="0" cy="0"/>
        </a:xfrm>
      </p:grpSpPr>
      <p:sp>
        <p:nvSpPr>
          <p:cNvPr id="2" name="Shape 0"/>
          <p:cNvSpPr/>
          <p:nvPr/>
        </p:nvSpPr>
        <p:spPr>
          <a:xfrm>
            <a:off x="9509760" y="4023360"/>
            <a:ext cx="4023360" cy="4023360"/>
          </a:xfrm>
          <a:prstGeom prst="ellipse">
            <a:avLst/>
          </a:prstGeom>
          <a:solidFill>
            <a:srgbClr val="FF6B4A">
              <a:alpha val="15000"/>
            </a:srgbClr>
          </a:solidFill>
          <a:ln/>
        </p:spPr>
      </p:sp>
      <p:sp>
        <p:nvSpPr>
          <p:cNvPr id="3" name="Text 1"/>
          <p:cNvSpPr/>
          <p:nvPr/>
        </p:nvSpPr>
        <p:spPr>
          <a:xfrm>
            <a:off x="566928" y="256032"/>
            <a:ext cx="10972800" cy="320040"/>
          </a:xfrm>
          <a:prstGeom prst="rect">
            <a:avLst/>
          </a:prstGeom>
          <a:noFill/>
          <a:ln/>
        </p:spPr>
        <p:txBody>
          <a:bodyPr wrap="square" rtlCol="0" anchor="ctr"/>
          <a:lstStyle/>
          <a:p>
            <a:pPr indent="0" marL="0">
              <a:buNone/>
            </a:pPr>
            <a:r>
              <a:rPr lang="en-US" sz="1200" b="1" spc="300" kern="0" dirty="0">
                <a:solidFill>
                  <a:srgbClr val="F4B740"/>
                </a:solidFill>
                <a:latin typeface="Calibri" pitchFamily="34" charset="0"/>
                <a:ea typeface="Calibri" pitchFamily="34" charset="-122"/>
                <a:cs typeface="Calibri" pitchFamily="34" charset="-120"/>
              </a:rPr>
              <a:t>CREATIVE THEME</a:t>
            </a:r>
            <a:endParaRPr lang="en-US" sz="1200" dirty="0"/>
          </a:p>
        </p:txBody>
      </p:sp>
      <p:sp>
        <p:nvSpPr>
          <p:cNvPr id="4" name="Text 2"/>
          <p:cNvSpPr/>
          <p:nvPr/>
        </p:nvSpPr>
        <p:spPr>
          <a:xfrm>
            <a:off x="548640" y="457200"/>
            <a:ext cx="11064240" cy="822960"/>
          </a:xfrm>
          <a:prstGeom prst="rect">
            <a:avLst/>
          </a:prstGeom>
          <a:noFill/>
          <a:ln/>
        </p:spPr>
        <p:txBody>
          <a:bodyPr wrap="square"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The Big Idea: Sole to Soul</a:t>
            </a:r>
            <a:endParaRPr lang="en-US" sz="3400" dirty="0"/>
          </a:p>
        </p:txBody>
      </p:sp>
      <p:sp>
        <p:nvSpPr>
          <p:cNvPr id="5" name="Shape 3"/>
          <p:cNvSpPr/>
          <p:nvPr/>
        </p:nvSpPr>
        <p:spPr>
          <a:xfrm>
            <a:off x="685800" y="1874520"/>
            <a:ext cx="1280160" cy="1280160"/>
          </a:xfrm>
          <a:prstGeom prst="ellipse">
            <a:avLst/>
          </a:prstGeom>
          <a:solidFill>
            <a:srgbClr val="FF6B4A"/>
          </a:solidFill>
          <a:ln/>
        </p:spPr>
      </p:sp>
      <p:pic>
        <p:nvPicPr>
          <p:cNvPr id="6" name="Image 0" descr="preencoded.png">    </p:cNvPr>
          <p:cNvPicPr>
            <a:picLocks noChangeAspect="1"/>
          </p:cNvPicPr>
          <p:nvPr/>
        </p:nvPicPr>
        <p:blipFill>
          <a:blip r:embed="rId1"/>
          <a:stretch>
            <a:fillRect/>
          </a:stretch>
        </p:blipFill>
        <p:spPr>
          <a:xfrm>
            <a:off x="1051560" y="2240280"/>
            <a:ext cx="548640" cy="548640"/>
          </a:xfrm>
          <a:prstGeom prst="rect">
            <a:avLst/>
          </a:prstGeom>
        </p:spPr>
      </p:pic>
      <p:sp>
        <p:nvSpPr>
          <p:cNvPr id="7" name="Text 4"/>
          <p:cNvSpPr/>
          <p:nvPr/>
        </p:nvSpPr>
        <p:spPr>
          <a:xfrm>
            <a:off x="2286000" y="1965960"/>
            <a:ext cx="9144000" cy="1005840"/>
          </a:xfrm>
          <a:prstGeom prst="rect">
            <a:avLst/>
          </a:prstGeom>
          <a:noFill/>
          <a:ln/>
        </p:spPr>
        <p:txBody>
          <a:bodyPr wrap="square" rtlCol="0" anchor="ctr"/>
          <a:lstStyle/>
          <a:p>
            <a:pPr indent="0" marL="0">
              <a:buNone/>
            </a:pPr>
            <a:r>
              <a:rPr lang="en-US" sz="3000" b="1" i="1" dirty="0">
                <a:solidFill>
                  <a:srgbClr val="FF6B4A"/>
                </a:solidFill>
                <a:latin typeface="Cambria" pitchFamily="34" charset="0"/>
                <a:ea typeface="Cambria" pitchFamily="34" charset="-122"/>
                <a:cs typeface="Cambria" pitchFamily="34" charset="-120"/>
              </a:rPr>
              <a:t>“From one sole to another soul.”</a:t>
            </a:r>
            <a:endParaRPr lang="en-US" sz="3000" dirty="0"/>
          </a:p>
        </p:txBody>
      </p:sp>
      <p:sp>
        <p:nvSpPr>
          <p:cNvPr id="8" name="Text 5"/>
          <p:cNvSpPr/>
          <p:nvPr/>
        </p:nvSpPr>
        <p:spPr>
          <a:xfrm>
            <a:off x="777240" y="3383280"/>
            <a:ext cx="10515600" cy="2743200"/>
          </a:xfrm>
          <a:prstGeom prst="rect">
            <a:avLst/>
          </a:prstGeom>
          <a:noFill/>
          <a:ln/>
        </p:spPr>
        <p:txBody>
          <a:bodyPr wrap="square" rtlCol="0" anchor="ctr"/>
          <a:lstStyle/>
          <a:p>
            <a:pPr marL="228600" indent="-228600">
              <a:spcAft>
                <a:spcPts val="1000"/>
              </a:spcAft>
              <a:buSzPct val="100000"/>
              <a:buChar char="•"/>
            </a:pPr>
            <a:r>
              <a:rPr lang="en-US" sz="1900" dirty="0">
                <a:solidFill>
                  <a:srgbClr val="E6ECF7"/>
                </a:solidFill>
                <a:latin typeface="Calibri" pitchFamily="34" charset="0"/>
                <a:ea typeface="Calibri" pitchFamily="34" charset="-122"/>
                <a:cs typeface="Calibri" pitchFamily="34" charset="-120"/>
              </a:rPr>
              <a:t>Shoe's sole meets human soul</a:t>
            </a:r>
            <a:endParaRPr lang="en-US" sz="1900" dirty="0"/>
          </a:p>
          <a:p>
            <a:pPr marL="228600" indent="-228600">
              <a:spcAft>
                <a:spcPts val="1000"/>
              </a:spcAft>
              <a:buSzPct val="100000"/>
              <a:buChar char="•"/>
            </a:pPr>
            <a:r>
              <a:rPr lang="en-US" sz="1900" dirty="0">
                <a:solidFill>
                  <a:srgbClr val="E6ECF7"/>
                </a:solidFill>
                <a:latin typeface="Calibri" pitchFamily="34" charset="0"/>
                <a:ea typeface="Calibri" pitchFamily="34" charset="-122"/>
                <a:cs typeface="Calibri" pitchFamily="34" charset="-120"/>
              </a:rPr>
              <a:t>Reframes giving as restored dignity</a:t>
            </a:r>
            <a:endParaRPr lang="en-US" sz="1900" dirty="0"/>
          </a:p>
          <a:p>
            <a:pPr marL="228600" indent="-228600">
              <a:spcAft>
                <a:spcPts val="1000"/>
              </a:spcAft>
              <a:buSzPct val="100000"/>
              <a:buChar char="•"/>
            </a:pPr>
            <a:r>
              <a:rPr lang="en-US" sz="1900" dirty="0">
                <a:solidFill>
                  <a:srgbClr val="E6ECF7"/>
                </a:solidFill>
                <a:latin typeface="Calibri" pitchFamily="34" charset="0"/>
                <a:ea typeface="Calibri" pitchFamily="34" charset="-122"/>
                <a:cs typeface="Calibri" pitchFamily="34" charset="-120"/>
              </a:rPr>
              <a:t>Inherently visual and story-driven</a:t>
            </a:r>
            <a:endParaRPr lang="en-US" sz="1900" dirty="0"/>
          </a:p>
          <a:p>
            <a:pPr marL="228600" indent="-228600">
              <a:spcAft>
                <a:spcPts val="1000"/>
              </a:spcAft>
              <a:buSzPct val="100000"/>
              <a:buChar char="•"/>
            </a:pPr>
            <a:r>
              <a:rPr lang="en-US" sz="1900" dirty="0">
                <a:solidFill>
                  <a:srgbClr val="E6ECF7"/>
                </a:solidFill>
                <a:latin typeface="Calibri" pitchFamily="34" charset="0"/>
                <a:ea typeface="Calibri" pitchFamily="34" charset="-122"/>
                <a:cs typeface="Calibri" pitchFamily="34" charset="-120"/>
              </a:rPr>
              <a:t>Scales across platforms — no duplicate content</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256032"/>
            <a:ext cx="10972800" cy="320040"/>
          </a:xfrm>
          <a:prstGeom prst="rect">
            <a:avLst/>
          </a:prstGeom>
          <a:noFill/>
          <a:ln/>
        </p:spPr>
        <p:txBody>
          <a:bodyPr wrap="square" rtlCol="0" anchor="ctr"/>
          <a:lstStyle/>
          <a:p>
            <a:pPr indent="0" marL="0">
              <a:buNone/>
            </a:pPr>
            <a:r>
              <a:rPr lang="en-US" sz="1200" b="1" spc="300" kern="0" dirty="0">
                <a:solidFill>
                  <a:srgbClr val="FF6B4A"/>
                </a:solidFill>
                <a:latin typeface="Calibri" pitchFamily="34" charset="0"/>
                <a:ea typeface="Calibri" pitchFamily="34" charset="-122"/>
                <a:cs typeface="Calibri" pitchFamily="34" charset="-120"/>
              </a:rPr>
              <a:t>CAMPAIGN HASHTAG</a:t>
            </a:r>
            <a:endParaRPr lang="en-US" sz="1200" dirty="0"/>
          </a:p>
        </p:txBody>
      </p:sp>
      <p:sp>
        <p:nvSpPr>
          <p:cNvPr id="3" name="Text 1"/>
          <p:cNvSpPr/>
          <p:nvPr/>
        </p:nvSpPr>
        <p:spPr>
          <a:xfrm>
            <a:off x="548640" y="457200"/>
            <a:ext cx="11064240" cy="822960"/>
          </a:xfrm>
          <a:prstGeom prst="rect">
            <a:avLst/>
          </a:prstGeom>
          <a:noFill/>
          <a:ln/>
        </p:spPr>
        <p:txBody>
          <a:bodyPr wrap="square" rtlCol="0" anchor="ctr"/>
          <a:lstStyle/>
          <a:p>
            <a:pPr algn="l" indent="0" marL="0">
              <a:buNone/>
            </a:pPr>
            <a:r>
              <a:rPr lang="en-US" sz="3400" b="1" dirty="0">
                <a:solidFill>
                  <a:srgbClr val="1E2A44"/>
                </a:solidFill>
                <a:latin typeface="Cambria" pitchFamily="34" charset="0"/>
                <a:ea typeface="Cambria" pitchFamily="34" charset="-122"/>
                <a:cs typeface="Cambria" pitchFamily="34" charset="-120"/>
              </a:rPr>
              <a:t>One Rallying Cry</a:t>
            </a:r>
            <a:endParaRPr lang="en-US" sz="3400" dirty="0"/>
          </a:p>
        </p:txBody>
      </p:sp>
      <p:sp>
        <p:nvSpPr>
          <p:cNvPr id="4" name="Shape 2"/>
          <p:cNvSpPr/>
          <p:nvPr/>
        </p:nvSpPr>
        <p:spPr>
          <a:xfrm>
            <a:off x="548640" y="1645920"/>
            <a:ext cx="11091672" cy="1828800"/>
          </a:xfrm>
          <a:prstGeom prst="roundRect">
            <a:avLst>
              <a:gd name="adj" fmla="val 6000"/>
            </a:avLst>
          </a:prstGeom>
          <a:solidFill>
            <a:srgbClr val="1E2A44"/>
          </a:solidFill>
          <a:ln/>
          <a:effectLst>
            <a:outerShdw sx="100000" sy="100000" kx="0" ky="0" algn="bl" rotWithShape="0" blurRad="101600" dist="38100" dir="5400000">
              <a:srgbClr val="9AA6B8">
                <a:alpha val="35000"/>
              </a:srgbClr>
            </a:outerShdw>
          </a:effectLst>
        </p:spPr>
      </p:sp>
      <p:sp>
        <p:nvSpPr>
          <p:cNvPr id="5" name="Shape 3"/>
          <p:cNvSpPr/>
          <p:nvPr/>
        </p:nvSpPr>
        <p:spPr>
          <a:xfrm>
            <a:off x="960120" y="1965960"/>
            <a:ext cx="1188720" cy="1188720"/>
          </a:xfrm>
          <a:prstGeom prst="ellipse">
            <a:avLst/>
          </a:prstGeom>
          <a:solidFill>
            <a:srgbClr val="FF6B4A"/>
          </a:solidFill>
          <a:ln/>
        </p:spPr>
      </p:sp>
      <p:pic>
        <p:nvPicPr>
          <p:cNvPr id="6" name="Image 0" descr="preencoded.png">    </p:cNvPr>
          <p:cNvPicPr>
            <a:picLocks noChangeAspect="1"/>
          </p:cNvPicPr>
          <p:nvPr/>
        </p:nvPicPr>
        <p:blipFill>
          <a:blip r:embed="rId1"/>
          <a:stretch>
            <a:fillRect/>
          </a:stretch>
        </p:blipFill>
        <p:spPr>
          <a:xfrm>
            <a:off x="1289304" y="2295144"/>
            <a:ext cx="530352" cy="530352"/>
          </a:xfrm>
          <a:prstGeom prst="rect">
            <a:avLst/>
          </a:prstGeom>
        </p:spPr>
      </p:pic>
      <p:sp>
        <p:nvSpPr>
          <p:cNvPr id="7" name="Text 4"/>
          <p:cNvSpPr/>
          <p:nvPr/>
        </p:nvSpPr>
        <p:spPr>
          <a:xfrm>
            <a:off x="2468880" y="1965960"/>
            <a:ext cx="9144000" cy="1188720"/>
          </a:xfrm>
          <a:prstGeom prst="rect">
            <a:avLst/>
          </a:prstGeom>
          <a:noFill/>
          <a:ln/>
        </p:spPr>
        <p:txBody>
          <a:bodyPr wrap="square"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#SoleToSoulRVA</a:t>
            </a:r>
            <a:endParaRPr lang="en-US" sz="5200" dirty="0"/>
          </a:p>
        </p:txBody>
      </p:sp>
      <p:sp>
        <p:nvSpPr>
          <p:cNvPr id="8" name="Shape 5"/>
          <p:cNvSpPr/>
          <p:nvPr/>
        </p:nvSpPr>
        <p:spPr>
          <a:xfrm>
            <a:off x="548640" y="3794760"/>
            <a:ext cx="2615184" cy="2331720"/>
          </a:xfrm>
          <a:prstGeom prst="roundRect">
            <a:avLst>
              <a:gd name="adj" fmla="val 4706"/>
            </a:avLst>
          </a:prstGeom>
          <a:solidFill>
            <a:srgbClr val="F3F6FB"/>
          </a:solidFill>
          <a:ln/>
          <a:effectLst>
            <a:outerShdw sx="100000" sy="100000" kx="0" ky="0" algn="bl" rotWithShape="0" blurRad="101600" dist="38100" dir="5400000">
              <a:srgbClr val="9AA6B8">
                <a:alpha val="35000"/>
              </a:srgbClr>
            </a:outerShdw>
          </a:effectLst>
        </p:spPr>
      </p:sp>
      <p:sp>
        <p:nvSpPr>
          <p:cNvPr id="9" name="Shape 6"/>
          <p:cNvSpPr/>
          <p:nvPr/>
        </p:nvSpPr>
        <p:spPr>
          <a:xfrm>
            <a:off x="1371600" y="4069080"/>
            <a:ext cx="960120" cy="960120"/>
          </a:xfrm>
          <a:prstGeom prst="ellipse">
            <a:avLst/>
          </a:prstGeom>
          <a:solidFill>
            <a:srgbClr val="FF6B4A"/>
          </a:solidFill>
          <a:ln/>
        </p:spPr>
      </p:sp>
      <p:pic>
        <p:nvPicPr>
          <p:cNvPr id="10" name="Image 1" descr="preencoded.png">    </p:cNvPr>
          <p:cNvPicPr>
            <a:picLocks noChangeAspect="1"/>
          </p:cNvPicPr>
          <p:nvPr/>
        </p:nvPicPr>
        <p:blipFill>
          <a:blip r:embed="rId2"/>
          <a:stretch>
            <a:fillRect/>
          </a:stretch>
        </p:blipFill>
        <p:spPr>
          <a:xfrm>
            <a:off x="1627632" y="4325112"/>
            <a:ext cx="448056" cy="448056"/>
          </a:xfrm>
          <a:prstGeom prst="rect">
            <a:avLst/>
          </a:prstGeom>
        </p:spPr>
      </p:pic>
      <p:sp>
        <p:nvSpPr>
          <p:cNvPr id="11" name="Text 7"/>
          <p:cNvSpPr/>
          <p:nvPr/>
        </p:nvSpPr>
        <p:spPr>
          <a:xfrm>
            <a:off x="731520" y="5120640"/>
            <a:ext cx="2249424" cy="868680"/>
          </a:xfrm>
          <a:prstGeom prst="rect">
            <a:avLst/>
          </a:prstGeom>
          <a:noFill/>
          <a:ln/>
        </p:spPr>
        <p:txBody>
          <a:bodyPr wrap="square" rtlCol="0" anchor="t"/>
          <a:lstStyle/>
          <a:p>
            <a:pPr algn="ctr" indent="0" marL="0">
              <a:buNone/>
            </a:pPr>
            <a:r>
              <a:rPr lang="en-US" sz="1500" b="1" dirty="0">
                <a:solidFill>
                  <a:srgbClr val="24303F"/>
                </a:solidFill>
                <a:latin typeface="Calibri" pitchFamily="34" charset="0"/>
                <a:ea typeface="Calibri" pitchFamily="34" charset="-122"/>
                <a:cs typeface="Calibri" pitchFamily="34" charset="-120"/>
              </a:rPr>
              <a:t>Original to this campaign</a:t>
            </a:r>
            <a:endParaRPr lang="en-US" sz="1500" dirty="0"/>
          </a:p>
        </p:txBody>
      </p:sp>
      <p:sp>
        <p:nvSpPr>
          <p:cNvPr id="12" name="Shape 8"/>
          <p:cNvSpPr/>
          <p:nvPr/>
        </p:nvSpPr>
        <p:spPr>
          <a:xfrm>
            <a:off x="3328416" y="3794760"/>
            <a:ext cx="2615184" cy="2331720"/>
          </a:xfrm>
          <a:prstGeom prst="roundRect">
            <a:avLst>
              <a:gd name="adj" fmla="val 4706"/>
            </a:avLst>
          </a:prstGeom>
          <a:solidFill>
            <a:srgbClr val="F3F6FB"/>
          </a:solidFill>
          <a:ln/>
          <a:effectLst>
            <a:outerShdw sx="100000" sy="100000" kx="0" ky="0" algn="bl" rotWithShape="0" blurRad="101600" dist="38100" dir="5400000">
              <a:srgbClr val="9AA6B8">
                <a:alpha val="35000"/>
              </a:srgbClr>
            </a:outerShdw>
          </a:effectLst>
        </p:spPr>
      </p:sp>
      <p:sp>
        <p:nvSpPr>
          <p:cNvPr id="13" name="Shape 9"/>
          <p:cNvSpPr/>
          <p:nvPr/>
        </p:nvSpPr>
        <p:spPr>
          <a:xfrm>
            <a:off x="4151376" y="4069080"/>
            <a:ext cx="960120" cy="960120"/>
          </a:xfrm>
          <a:prstGeom prst="ellipse">
            <a:avLst/>
          </a:prstGeom>
          <a:solidFill>
            <a:srgbClr val="FF6B4A"/>
          </a:solidFill>
          <a:ln/>
        </p:spPr>
      </p:sp>
      <p:pic>
        <p:nvPicPr>
          <p:cNvPr id="14" name="Image 2" descr="preencoded.png">    </p:cNvPr>
          <p:cNvPicPr>
            <a:picLocks noChangeAspect="1"/>
          </p:cNvPicPr>
          <p:nvPr/>
        </p:nvPicPr>
        <p:blipFill>
          <a:blip r:embed="rId3"/>
          <a:stretch>
            <a:fillRect/>
          </a:stretch>
        </p:blipFill>
        <p:spPr>
          <a:xfrm>
            <a:off x="4407408" y="4325112"/>
            <a:ext cx="448056" cy="448056"/>
          </a:xfrm>
          <a:prstGeom prst="rect">
            <a:avLst/>
          </a:prstGeom>
        </p:spPr>
      </p:pic>
      <p:sp>
        <p:nvSpPr>
          <p:cNvPr id="15" name="Text 10"/>
          <p:cNvSpPr/>
          <p:nvPr/>
        </p:nvSpPr>
        <p:spPr>
          <a:xfrm>
            <a:off x="3511296" y="5120640"/>
            <a:ext cx="2249424" cy="868680"/>
          </a:xfrm>
          <a:prstGeom prst="rect">
            <a:avLst/>
          </a:prstGeom>
          <a:noFill/>
          <a:ln/>
        </p:spPr>
        <p:txBody>
          <a:bodyPr wrap="square" rtlCol="0" anchor="t"/>
          <a:lstStyle/>
          <a:p>
            <a:pPr algn="ctr" indent="0" marL="0">
              <a:buNone/>
            </a:pPr>
            <a:r>
              <a:rPr lang="en-US" sz="1500" b="1" dirty="0">
                <a:solidFill>
                  <a:srgbClr val="24303F"/>
                </a:solidFill>
                <a:latin typeface="Calibri" pitchFamily="34" charset="0"/>
                <a:ea typeface="Calibri" pitchFamily="34" charset="-122"/>
                <a:cs typeface="Calibri" pitchFamily="34" charset="-120"/>
              </a:rPr>
              <a:t>Links soles to souls</a:t>
            </a:r>
            <a:endParaRPr lang="en-US" sz="1500" dirty="0"/>
          </a:p>
        </p:txBody>
      </p:sp>
      <p:sp>
        <p:nvSpPr>
          <p:cNvPr id="16" name="Shape 11"/>
          <p:cNvSpPr/>
          <p:nvPr/>
        </p:nvSpPr>
        <p:spPr>
          <a:xfrm>
            <a:off x="6108192" y="3794760"/>
            <a:ext cx="2615184" cy="2331720"/>
          </a:xfrm>
          <a:prstGeom prst="roundRect">
            <a:avLst>
              <a:gd name="adj" fmla="val 4706"/>
            </a:avLst>
          </a:prstGeom>
          <a:solidFill>
            <a:srgbClr val="F3F6FB"/>
          </a:solidFill>
          <a:ln/>
          <a:effectLst>
            <a:outerShdw sx="100000" sy="100000" kx="0" ky="0" algn="bl" rotWithShape="0" blurRad="101600" dist="38100" dir="5400000">
              <a:srgbClr val="9AA6B8">
                <a:alpha val="35000"/>
              </a:srgbClr>
            </a:outerShdw>
          </a:effectLst>
        </p:spPr>
      </p:sp>
      <p:sp>
        <p:nvSpPr>
          <p:cNvPr id="17" name="Shape 12"/>
          <p:cNvSpPr/>
          <p:nvPr/>
        </p:nvSpPr>
        <p:spPr>
          <a:xfrm>
            <a:off x="6931152" y="4069080"/>
            <a:ext cx="960120" cy="960120"/>
          </a:xfrm>
          <a:prstGeom prst="ellipse">
            <a:avLst/>
          </a:prstGeom>
          <a:solidFill>
            <a:srgbClr val="FF6B4A"/>
          </a:solidFill>
          <a:ln/>
        </p:spPr>
      </p:sp>
      <p:pic>
        <p:nvPicPr>
          <p:cNvPr id="18" name="Image 3" descr="preencoded.png">    </p:cNvPr>
          <p:cNvPicPr>
            <a:picLocks noChangeAspect="1"/>
          </p:cNvPicPr>
          <p:nvPr/>
        </p:nvPicPr>
        <p:blipFill>
          <a:blip r:embed="rId4"/>
          <a:stretch>
            <a:fillRect/>
          </a:stretch>
        </p:blipFill>
        <p:spPr>
          <a:xfrm>
            <a:off x="7187184" y="4325112"/>
            <a:ext cx="448056" cy="448056"/>
          </a:xfrm>
          <a:prstGeom prst="rect">
            <a:avLst/>
          </a:prstGeom>
        </p:spPr>
      </p:pic>
      <p:sp>
        <p:nvSpPr>
          <p:cNvPr id="19" name="Text 13"/>
          <p:cNvSpPr/>
          <p:nvPr/>
        </p:nvSpPr>
        <p:spPr>
          <a:xfrm>
            <a:off x="6291072" y="5120640"/>
            <a:ext cx="2249424" cy="868680"/>
          </a:xfrm>
          <a:prstGeom prst="rect">
            <a:avLst/>
          </a:prstGeom>
          <a:noFill/>
          <a:ln/>
        </p:spPr>
        <p:txBody>
          <a:bodyPr wrap="square" rtlCol="0" anchor="t"/>
          <a:lstStyle/>
          <a:p>
            <a:pPr algn="ctr" indent="0" marL="0">
              <a:buNone/>
            </a:pPr>
            <a:r>
              <a:rPr lang="en-US" sz="1500" b="1" dirty="0">
                <a:solidFill>
                  <a:srgbClr val="24303F"/>
                </a:solidFill>
                <a:latin typeface="Calibri" pitchFamily="34" charset="0"/>
                <a:ea typeface="Calibri" pitchFamily="34" charset="-122"/>
                <a:cs typeface="Calibri" pitchFamily="34" charset="-120"/>
              </a:rPr>
              <a:t>Roots it in Richmond</a:t>
            </a:r>
            <a:endParaRPr lang="en-US" sz="1500" dirty="0"/>
          </a:p>
        </p:txBody>
      </p:sp>
      <p:sp>
        <p:nvSpPr>
          <p:cNvPr id="20" name="Shape 14"/>
          <p:cNvSpPr/>
          <p:nvPr/>
        </p:nvSpPr>
        <p:spPr>
          <a:xfrm>
            <a:off x="8887968" y="3794760"/>
            <a:ext cx="2615184" cy="2331720"/>
          </a:xfrm>
          <a:prstGeom prst="roundRect">
            <a:avLst>
              <a:gd name="adj" fmla="val 4706"/>
            </a:avLst>
          </a:prstGeom>
          <a:solidFill>
            <a:srgbClr val="F3F6FB"/>
          </a:solidFill>
          <a:ln/>
          <a:effectLst>
            <a:outerShdw sx="100000" sy="100000" kx="0" ky="0" algn="bl" rotWithShape="0" blurRad="101600" dist="38100" dir="5400000">
              <a:srgbClr val="9AA6B8">
                <a:alpha val="35000"/>
              </a:srgbClr>
            </a:outerShdw>
          </a:effectLst>
        </p:spPr>
      </p:sp>
      <p:sp>
        <p:nvSpPr>
          <p:cNvPr id="21" name="Shape 15"/>
          <p:cNvSpPr/>
          <p:nvPr/>
        </p:nvSpPr>
        <p:spPr>
          <a:xfrm>
            <a:off x="9710928" y="4069080"/>
            <a:ext cx="960120" cy="960120"/>
          </a:xfrm>
          <a:prstGeom prst="ellipse">
            <a:avLst/>
          </a:prstGeom>
          <a:solidFill>
            <a:srgbClr val="FF6B4A"/>
          </a:solidFill>
          <a:ln/>
        </p:spPr>
      </p:sp>
      <p:pic>
        <p:nvPicPr>
          <p:cNvPr id="22" name="Image 4" descr="preencoded.png">    </p:cNvPr>
          <p:cNvPicPr>
            <a:picLocks noChangeAspect="1"/>
          </p:cNvPicPr>
          <p:nvPr/>
        </p:nvPicPr>
        <p:blipFill>
          <a:blip r:embed="rId5"/>
          <a:stretch>
            <a:fillRect/>
          </a:stretch>
        </p:blipFill>
        <p:spPr>
          <a:xfrm>
            <a:off x="9966960" y="4325112"/>
            <a:ext cx="448056" cy="448056"/>
          </a:xfrm>
          <a:prstGeom prst="rect">
            <a:avLst/>
          </a:prstGeom>
        </p:spPr>
      </p:pic>
      <p:sp>
        <p:nvSpPr>
          <p:cNvPr id="23" name="Text 16"/>
          <p:cNvSpPr/>
          <p:nvPr/>
        </p:nvSpPr>
        <p:spPr>
          <a:xfrm>
            <a:off x="9070848" y="5120640"/>
            <a:ext cx="2249424" cy="868680"/>
          </a:xfrm>
          <a:prstGeom prst="rect">
            <a:avLst/>
          </a:prstGeom>
          <a:noFill/>
          <a:ln/>
        </p:spPr>
        <p:txBody>
          <a:bodyPr wrap="square" rtlCol="0" anchor="t"/>
          <a:lstStyle/>
          <a:p>
            <a:pPr algn="ctr" indent="0" marL="0">
              <a:buNone/>
            </a:pPr>
            <a:r>
              <a:rPr lang="en-US" sz="1500" b="1" dirty="0">
                <a:solidFill>
                  <a:srgbClr val="24303F"/>
                </a:solidFill>
                <a:latin typeface="Calibri" pitchFamily="34" charset="0"/>
                <a:ea typeface="Calibri" pitchFamily="34" charset="-122"/>
                <a:cs typeface="Calibri" pitchFamily="34" charset="-120"/>
              </a:rPr>
              <a:t>Short, searchable, shareable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256032"/>
            <a:ext cx="10972800" cy="320040"/>
          </a:xfrm>
          <a:prstGeom prst="rect">
            <a:avLst/>
          </a:prstGeom>
          <a:noFill/>
          <a:ln/>
        </p:spPr>
        <p:txBody>
          <a:bodyPr wrap="square" rtlCol="0" anchor="ctr"/>
          <a:lstStyle/>
          <a:p>
            <a:pPr indent="0" marL="0">
              <a:buNone/>
            </a:pPr>
            <a:r>
              <a:rPr lang="en-US" sz="1200" b="1" spc="300" kern="0" dirty="0">
                <a:solidFill>
                  <a:srgbClr val="FF6B4A"/>
                </a:solidFill>
                <a:latin typeface="Calibri" pitchFamily="34" charset="0"/>
                <a:ea typeface="Calibri" pitchFamily="34" charset="-122"/>
                <a:cs typeface="Calibri" pitchFamily="34" charset="-120"/>
              </a:rPr>
              <a:t>DIGITAL MEDIA</a:t>
            </a:r>
            <a:endParaRPr lang="en-US" sz="1200" dirty="0"/>
          </a:p>
        </p:txBody>
      </p:sp>
      <p:sp>
        <p:nvSpPr>
          <p:cNvPr id="3" name="Text 1"/>
          <p:cNvSpPr/>
          <p:nvPr/>
        </p:nvSpPr>
        <p:spPr>
          <a:xfrm>
            <a:off x="548640" y="457200"/>
            <a:ext cx="11064240" cy="822960"/>
          </a:xfrm>
          <a:prstGeom prst="rect">
            <a:avLst/>
          </a:prstGeom>
          <a:noFill/>
          <a:ln/>
        </p:spPr>
        <p:txBody>
          <a:bodyPr wrap="square" rtlCol="0" anchor="ctr"/>
          <a:lstStyle/>
          <a:p>
            <a:pPr algn="l" indent="0" marL="0">
              <a:buNone/>
            </a:pPr>
            <a:r>
              <a:rPr lang="en-US" sz="3400" b="1" dirty="0">
                <a:solidFill>
                  <a:srgbClr val="1E2A44"/>
                </a:solidFill>
                <a:latin typeface="Cambria" pitchFamily="34" charset="0"/>
                <a:ea typeface="Cambria" pitchFamily="34" charset="-122"/>
                <a:cs typeface="Cambria" pitchFamily="34" charset="-120"/>
              </a:rPr>
              <a:t>Five Channels, One Story</a:t>
            </a:r>
            <a:endParaRPr lang="en-US" sz="3400" dirty="0"/>
          </a:p>
        </p:txBody>
      </p:sp>
      <p:sp>
        <p:nvSpPr>
          <p:cNvPr id="4" name="Shape 2"/>
          <p:cNvSpPr/>
          <p:nvPr/>
        </p:nvSpPr>
        <p:spPr>
          <a:xfrm>
            <a:off x="548640" y="1645920"/>
            <a:ext cx="3429000" cy="2148840"/>
          </a:xfrm>
          <a:prstGeom prst="roundRect">
            <a:avLst>
              <a:gd name="adj" fmla="val 5106"/>
            </a:avLst>
          </a:prstGeom>
          <a:solidFill>
            <a:srgbClr val="F3F6FB"/>
          </a:solidFill>
          <a:ln/>
          <a:effectLst>
            <a:outerShdw sx="100000" sy="100000" kx="0" ky="0" algn="bl" rotWithShape="0" blurRad="101600" dist="38100" dir="5400000">
              <a:srgbClr val="9AA6B8">
                <a:alpha val="35000"/>
              </a:srgbClr>
            </a:outerShdw>
          </a:effectLst>
        </p:spPr>
      </p:sp>
      <p:sp>
        <p:nvSpPr>
          <p:cNvPr id="5" name="Shape 3"/>
          <p:cNvSpPr/>
          <p:nvPr/>
        </p:nvSpPr>
        <p:spPr>
          <a:xfrm>
            <a:off x="841248" y="1938528"/>
            <a:ext cx="914400" cy="914400"/>
          </a:xfrm>
          <a:prstGeom prst="ellipse">
            <a:avLst/>
          </a:prstGeom>
          <a:solidFill>
            <a:srgbClr val="FF6B4A"/>
          </a:solidFill>
          <a:ln/>
        </p:spPr>
      </p:sp>
      <p:pic>
        <p:nvPicPr>
          <p:cNvPr id="6" name="Image 0" descr="preencoded.png">    </p:cNvPr>
          <p:cNvPicPr>
            <a:picLocks noChangeAspect="1"/>
          </p:cNvPicPr>
          <p:nvPr/>
        </p:nvPicPr>
        <p:blipFill>
          <a:blip r:embed="rId1"/>
          <a:stretch>
            <a:fillRect/>
          </a:stretch>
        </p:blipFill>
        <p:spPr>
          <a:xfrm>
            <a:off x="1088136" y="2185416"/>
            <a:ext cx="420624" cy="420624"/>
          </a:xfrm>
          <a:prstGeom prst="rect">
            <a:avLst/>
          </a:prstGeom>
        </p:spPr>
      </p:pic>
      <p:sp>
        <p:nvSpPr>
          <p:cNvPr id="7" name="Text 4"/>
          <p:cNvSpPr/>
          <p:nvPr/>
        </p:nvSpPr>
        <p:spPr>
          <a:xfrm>
            <a:off x="1874520" y="2029968"/>
            <a:ext cx="2011680" cy="685800"/>
          </a:xfrm>
          <a:prstGeom prst="rect">
            <a:avLst/>
          </a:prstGeom>
          <a:noFill/>
          <a:ln/>
        </p:spPr>
        <p:txBody>
          <a:bodyPr wrap="square" rtlCol="0" anchor="ctr"/>
          <a:lstStyle/>
          <a:p>
            <a:pPr indent="0" marL="0">
              <a:buNone/>
            </a:pPr>
            <a:r>
              <a:rPr lang="en-US" sz="1900" b="1" dirty="0">
                <a:solidFill>
                  <a:srgbClr val="1E2A44"/>
                </a:solidFill>
                <a:latin typeface="Cambria" pitchFamily="34" charset="0"/>
                <a:ea typeface="Cambria" pitchFamily="34" charset="-122"/>
                <a:cs typeface="Cambria" pitchFamily="34" charset="-120"/>
              </a:rPr>
              <a:t>Instagram</a:t>
            </a:r>
            <a:endParaRPr lang="en-US" sz="1900" dirty="0"/>
          </a:p>
        </p:txBody>
      </p:sp>
      <p:sp>
        <p:nvSpPr>
          <p:cNvPr id="8" name="Text 5"/>
          <p:cNvSpPr/>
          <p:nvPr/>
        </p:nvSpPr>
        <p:spPr>
          <a:xfrm>
            <a:off x="822960" y="2971800"/>
            <a:ext cx="2880360" cy="685800"/>
          </a:xfrm>
          <a:prstGeom prst="rect">
            <a:avLst/>
          </a:prstGeom>
          <a:noFill/>
          <a:ln/>
        </p:spPr>
        <p:txBody>
          <a:bodyPr wrap="square" rtlCol="0" anchor="ctr"/>
          <a:lstStyle/>
          <a:p>
            <a:pPr indent="0" marL="0">
              <a:buNone/>
            </a:pPr>
            <a:r>
              <a:rPr lang="en-US" sz="1500" dirty="0">
                <a:solidFill>
                  <a:srgbClr val="6B7688"/>
                </a:solidFill>
                <a:latin typeface="Calibri" pitchFamily="34" charset="0"/>
                <a:ea typeface="Calibri" pitchFamily="34" charset="-122"/>
                <a:cs typeface="Calibri" pitchFamily="34" charset="-120"/>
              </a:rPr>
              <a:t>Visual heart of the campaign</a:t>
            </a:r>
            <a:endParaRPr lang="en-US" sz="1500" dirty="0"/>
          </a:p>
        </p:txBody>
      </p:sp>
      <p:sp>
        <p:nvSpPr>
          <p:cNvPr id="9" name="Shape 6"/>
          <p:cNvSpPr/>
          <p:nvPr/>
        </p:nvSpPr>
        <p:spPr>
          <a:xfrm>
            <a:off x="4224528" y="1645920"/>
            <a:ext cx="3429000" cy="2148840"/>
          </a:xfrm>
          <a:prstGeom prst="roundRect">
            <a:avLst>
              <a:gd name="adj" fmla="val 5106"/>
            </a:avLst>
          </a:prstGeom>
          <a:solidFill>
            <a:srgbClr val="F3F6FB"/>
          </a:solidFill>
          <a:ln/>
          <a:effectLst>
            <a:outerShdw sx="100000" sy="100000" kx="0" ky="0" algn="bl" rotWithShape="0" blurRad="101600" dist="38100" dir="5400000">
              <a:srgbClr val="9AA6B8">
                <a:alpha val="35000"/>
              </a:srgbClr>
            </a:outerShdw>
          </a:effectLst>
        </p:spPr>
      </p:sp>
      <p:sp>
        <p:nvSpPr>
          <p:cNvPr id="10" name="Shape 7"/>
          <p:cNvSpPr/>
          <p:nvPr/>
        </p:nvSpPr>
        <p:spPr>
          <a:xfrm>
            <a:off x="4517136" y="1938528"/>
            <a:ext cx="914400" cy="914400"/>
          </a:xfrm>
          <a:prstGeom prst="ellipse">
            <a:avLst/>
          </a:prstGeom>
          <a:solidFill>
            <a:srgbClr val="FF6B4A"/>
          </a:solidFill>
          <a:ln/>
        </p:spPr>
      </p:sp>
      <p:pic>
        <p:nvPicPr>
          <p:cNvPr id="11" name="Image 1" descr="preencoded.png">    </p:cNvPr>
          <p:cNvPicPr>
            <a:picLocks noChangeAspect="1"/>
          </p:cNvPicPr>
          <p:nvPr/>
        </p:nvPicPr>
        <p:blipFill>
          <a:blip r:embed="rId2"/>
          <a:stretch>
            <a:fillRect/>
          </a:stretch>
        </p:blipFill>
        <p:spPr>
          <a:xfrm>
            <a:off x="4764024" y="2185416"/>
            <a:ext cx="420624" cy="420624"/>
          </a:xfrm>
          <a:prstGeom prst="rect">
            <a:avLst/>
          </a:prstGeom>
        </p:spPr>
      </p:pic>
      <p:sp>
        <p:nvSpPr>
          <p:cNvPr id="12" name="Text 8"/>
          <p:cNvSpPr/>
          <p:nvPr/>
        </p:nvSpPr>
        <p:spPr>
          <a:xfrm>
            <a:off x="5550408" y="2029968"/>
            <a:ext cx="2011680" cy="685800"/>
          </a:xfrm>
          <a:prstGeom prst="rect">
            <a:avLst/>
          </a:prstGeom>
          <a:noFill/>
          <a:ln/>
        </p:spPr>
        <p:txBody>
          <a:bodyPr wrap="square" rtlCol="0" anchor="ctr"/>
          <a:lstStyle/>
          <a:p>
            <a:pPr indent="0" marL="0">
              <a:buNone/>
            </a:pPr>
            <a:r>
              <a:rPr lang="en-US" sz="1900" b="1" dirty="0">
                <a:solidFill>
                  <a:srgbClr val="1E2A44"/>
                </a:solidFill>
                <a:latin typeface="Cambria" pitchFamily="34" charset="0"/>
                <a:ea typeface="Cambria" pitchFamily="34" charset="-122"/>
                <a:cs typeface="Cambria" pitchFamily="34" charset="-120"/>
              </a:rPr>
              <a:t>TikTok</a:t>
            </a:r>
            <a:endParaRPr lang="en-US" sz="1900" dirty="0"/>
          </a:p>
        </p:txBody>
      </p:sp>
      <p:sp>
        <p:nvSpPr>
          <p:cNvPr id="13" name="Text 9"/>
          <p:cNvSpPr/>
          <p:nvPr/>
        </p:nvSpPr>
        <p:spPr>
          <a:xfrm>
            <a:off x="4498848" y="2971800"/>
            <a:ext cx="2880360" cy="685800"/>
          </a:xfrm>
          <a:prstGeom prst="rect">
            <a:avLst/>
          </a:prstGeom>
          <a:noFill/>
          <a:ln/>
        </p:spPr>
        <p:txBody>
          <a:bodyPr wrap="square" rtlCol="0" anchor="ctr"/>
          <a:lstStyle/>
          <a:p>
            <a:pPr indent="0" marL="0">
              <a:buNone/>
            </a:pPr>
            <a:r>
              <a:rPr lang="en-US" sz="1500" dirty="0">
                <a:solidFill>
                  <a:srgbClr val="6B7688"/>
                </a:solidFill>
                <a:latin typeface="Calibri" pitchFamily="34" charset="0"/>
                <a:ea typeface="Calibri" pitchFamily="34" charset="-122"/>
                <a:cs typeface="Calibri" pitchFamily="34" charset="-120"/>
              </a:rPr>
              <a:t>Reach &amp; discovery engine</a:t>
            </a:r>
            <a:endParaRPr lang="en-US" sz="1500" dirty="0"/>
          </a:p>
        </p:txBody>
      </p:sp>
      <p:sp>
        <p:nvSpPr>
          <p:cNvPr id="14" name="Shape 10"/>
          <p:cNvSpPr/>
          <p:nvPr/>
        </p:nvSpPr>
        <p:spPr>
          <a:xfrm>
            <a:off x="7900416" y="1645920"/>
            <a:ext cx="3429000" cy="2148840"/>
          </a:xfrm>
          <a:prstGeom prst="roundRect">
            <a:avLst>
              <a:gd name="adj" fmla="val 5106"/>
            </a:avLst>
          </a:prstGeom>
          <a:solidFill>
            <a:srgbClr val="F3F6FB"/>
          </a:solidFill>
          <a:ln/>
          <a:effectLst>
            <a:outerShdw sx="100000" sy="100000" kx="0" ky="0" algn="bl" rotWithShape="0" blurRad="101600" dist="38100" dir="5400000">
              <a:srgbClr val="9AA6B8">
                <a:alpha val="35000"/>
              </a:srgbClr>
            </a:outerShdw>
          </a:effectLst>
        </p:spPr>
      </p:sp>
      <p:sp>
        <p:nvSpPr>
          <p:cNvPr id="15" name="Shape 11"/>
          <p:cNvSpPr/>
          <p:nvPr/>
        </p:nvSpPr>
        <p:spPr>
          <a:xfrm>
            <a:off x="8193024" y="1938528"/>
            <a:ext cx="914400" cy="914400"/>
          </a:xfrm>
          <a:prstGeom prst="ellipse">
            <a:avLst/>
          </a:prstGeom>
          <a:solidFill>
            <a:srgbClr val="FF6B4A"/>
          </a:solidFill>
          <a:ln/>
        </p:spPr>
      </p:sp>
      <p:pic>
        <p:nvPicPr>
          <p:cNvPr id="16" name="Image 2" descr="preencoded.png">    </p:cNvPr>
          <p:cNvPicPr>
            <a:picLocks noChangeAspect="1"/>
          </p:cNvPicPr>
          <p:nvPr/>
        </p:nvPicPr>
        <p:blipFill>
          <a:blip r:embed="rId3"/>
          <a:stretch>
            <a:fillRect/>
          </a:stretch>
        </p:blipFill>
        <p:spPr>
          <a:xfrm>
            <a:off x="8439912" y="2185416"/>
            <a:ext cx="420624" cy="420624"/>
          </a:xfrm>
          <a:prstGeom prst="rect">
            <a:avLst/>
          </a:prstGeom>
        </p:spPr>
      </p:pic>
      <p:sp>
        <p:nvSpPr>
          <p:cNvPr id="17" name="Text 12"/>
          <p:cNvSpPr/>
          <p:nvPr/>
        </p:nvSpPr>
        <p:spPr>
          <a:xfrm>
            <a:off x="9226296" y="2029968"/>
            <a:ext cx="2011680" cy="685800"/>
          </a:xfrm>
          <a:prstGeom prst="rect">
            <a:avLst/>
          </a:prstGeom>
          <a:noFill/>
          <a:ln/>
        </p:spPr>
        <p:txBody>
          <a:bodyPr wrap="square" rtlCol="0" anchor="ctr"/>
          <a:lstStyle/>
          <a:p>
            <a:pPr indent="0" marL="0">
              <a:buNone/>
            </a:pPr>
            <a:r>
              <a:rPr lang="en-US" sz="1900" b="1" dirty="0">
                <a:solidFill>
                  <a:srgbClr val="1E2A44"/>
                </a:solidFill>
                <a:latin typeface="Cambria" pitchFamily="34" charset="0"/>
                <a:ea typeface="Cambria" pitchFamily="34" charset="-122"/>
                <a:cs typeface="Cambria" pitchFamily="34" charset="-120"/>
              </a:rPr>
              <a:t>Facebook</a:t>
            </a:r>
            <a:endParaRPr lang="en-US" sz="1900" dirty="0"/>
          </a:p>
        </p:txBody>
      </p:sp>
      <p:sp>
        <p:nvSpPr>
          <p:cNvPr id="18" name="Text 13"/>
          <p:cNvSpPr/>
          <p:nvPr/>
        </p:nvSpPr>
        <p:spPr>
          <a:xfrm>
            <a:off x="8174736" y="2971800"/>
            <a:ext cx="2880360" cy="685800"/>
          </a:xfrm>
          <a:prstGeom prst="rect">
            <a:avLst/>
          </a:prstGeom>
          <a:noFill/>
          <a:ln/>
        </p:spPr>
        <p:txBody>
          <a:bodyPr wrap="square" rtlCol="0" anchor="ctr"/>
          <a:lstStyle/>
          <a:p>
            <a:pPr indent="0" marL="0">
              <a:buNone/>
            </a:pPr>
            <a:r>
              <a:rPr lang="en-US" sz="1500" dirty="0">
                <a:solidFill>
                  <a:srgbClr val="6B7688"/>
                </a:solidFill>
                <a:latin typeface="Calibri" pitchFamily="34" charset="0"/>
                <a:ea typeface="Calibri" pitchFamily="34" charset="-122"/>
                <a:cs typeface="Calibri" pitchFamily="34" charset="-120"/>
              </a:rPr>
              <a:t>Community drives &amp; events</a:t>
            </a:r>
            <a:endParaRPr lang="en-US" sz="1500" dirty="0"/>
          </a:p>
        </p:txBody>
      </p:sp>
      <p:sp>
        <p:nvSpPr>
          <p:cNvPr id="19" name="Shape 14"/>
          <p:cNvSpPr/>
          <p:nvPr/>
        </p:nvSpPr>
        <p:spPr>
          <a:xfrm>
            <a:off x="2386584" y="3977640"/>
            <a:ext cx="3429000" cy="2148840"/>
          </a:xfrm>
          <a:prstGeom prst="roundRect">
            <a:avLst>
              <a:gd name="adj" fmla="val 5106"/>
            </a:avLst>
          </a:prstGeom>
          <a:solidFill>
            <a:srgbClr val="F3F6FB"/>
          </a:solidFill>
          <a:ln/>
          <a:effectLst>
            <a:outerShdw sx="100000" sy="100000" kx="0" ky="0" algn="bl" rotWithShape="0" blurRad="101600" dist="38100" dir="5400000">
              <a:srgbClr val="9AA6B8">
                <a:alpha val="35000"/>
              </a:srgbClr>
            </a:outerShdw>
          </a:effectLst>
        </p:spPr>
      </p:sp>
      <p:sp>
        <p:nvSpPr>
          <p:cNvPr id="20" name="Shape 15"/>
          <p:cNvSpPr/>
          <p:nvPr/>
        </p:nvSpPr>
        <p:spPr>
          <a:xfrm>
            <a:off x="2679192" y="4270248"/>
            <a:ext cx="914400" cy="914400"/>
          </a:xfrm>
          <a:prstGeom prst="ellipse">
            <a:avLst/>
          </a:prstGeom>
          <a:solidFill>
            <a:srgbClr val="FF6B4A"/>
          </a:solidFill>
          <a:ln/>
        </p:spPr>
      </p:sp>
      <p:pic>
        <p:nvPicPr>
          <p:cNvPr id="21" name="Image 3" descr="preencoded.png">    </p:cNvPr>
          <p:cNvPicPr>
            <a:picLocks noChangeAspect="1"/>
          </p:cNvPicPr>
          <p:nvPr/>
        </p:nvPicPr>
        <p:blipFill>
          <a:blip r:embed="rId4"/>
          <a:stretch>
            <a:fillRect/>
          </a:stretch>
        </p:blipFill>
        <p:spPr>
          <a:xfrm>
            <a:off x="2926080" y="4517136"/>
            <a:ext cx="420624" cy="420624"/>
          </a:xfrm>
          <a:prstGeom prst="rect">
            <a:avLst/>
          </a:prstGeom>
        </p:spPr>
      </p:pic>
      <p:sp>
        <p:nvSpPr>
          <p:cNvPr id="22" name="Text 16"/>
          <p:cNvSpPr/>
          <p:nvPr/>
        </p:nvSpPr>
        <p:spPr>
          <a:xfrm>
            <a:off x="3712464" y="4361688"/>
            <a:ext cx="2011680" cy="685800"/>
          </a:xfrm>
          <a:prstGeom prst="rect">
            <a:avLst/>
          </a:prstGeom>
          <a:noFill/>
          <a:ln/>
        </p:spPr>
        <p:txBody>
          <a:bodyPr wrap="square" rtlCol="0" anchor="ctr"/>
          <a:lstStyle/>
          <a:p>
            <a:pPr indent="0" marL="0">
              <a:buNone/>
            </a:pPr>
            <a:r>
              <a:rPr lang="en-US" sz="1900" b="1" dirty="0">
                <a:solidFill>
                  <a:srgbClr val="1E2A44"/>
                </a:solidFill>
                <a:latin typeface="Cambria" pitchFamily="34" charset="0"/>
                <a:ea typeface="Cambria" pitchFamily="34" charset="-122"/>
                <a:cs typeface="Cambria" pitchFamily="34" charset="-120"/>
              </a:rPr>
              <a:t>Mobile / Strava</a:t>
            </a:r>
            <a:endParaRPr lang="en-US" sz="1900" dirty="0"/>
          </a:p>
        </p:txBody>
      </p:sp>
      <p:sp>
        <p:nvSpPr>
          <p:cNvPr id="23" name="Text 17"/>
          <p:cNvSpPr/>
          <p:nvPr/>
        </p:nvSpPr>
        <p:spPr>
          <a:xfrm>
            <a:off x="2660904" y="5303520"/>
            <a:ext cx="2880360" cy="685800"/>
          </a:xfrm>
          <a:prstGeom prst="rect">
            <a:avLst/>
          </a:prstGeom>
          <a:noFill/>
          <a:ln/>
        </p:spPr>
        <p:txBody>
          <a:bodyPr wrap="square" rtlCol="0" anchor="ctr"/>
          <a:lstStyle/>
          <a:p>
            <a:pPr indent="0" marL="0">
              <a:buNone/>
            </a:pPr>
            <a:r>
              <a:rPr lang="en-US" sz="1500" dirty="0">
                <a:solidFill>
                  <a:srgbClr val="6B7688"/>
                </a:solidFill>
                <a:latin typeface="Calibri" pitchFamily="34" charset="0"/>
                <a:ea typeface="Calibri" pitchFamily="34" charset="-122"/>
                <a:cs typeface="Calibri" pitchFamily="34" charset="-120"/>
              </a:rPr>
              <a:t>Run, log, and give</a:t>
            </a:r>
            <a:endParaRPr lang="en-US" sz="1500" dirty="0"/>
          </a:p>
        </p:txBody>
      </p:sp>
      <p:sp>
        <p:nvSpPr>
          <p:cNvPr id="24" name="Shape 18"/>
          <p:cNvSpPr/>
          <p:nvPr/>
        </p:nvSpPr>
        <p:spPr>
          <a:xfrm>
            <a:off x="6062472" y="3977640"/>
            <a:ext cx="3429000" cy="2148840"/>
          </a:xfrm>
          <a:prstGeom prst="roundRect">
            <a:avLst>
              <a:gd name="adj" fmla="val 5106"/>
            </a:avLst>
          </a:prstGeom>
          <a:solidFill>
            <a:srgbClr val="F3F6FB"/>
          </a:solidFill>
          <a:ln/>
          <a:effectLst>
            <a:outerShdw sx="100000" sy="100000" kx="0" ky="0" algn="bl" rotWithShape="0" blurRad="101600" dist="38100" dir="5400000">
              <a:srgbClr val="9AA6B8">
                <a:alpha val="35000"/>
              </a:srgbClr>
            </a:outerShdw>
          </a:effectLst>
        </p:spPr>
      </p:sp>
      <p:sp>
        <p:nvSpPr>
          <p:cNvPr id="25" name="Shape 19"/>
          <p:cNvSpPr/>
          <p:nvPr/>
        </p:nvSpPr>
        <p:spPr>
          <a:xfrm>
            <a:off x="6355080" y="4270248"/>
            <a:ext cx="914400" cy="914400"/>
          </a:xfrm>
          <a:prstGeom prst="ellipse">
            <a:avLst/>
          </a:prstGeom>
          <a:solidFill>
            <a:srgbClr val="FF6B4A"/>
          </a:solidFill>
          <a:ln/>
        </p:spPr>
      </p:sp>
      <p:pic>
        <p:nvPicPr>
          <p:cNvPr id="26" name="Image 4" descr="preencoded.png">    </p:cNvPr>
          <p:cNvPicPr>
            <a:picLocks noChangeAspect="1"/>
          </p:cNvPicPr>
          <p:nvPr/>
        </p:nvPicPr>
        <p:blipFill>
          <a:blip r:embed="rId5"/>
          <a:stretch>
            <a:fillRect/>
          </a:stretch>
        </p:blipFill>
        <p:spPr>
          <a:xfrm>
            <a:off x="6601968" y="4517136"/>
            <a:ext cx="420624" cy="420624"/>
          </a:xfrm>
          <a:prstGeom prst="rect">
            <a:avLst/>
          </a:prstGeom>
        </p:spPr>
      </p:pic>
      <p:sp>
        <p:nvSpPr>
          <p:cNvPr id="27" name="Text 20"/>
          <p:cNvSpPr/>
          <p:nvPr/>
        </p:nvSpPr>
        <p:spPr>
          <a:xfrm>
            <a:off x="7388352" y="4361688"/>
            <a:ext cx="2011680" cy="685800"/>
          </a:xfrm>
          <a:prstGeom prst="rect">
            <a:avLst/>
          </a:prstGeom>
          <a:noFill/>
          <a:ln/>
        </p:spPr>
        <p:txBody>
          <a:bodyPr wrap="square" rtlCol="0" anchor="ctr"/>
          <a:lstStyle/>
          <a:p>
            <a:pPr indent="0" marL="0">
              <a:buNone/>
            </a:pPr>
            <a:r>
              <a:rPr lang="en-US" sz="1900" b="1" dirty="0">
                <a:solidFill>
                  <a:srgbClr val="1E2A44"/>
                </a:solidFill>
                <a:latin typeface="Cambria" pitchFamily="34" charset="0"/>
                <a:ea typeface="Cambria" pitchFamily="34" charset="-122"/>
                <a:cs typeface="Cambria" pitchFamily="34" charset="-120"/>
              </a:rPr>
              <a:t>Blog</a:t>
            </a:r>
            <a:endParaRPr lang="en-US" sz="1900" dirty="0"/>
          </a:p>
        </p:txBody>
      </p:sp>
      <p:sp>
        <p:nvSpPr>
          <p:cNvPr id="28" name="Text 21"/>
          <p:cNvSpPr/>
          <p:nvPr/>
        </p:nvSpPr>
        <p:spPr>
          <a:xfrm>
            <a:off x="6336792" y="5303520"/>
            <a:ext cx="2880360" cy="685800"/>
          </a:xfrm>
          <a:prstGeom prst="rect">
            <a:avLst/>
          </a:prstGeom>
          <a:noFill/>
          <a:ln/>
        </p:spPr>
        <p:txBody>
          <a:bodyPr wrap="square" rtlCol="0" anchor="ctr"/>
          <a:lstStyle/>
          <a:p>
            <a:pPr indent="0" marL="0">
              <a:buNone/>
            </a:pPr>
            <a:r>
              <a:rPr lang="en-US" sz="1500" dirty="0">
                <a:solidFill>
                  <a:srgbClr val="6B7688"/>
                </a:solidFill>
                <a:latin typeface="Calibri" pitchFamily="34" charset="0"/>
                <a:ea typeface="Calibri" pitchFamily="34" charset="-122"/>
                <a:cs typeface="Calibri" pitchFamily="34" charset="-120"/>
              </a:rPr>
              <a:t>Deeper stories, search home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256032"/>
            <a:ext cx="10972800" cy="320040"/>
          </a:xfrm>
          <a:prstGeom prst="rect">
            <a:avLst/>
          </a:prstGeom>
          <a:noFill/>
          <a:ln/>
        </p:spPr>
        <p:txBody>
          <a:bodyPr wrap="square" rtlCol="0" anchor="ctr"/>
          <a:lstStyle/>
          <a:p>
            <a:pPr indent="0" marL="0">
              <a:buNone/>
            </a:pPr>
            <a:r>
              <a:rPr lang="en-US" sz="1200" b="1" spc="300" kern="0" dirty="0">
                <a:solidFill>
                  <a:srgbClr val="FF6B4A"/>
                </a:solidFill>
                <a:latin typeface="Calibri" pitchFamily="34" charset="0"/>
                <a:ea typeface="Calibri" pitchFamily="34" charset="-122"/>
                <a:cs typeface="Calibri" pitchFamily="34" charset="-120"/>
              </a:rPr>
              <a:t>DIGITAL MEDIA  •  SOCIAL NETWORK 1</a:t>
            </a:r>
            <a:endParaRPr lang="en-US" sz="1200" dirty="0"/>
          </a:p>
        </p:txBody>
      </p:sp>
      <p:sp>
        <p:nvSpPr>
          <p:cNvPr id="3" name="Text 1"/>
          <p:cNvSpPr/>
          <p:nvPr/>
        </p:nvSpPr>
        <p:spPr>
          <a:xfrm>
            <a:off x="548640" y="457200"/>
            <a:ext cx="11064240" cy="822960"/>
          </a:xfrm>
          <a:prstGeom prst="rect">
            <a:avLst/>
          </a:prstGeom>
          <a:noFill/>
          <a:ln/>
        </p:spPr>
        <p:txBody>
          <a:bodyPr wrap="square" rtlCol="0" anchor="ctr"/>
          <a:lstStyle/>
          <a:p>
            <a:pPr algn="l" indent="0" marL="0">
              <a:buNone/>
            </a:pPr>
            <a:r>
              <a:rPr lang="en-US" sz="3400" b="1" dirty="0">
                <a:solidFill>
                  <a:srgbClr val="1E2A44"/>
                </a:solidFill>
                <a:latin typeface="Cambria" pitchFamily="34" charset="0"/>
                <a:ea typeface="Cambria" pitchFamily="34" charset="-122"/>
                <a:cs typeface="Cambria" pitchFamily="34" charset="-120"/>
              </a:rPr>
              <a:t>Instagram</a:t>
            </a:r>
            <a:endParaRPr lang="en-US" sz="3400" dirty="0"/>
          </a:p>
        </p:txBody>
      </p:sp>
      <p:sp>
        <p:nvSpPr>
          <p:cNvPr id="4" name="Shape 2"/>
          <p:cNvSpPr/>
          <p:nvPr/>
        </p:nvSpPr>
        <p:spPr>
          <a:xfrm>
            <a:off x="10195560" y="256032"/>
            <a:ext cx="1234440" cy="1234440"/>
          </a:xfrm>
          <a:prstGeom prst="ellipse">
            <a:avLst/>
          </a:prstGeom>
          <a:solidFill>
            <a:srgbClr val="FF6B4A"/>
          </a:solidFill>
          <a:ln/>
        </p:spPr>
      </p:sp>
      <p:pic>
        <p:nvPicPr>
          <p:cNvPr id="5" name="Image 0" descr="preencoded.png">    </p:cNvPr>
          <p:cNvPicPr>
            <a:picLocks noChangeAspect="1"/>
          </p:cNvPicPr>
          <p:nvPr/>
        </p:nvPicPr>
        <p:blipFill>
          <a:blip r:embed="rId1"/>
          <a:stretch>
            <a:fillRect/>
          </a:stretch>
        </p:blipFill>
        <p:spPr>
          <a:xfrm>
            <a:off x="10543032" y="603504"/>
            <a:ext cx="539496" cy="539496"/>
          </a:xfrm>
          <a:prstGeom prst="rect">
            <a:avLst/>
          </a:prstGeom>
        </p:spPr>
      </p:pic>
      <p:sp>
        <p:nvSpPr>
          <p:cNvPr id="6" name="Shape 3"/>
          <p:cNvSpPr/>
          <p:nvPr/>
        </p:nvSpPr>
        <p:spPr>
          <a:xfrm>
            <a:off x="548640" y="1737360"/>
            <a:ext cx="5394960" cy="4206240"/>
          </a:xfrm>
          <a:prstGeom prst="roundRect">
            <a:avLst>
              <a:gd name="adj" fmla="val 2609"/>
            </a:avLst>
          </a:prstGeom>
          <a:solidFill>
            <a:srgbClr val="F3F6FB"/>
          </a:solidFill>
          <a:ln/>
          <a:effectLst>
            <a:outerShdw sx="100000" sy="100000" kx="0" ky="0" algn="bl" rotWithShape="0" blurRad="101600" dist="38100" dir="5400000">
              <a:srgbClr val="9AA6B8">
                <a:alpha val="35000"/>
              </a:srgbClr>
            </a:outerShdw>
          </a:effectLst>
        </p:spPr>
      </p:sp>
      <p:sp>
        <p:nvSpPr>
          <p:cNvPr id="7" name="Text 4"/>
          <p:cNvSpPr/>
          <p:nvPr/>
        </p:nvSpPr>
        <p:spPr>
          <a:xfrm>
            <a:off x="914400" y="2011680"/>
            <a:ext cx="4754880" cy="502920"/>
          </a:xfrm>
          <a:prstGeom prst="rect">
            <a:avLst/>
          </a:prstGeom>
          <a:noFill/>
          <a:ln/>
        </p:spPr>
        <p:txBody>
          <a:bodyPr wrap="square" rtlCol="0" anchor="ctr"/>
          <a:lstStyle/>
          <a:p>
            <a:pPr indent="0" marL="0">
              <a:buNone/>
            </a:pPr>
            <a:r>
              <a:rPr lang="en-US" sz="2000" b="1" dirty="0">
                <a:solidFill>
                  <a:srgbClr val="1E2A44"/>
                </a:solidFill>
                <a:latin typeface="Cambria" pitchFamily="34" charset="0"/>
                <a:ea typeface="Cambria" pitchFamily="34" charset="-122"/>
                <a:cs typeface="Cambria" pitchFamily="34" charset="-120"/>
              </a:rPr>
              <a:t>Primary Uses &amp; Features</a:t>
            </a:r>
            <a:endParaRPr lang="en-US" sz="2000" dirty="0"/>
          </a:p>
        </p:txBody>
      </p:sp>
      <p:sp>
        <p:nvSpPr>
          <p:cNvPr id="8" name="Text 5"/>
          <p:cNvSpPr/>
          <p:nvPr/>
        </p:nvSpPr>
        <p:spPr>
          <a:xfrm>
            <a:off x="914400" y="2651760"/>
            <a:ext cx="4754880" cy="3108960"/>
          </a:xfrm>
          <a:prstGeom prst="rect">
            <a:avLst/>
          </a:prstGeom>
          <a:noFill/>
          <a:ln/>
        </p:spPr>
        <p:txBody>
          <a:bodyPr wrap="square" rtlCol="0" anchor="ctr"/>
          <a:lstStyle/>
          <a:p>
            <a:pPr marL="228600" indent="-228600">
              <a:spcAft>
                <a:spcPts val="1000"/>
              </a:spcAft>
              <a:buSzPct val="100000"/>
              <a:buChar char="•"/>
            </a:pPr>
            <a:r>
              <a:rPr lang="en-US" sz="1700" dirty="0">
                <a:solidFill>
                  <a:srgbClr val="24303F"/>
                </a:solidFill>
                <a:latin typeface="Calibri" pitchFamily="34" charset="0"/>
                <a:ea typeface="Calibri" pitchFamily="34" charset="-122"/>
                <a:cs typeface="Calibri" pitchFamily="34" charset="-120"/>
              </a:rPr>
              <a:t>Feed, Stories, and Reels</a:t>
            </a:r>
            <a:endParaRPr lang="en-US" sz="1700" dirty="0"/>
          </a:p>
          <a:p>
            <a:pPr marL="228600" indent="-228600">
              <a:spcAft>
                <a:spcPts val="1000"/>
              </a:spcAft>
              <a:buSzPct val="100000"/>
              <a:buChar char="•"/>
            </a:pPr>
            <a:r>
              <a:rPr lang="en-US" sz="1700" dirty="0">
                <a:solidFill>
                  <a:srgbClr val="24303F"/>
                </a:solidFill>
                <a:latin typeface="Calibri" pitchFamily="34" charset="0"/>
                <a:ea typeface="Calibri" pitchFamily="34" charset="-122"/>
                <a:cs typeface="Calibri" pitchFamily="34" charset="-120"/>
              </a:rPr>
              <a:t>Carousels, polls, question stickers</a:t>
            </a:r>
            <a:endParaRPr lang="en-US" sz="1700" dirty="0"/>
          </a:p>
          <a:p>
            <a:pPr marL="228600" indent="-228600">
              <a:spcAft>
                <a:spcPts val="1000"/>
              </a:spcAft>
              <a:buSzPct val="100000"/>
              <a:buChar char="•"/>
            </a:pPr>
            <a:r>
              <a:rPr lang="en-US" sz="1700" dirty="0">
                <a:solidFill>
                  <a:srgbClr val="24303F"/>
                </a:solidFill>
                <a:latin typeface="Calibri" pitchFamily="34" charset="0"/>
                <a:ea typeface="Calibri" pitchFamily="34" charset="-122"/>
                <a:cs typeface="Calibri" pitchFamily="34" charset="-120"/>
              </a:rPr>
              <a:t>Link sticker drives action</a:t>
            </a:r>
            <a:endParaRPr lang="en-US" sz="1700" dirty="0"/>
          </a:p>
        </p:txBody>
      </p:sp>
      <p:sp>
        <p:nvSpPr>
          <p:cNvPr id="9" name="Shape 6"/>
          <p:cNvSpPr/>
          <p:nvPr/>
        </p:nvSpPr>
        <p:spPr>
          <a:xfrm>
            <a:off x="6245352" y="1737360"/>
            <a:ext cx="5394960" cy="4206240"/>
          </a:xfrm>
          <a:prstGeom prst="roundRect">
            <a:avLst>
              <a:gd name="adj" fmla="val 2609"/>
            </a:avLst>
          </a:prstGeom>
          <a:solidFill>
            <a:srgbClr val="1E2A44"/>
          </a:solidFill>
          <a:ln/>
          <a:effectLst>
            <a:outerShdw sx="100000" sy="100000" kx="0" ky="0" algn="bl" rotWithShape="0" blurRad="101600" dist="38100" dir="5400000">
              <a:srgbClr val="9AA6B8">
                <a:alpha val="35000"/>
              </a:srgbClr>
            </a:outerShdw>
          </a:effectLst>
        </p:spPr>
      </p:sp>
      <p:sp>
        <p:nvSpPr>
          <p:cNvPr id="10" name="Text 7"/>
          <p:cNvSpPr/>
          <p:nvPr/>
        </p:nvSpPr>
        <p:spPr>
          <a:xfrm>
            <a:off x="6629400" y="2011680"/>
            <a:ext cx="4754880" cy="50292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Why We Selected It</a:t>
            </a:r>
            <a:endParaRPr lang="en-US" sz="2000" dirty="0"/>
          </a:p>
        </p:txBody>
      </p:sp>
      <p:sp>
        <p:nvSpPr>
          <p:cNvPr id="11" name="Text 8"/>
          <p:cNvSpPr/>
          <p:nvPr/>
        </p:nvSpPr>
        <p:spPr>
          <a:xfrm>
            <a:off x="6629400" y="2651760"/>
            <a:ext cx="4754880" cy="3108960"/>
          </a:xfrm>
          <a:prstGeom prst="rect">
            <a:avLst/>
          </a:prstGeom>
          <a:noFill/>
          <a:ln/>
        </p:spPr>
        <p:txBody>
          <a:bodyPr wrap="square" rtlCol="0" anchor="ctr"/>
          <a:lstStyle/>
          <a:p>
            <a:pPr marL="228600" indent="-228600">
              <a:spcAft>
                <a:spcPts val="1000"/>
              </a:spcAft>
              <a:buSzPct val="100000"/>
              <a:buChar char="•"/>
            </a:pPr>
            <a:r>
              <a:rPr lang="en-US" sz="1700" dirty="0">
                <a:solidFill>
                  <a:srgbClr val="E6ECF7"/>
                </a:solidFill>
                <a:latin typeface="Calibri" pitchFamily="34" charset="0"/>
                <a:ea typeface="Calibri" pitchFamily="34" charset="-122"/>
                <a:cs typeface="Calibri" pitchFamily="34" charset="-120"/>
              </a:rPr>
              <a:t>Audience is highly visual</a:t>
            </a:r>
            <a:endParaRPr lang="en-US" sz="1700" dirty="0"/>
          </a:p>
          <a:p>
            <a:pPr marL="228600" indent="-228600">
              <a:spcAft>
                <a:spcPts val="1000"/>
              </a:spcAft>
              <a:buSzPct val="100000"/>
              <a:buChar char="•"/>
            </a:pPr>
            <a:r>
              <a:rPr lang="en-US" sz="1700" dirty="0">
                <a:solidFill>
                  <a:srgbClr val="E6ECF7"/>
                </a:solidFill>
                <a:latin typeface="Calibri" pitchFamily="34" charset="0"/>
                <a:ea typeface="Calibri" pitchFamily="34" charset="-122"/>
                <a:cs typeface="Calibri" pitchFamily="34" charset="-120"/>
              </a:rPr>
              <a:t>Aesthetic fit for dignity imagery</a:t>
            </a:r>
            <a:endParaRPr lang="en-US" sz="1700" dirty="0"/>
          </a:p>
          <a:p>
            <a:pPr marL="228600" indent="-228600">
              <a:spcAft>
                <a:spcPts val="1000"/>
              </a:spcAft>
              <a:buSzPct val="100000"/>
              <a:buChar char="•"/>
            </a:pPr>
            <a:r>
              <a:rPr lang="en-US" sz="1700" dirty="0">
                <a:solidFill>
                  <a:srgbClr val="E6ECF7"/>
                </a:solidFill>
                <a:latin typeface="Calibri" pitchFamily="34" charset="0"/>
                <a:ea typeface="Calibri" pitchFamily="34" charset="-122"/>
                <a:cs typeface="Calibri" pitchFamily="34" charset="-120"/>
              </a:rPr>
              <a:t>Carries polished before-and-after stories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256032"/>
            <a:ext cx="10972800" cy="320040"/>
          </a:xfrm>
          <a:prstGeom prst="rect">
            <a:avLst/>
          </a:prstGeom>
          <a:noFill/>
          <a:ln/>
        </p:spPr>
        <p:txBody>
          <a:bodyPr wrap="square" rtlCol="0" anchor="ctr"/>
          <a:lstStyle/>
          <a:p>
            <a:pPr indent="0" marL="0">
              <a:buNone/>
            </a:pPr>
            <a:r>
              <a:rPr lang="en-US" sz="1200" b="1" spc="300" kern="0" dirty="0">
                <a:solidFill>
                  <a:srgbClr val="FF6B4A"/>
                </a:solidFill>
                <a:latin typeface="Calibri" pitchFamily="34" charset="0"/>
                <a:ea typeface="Calibri" pitchFamily="34" charset="-122"/>
                <a:cs typeface="Calibri" pitchFamily="34" charset="-120"/>
              </a:rPr>
              <a:t>DIGITAL MEDIA  •  SOCIAL NETWORK 2</a:t>
            </a:r>
            <a:endParaRPr lang="en-US" sz="1200" dirty="0"/>
          </a:p>
        </p:txBody>
      </p:sp>
      <p:sp>
        <p:nvSpPr>
          <p:cNvPr id="3" name="Text 1"/>
          <p:cNvSpPr/>
          <p:nvPr/>
        </p:nvSpPr>
        <p:spPr>
          <a:xfrm>
            <a:off x="548640" y="457200"/>
            <a:ext cx="11064240" cy="822960"/>
          </a:xfrm>
          <a:prstGeom prst="rect">
            <a:avLst/>
          </a:prstGeom>
          <a:noFill/>
          <a:ln/>
        </p:spPr>
        <p:txBody>
          <a:bodyPr wrap="square" rtlCol="0" anchor="ctr"/>
          <a:lstStyle/>
          <a:p>
            <a:pPr algn="l" indent="0" marL="0">
              <a:buNone/>
            </a:pPr>
            <a:r>
              <a:rPr lang="en-US" sz="3400" b="1" dirty="0">
                <a:solidFill>
                  <a:srgbClr val="1E2A44"/>
                </a:solidFill>
                <a:latin typeface="Cambria" pitchFamily="34" charset="0"/>
                <a:ea typeface="Cambria" pitchFamily="34" charset="-122"/>
                <a:cs typeface="Cambria" pitchFamily="34" charset="-120"/>
              </a:rPr>
              <a:t>TikTok</a:t>
            </a:r>
            <a:endParaRPr lang="en-US" sz="3400" dirty="0"/>
          </a:p>
        </p:txBody>
      </p:sp>
      <p:sp>
        <p:nvSpPr>
          <p:cNvPr id="4" name="Shape 2"/>
          <p:cNvSpPr/>
          <p:nvPr/>
        </p:nvSpPr>
        <p:spPr>
          <a:xfrm>
            <a:off x="10195560" y="256032"/>
            <a:ext cx="1234440" cy="1234440"/>
          </a:xfrm>
          <a:prstGeom prst="ellipse">
            <a:avLst/>
          </a:prstGeom>
          <a:solidFill>
            <a:srgbClr val="1E2A44"/>
          </a:solidFill>
          <a:ln/>
        </p:spPr>
      </p:sp>
      <p:pic>
        <p:nvPicPr>
          <p:cNvPr id="5" name="Image 0" descr="preencoded.png">    </p:cNvPr>
          <p:cNvPicPr>
            <a:picLocks noChangeAspect="1"/>
          </p:cNvPicPr>
          <p:nvPr/>
        </p:nvPicPr>
        <p:blipFill>
          <a:blip r:embed="rId1"/>
          <a:stretch>
            <a:fillRect/>
          </a:stretch>
        </p:blipFill>
        <p:spPr>
          <a:xfrm>
            <a:off x="10543032" y="603504"/>
            <a:ext cx="539496" cy="539496"/>
          </a:xfrm>
          <a:prstGeom prst="rect">
            <a:avLst/>
          </a:prstGeom>
        </p:spPr>
      </p:pic>
      <p:sp>
        <p:nvSpPr>
          <p:cNvPr id="6" name="Shape 3"/>
          <p:cNvSpPr/>
          <p:nvPr/>
        </p:nvSpPr>
        <p:spPr>
          <a:xfrm>
            <a:off x="548640" y="1737360"/>
            <a:ext cx="5394960" cy="4206240"/>
          </a:xfrm>
          <a:prstGeom prst="roundRect">
            <a:avLst>
              <a:gd name="adj" fmla="val 2609"/>
            </a:avLst>
          </a:prstGeom>
          <a:solidFill>
            <a:srgbClr val="F3F6FB"/>
          </a:solidFill>
          <a:ln/>
          <a:effectLst>
            <a:outerShdw sx="100000" sy="100000" kx="0" ky="0" algn="bl" rotWithShape="0" blurRad="101600" dist="38100" dir="5400000">
              <a:srgbClr val="9AA6B8">
                <a:alpha val="35000"/>
              </a:srgbClr>
            </a:outerShdw>
          </a:effectLst>
        </p:spPr>
      </p:sp>
      <p:sp>
        <p:nvSpPr>
          <p:cNvPr id="7" name="Text 4"/>
          <p:cNvSpPr/>
          <p:nvPr/>
        </p:nvSpPr>
        <p:spPr>
          <a:xfrm>
            <a:off x="914400" y="2011680"/>
            <a:ext cx="4754880" cy="502920"/>
          </a:xfrm>
          <a:prstGeom prst="rect">
            <a:avLst/>
          </a:prstGeom>
          <a:noFill/>
          <a:ln/>
        </p:spPr>
        <p:txBody>
          <a:bodyPr wrap="square" rtlCol="0" anchor="ctr"/>
          <a:lstStyle/>
          <a:p>
            <a:pPr indent="0" marL="0">
              <a:buNone/>
            </a:pPr>
            <a:r>
              <a:rPr lang="en-US" sz="2000" b="1" dirty="0">
                <a:solidFill>
                  <a:srgbClr val="1E2A44"/>
                </a:solidFill>
                <a:latin typeface="Cambria" pitchFamily="34" charset="0"/>
                <a:ea typeface="Cambria" pitchFamily="34" charset="-122"/>
                <a:cs typeface="Cambria" pitchFamily="34" charset="-120"/>
              </a:rPr>
              <a:t>Primary Uses &amp; Features</a:t>
            </a:r>
            <a:endParaRPr lang="en-US" sz="2000" dirty="0"/>
          </a:p>
        </p:txBody>
      </p:sp>
      <p:sp>
        <p:nvSpPr>
          <p:cNvPr id="8" name="Text 5"/>
          <p:cNvSpPr/>
          <p:nvPr/>
        </p:nvSpPr>
        <p:spPr>
          <a:xfrm>
            <a:off x="914400" y="2651760"/>
            <a:ext cx="4754880" cy="3108960"/>
          </a:xfrm>
          <a:prstGeom prst="rect">
            <a:avLst/>
          </a:prstGeom>
          <a:noFill/>
          <a:ln/>
        </p:spPr>
        <p:txBody>
          <a:bodyPr wrap="square" rtlCol="0" anchor="ctr"/>
          <a:lstStyle/>
          <a:p>
            <a:pPr marL="228600" indent="-228600">
              <a:spcAft>
                <a:spcPts val="1000"/>
              </a:spcAft>
              <a:buSzPct val="100000"/>
              <a:buChar char="•"/>
            </a:pPr>
            <a:r>
              <a:rPr lang="en-US" sz="1700" dirty="0">
                <a:solidFill>
                  <a:srgbClr val="24303F"/>
                </a:solidFill>
                <a:latin typeface="Calibri" pitchFamily="34" charset="0"/>
                <a:ea typeface="Calibri" pitchFamily="34" charset="-122"/>
                <a:cs typeface="Calibri" pitchFamily="34" charset="-120"/>
              </a:rPr>
              <a:t>Short vertical video</a:t>
            </a:r>
            <a:endParaRPr lang="en-US" sz="1700" dirty="0"/>
          </a:p>
          <a:p>
            <a:pPr marL="228600" indent="-228600">
              <a:spcAft>
                <a:spcPts val="1000"/>
              </a:spcAft>
              <a:buSzPct val="100000"/>
              <a:buChar char="•"/>
            </a:pPr>
            <a:r>
              <a:rPr lang="en-US" sz="1700" dirty="0">
                <a:solidFill>
                  <a:srgbClr val="24303F"/>
                </a:solidFill>
                <a:latin typeface="Calibri" pitchFamily="34" charset="0"/>
                <a:ea typeface="Calibri" pitchFamily="34" charset="-122"/>
                <a:cs typeface="Calibri" pitchFamily="34" charset="-120"/>
              </a:rPr>
              <a:t>Duets, stitches, trending sounds</a:t>
            </a:r>
            <a:endParaRPr lang="en-US" sz="1700" dirty="0"/>
          </a:p>
          <a:p>
            <a:pPr marL="228600" indent="-228600">
              <a:spcAft>
                <a:spcPts val="1000"/>
              </a:spcAft>
              <a:buSzPct val="100000"/>
              <a:buChar char="•"/>
            </a:pPr>
            <a:r>
              <a:rPr lang="en-US" sz="1700" dirty="0">
                <a:solidFill>
                  <a:srgbClr val="24303F"/>
                </a:solidFill>
                <a:latin typeface="Calibri" pitchFamily="34" charset="0"/>
                <a:ea typeface="Calibri" pitchFamily="34" charset="-122"/>
                <a:cs typeface="Calibri" pitchFamily="34" charset="-120"/>
              </a:rPr>
              <a:t>Discovery-driven algorithm</a:t>
            </a:r>
            <a:endParaRPr lang="en-US" sz="1700" dirty="0"/>
          </a:p>
        </p:txBody>
      </p:sp>
      <p:sp>
        <p:nvSpPr>
          <p:cNvPr id="9" name="Shape 6"/>
          <p:cNvSpPr/>
          <p:nvPr/>
        </p:nvSpPr>
        <p:spPr>
          <a:xfrm>
            <a:off x="6245352" y="1737360"/>
            <a:ext cx="5394960" cy="4206240"/>
          </a:xfrm>
          <a:prstGeom prst="roundRect">
            <a:avLst>
              <a:gd name="adj" fmla="val 2609"/>
            </a:avLst>
          </a:prstGeom>
          <a:solidFill>
            <a:srgbClr val="1E2A44"/>
          </a:solidFill>
          <a:ln/>
          <a:effectLst>
            <a:outerShdw sx="100000" sy="100000" kx="0" ky="0" algn="bl" rotWithShape="0" blurRad="101600" dist="38100" dir="5400000">
              <a:srgbClr val="9AA6B8">
                <a:alpha val="35000"/>
              </a:srgbClr>
            </a:outerShdw>
          </a:effectLst>
        </p:spPr>
      </p:sp>
      <p:sp>
        <p:nvSpPr>
          <p:cNvPr id="10" name="Text 7"/>
          <p:cNvSpPr/>
          <p:nvPr/>
        </p:nvSpPr>
        <p:spPr>
          <a:xfrm>
            <a:off x="6629400" y="2011680"/>
            <a:ext cx="4754880" cy="50292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Why We Selected It</a:t>
            </a:r>
            <a:endParaRPr lang="en-US" sz="2000" dirty="0"/>
          </a:p>
        </p:txBody>
      </p:sp>
      <p:sp>
        <p:nvSpPr>
          <p:cNvPr id="11" name="Text 8"/>
          <p:cNvSpPr/>
          <p:nvPr/>
        </p:nvSpPr>
        <p:spPr>
          <a:xfrm>
            <a:off x="6629400" y="2651760"/>
            <a:ext cx="4754880" cy="3108960"/>
          </a:xfrm>
          <a:prstGeom prst="rect">
            <a:avLst/>
          </a:prstGeom>
          <a:noFill/>
          <a:ln/>
        </p:spPr>
        <p:txBody>
          <a:bodyPr wrap="square" rtlCol="0" anchor="ctr"/>
          <a:lstStyle/>
          <a:p>
            <a:pPr marL="228600" indent="-228600">
              <a:spcAft>
                <a:spcPts val="1000"/>
              </a:spcAft>
              <a:buSzPct val="100000"/>
              <a:buChar char="•"/>
            </a:pPr>
            <a:r>
              <a:rPr lang="en-US" sz="1700" dirty="0">
                <a:solidFill>
                  <a:srgbClr val="E6ECF7"/>
                </a:solidFill>
                <a:latin typeface="Calibri" pitchFamily="34" charset="0"/>
                <a:ea typeface="Calibri" pitchFamily="34" charset="-122"/>
                <a:cs typeface="Calibri" pitchFamily="34" charset="-120"/>
              </a:rPr>
              <a:t>Reaches beyond our followers</a:t>
            </a:r>
            <a:endParaRPr lang="en-US" sz="1700" dirty="0"/>
          </a:p>
          <a:p>
            <a:pPr marL="228600" indent="-228600">
              <a:spcAft>
                <a:spcPts val="1000"/>
              </a:spcAft>
              <a:buSzPct val="100000"/>
              <a:buChar char="•"/>
            </a:pPr>
            <a:r>
              <a:rPr lang="en-US" sz="1700" dirty="0">
                <a:solidFill>
                  <a:srgbClr val="E6ECF7"/>
                </a:solidFill>
                <a:latin typeface="Calibri" pitchFamily="34" charset="0"/>
                <a:ea typeface="Calibri" pitchFamily="34" charset="-122"/>
                <a:cs typeface="Calibri" pitchFamily="34" charset="-120"/>
              </a:rPr>
              <a:t>Attracts younger runners</a:t>
            </a:r>
            <a:endParaRPr lang="en-US" sz="1700" dirty="0"/>
          </a:p>
          <a:p>
            <a:pPr marL="228600" indent="-228600">
              <a:spcAft>
                <a:spcPts val="1000"/>
              </a:spcAft>
              <a:buSzPct val="100000"/>
              <a:buChar char="•"/>
            </a:pPr>
            <a:r>
              <a:rPr lang="en-US" sz="1700" dirty="0">
                <a:solidFill>
                  <a:srgbClr val="E6ECF7"/>
                </a:solidFill>
                <a:latin typeface="Calibri" pitchFamily="34" charset="0"/>
                <a:ea typeface="Calibri" pitchFamily="34" charset="-122"/>
                <a:cs typeface="Calibri" pitchFamily="34" charset="-120"/>
              </a:rPr>
              <a:t>Rewards raw authenticity</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256032"/>
            <a:ext cx="10972800" cy="320040"/>
          </a:xfrm>
          <a:prstGeom prst="rect">
            <a:avLst/>
          </a:prstGeom>
          <a:noFill/>
          <a:ln/>
        </p:spPr>
        <p:txBody>
          <a:bodyPr wrap="square" rtlCol="0" anchor="ctr"/>
          <a:lstStyle/>
          <a:p>
            <a:pPr indent="0" marL="0">
              <a:buNone/>
            </a:pPr>
            <a:r>
              <a:rPr lang="en-US" sz="1200" b="1" spc="300" kern="0" dirty="0">
                <a:solidFill>
                  <a:srgbClr val="FF6B4A"/>
                </a:solidFill>
                <a:latin typeface="Calibri" pitchFamily="34" charset="0"/>
                <a:ea typeface="Calibri" pitchFamily="34" charset="-122"/>
                <a:cs typeface="Calibri" pitchFamily="34" charset="-120"/>
              </a:rPr>
              <a:t>DIGITAL MEDIA  •  SOCIAL NETWORK 3</a:t>
            </a:r>
            <a:endParaRPr lang="en-US" sz="1200" dirty="0"/>
          </a:p>
        </p:txBody>
      </p:sp>
      <p:sp>
        <p:nvSpPr>
          <p:cNvPr id="3" name="Text 1"/>
          <p:cNvSpPr/>
          <p:nvPr/>
        </p:nvSpPr>
        <p:spPr>
          <a:xfrm>
            <a:off x="548640" y="457200"/>
            <a:ext cx="11064240" cy="822960"/>
          </a:xfrm>
          <a:prstGeom prst="rect">
            <a:avLst/>
          </a:prstGeom>
          <a:noFill/>
          <a:ln/>
        </p:spPr>
        <p:txBody>
          <a:bodyPr wrap="square" rtlCol="0" anchor="ctr"/>
          <a:lstStyle/>
          <a:p>
            <a:pPr algn="l" indent="0" marL="0">
              <a:buNone/>
            </a:pPr>
            <a:r>
              <a:rPr lang="en-US" sz="3400" b="1" dirty="0">
                <a:solidFill>
                  <a:srgbClr val="1E2A44"/>
                </a:solidFill>
                <a:latin typeface="Cambria" pitchFamily="34" charset="0"/>
                <a:ea typeface="Cambria" pitchFamily="34" charset="-122"/>
                <a:cs typeface="Cambria" pitchFamily="34" charset="-120"/>
              </a:rPr>
              <a:t>Facebook</a:t>
            </a:r>
            <a:endParaRPr lang="en-US" sz="3400" dirty="0"/>
          </a:p>
        </p:txBody>
      </p:sp>
      <p:sp>
        <p:nvSpPr>
          <p:cNvPr id="4" name="Shape 2"/>
          <p:cNvSpPr/>
          <p:nvPr/>
        </p:nvSpPr>
        <p:spPr>
          <a:xfrm>
            <a:off x="10195560" y="256032"/>
            <a:ext cx="1234440" cy="1234440"/>
          </a:xfrm>
          <a:prstGeom prst="ellipse">
            <a:avLst/>
          </a:prstGeom>
          <a:solidFill>
            <a:srgbClr val="FF6B4A"/>
          </a:solidFill>
          <a:ln/>
        </p:spPr>
      </p:sp>
      <p:pic>
        <p:nvPicPr>
          <p:cNvPr id="5" name="Image 0" descr="preencoded.png">    </p:cNvPr>
          <p:cNvPicPr>
            <a:picLocks noChangeAspect="1"/>
          </p:cNvPicPr>
          <p:nvPr/>
        </p:nvPicPr>
        <p:blipFill>
          <a:blip r:embed="rId1"/>
          <a:stretch>
            <a:fillRect/>
          </a:stretch>
        </p:blipFill>
        <p:spPr>
          <a:xfrm>
            <a:off x="10543032" y="603504"/>
            <a:ext cx="539496" cy="539496"/>
          </a:xfrm>
          <a:prstGeom prst="rect">
            <a:avLst/>
          </a:prstGeom>
        </p:spPr>
      </p:pic>
      <p:sp>
        <p:nvSpPr>
          <p:cNvPr id="6" name="Shape 3"/>
          <p:cNvSpPr/>
          <p:nvPr/>
        </p:nvSpPr>
        <p:spPr>
          <a:xfrm>
            <a:off x="548640" y="1737360"/>
            <a:ext cx="5394960" cy="4206240"/>
          </a:xfrm>
          <a:prstGeom prst="roundRect">
            <a:avLst>
              <a:gd name="adj" fmla="val 2609"/>
            </a:avLst>
          </a:prstGeom>
          <a:solidFill>
            <a:srgbClr val="F3F6FB"/>
          </a:solidFill>
          <a:ln/>
          <a:effectLst>
            <a:outerShdw sx="100000" sy="100000" kx="0" ky="0" algn="bl" rotWithShape="0" blurRad="101600" dist="38100" dir="5400000">
              <a:srgbClr val="9AA6B8">
                <a:alpha val="35000"/>
              </a:srgbClr>
            </a:outerShdw>
          </a:effectLst>
        </p:spPr>
      </p:sp>
      <p:sp>
        <p:nvSpPr>
          <p:cNvPr id="7" name="Text 4"/>
          <p:cNvSpPr/>
          <p:nvPr/>
        </p:nvSpPr>
        <p:spPr>
          <a:xfrm>
            <a:off x="914400" y="2011680"/>
            <a:ext cx="4754880" cy="502920"/>
          </a:xfrm>
          <a:prstGeom prst="rect">
            <a:avLst/>
          </a:prstGeom>
          <a:noFill/>
          <a:ln/>
        </p:spPr>
        <p:txBody>
          <a:bodyPr wrap="square" rtlCol="0" anchor="ctr"/>
          <a:lstStyle/>
          <a:p>
            <a:pPr indent="0" marL="0">
              <a:buNone/>
            </a:pPr>
            <a:r>
              <a:rPr lang="en-US" sz="2000" b="1" dirty="0">
                <a:solidFill>
                  <a:srgbClr val="1E2A44"/>
                </a:solidFill>
                <a:latin typeface="Cambria" pitchFamily="34" charset="0"/>
                <a:ea typeface="Cambria" pitchFamily="34" charset="-122"/>
                <a:cs typeface="Cambria" pitchFamily="34" charset="-120"/>
              </a:rPr>
              <a:t>Primary Uses &amp; Features</a:t>
            </a:r>
            <a:endParaRPr lang="en-US" sz="2000" dirty="0"/>
          </a:p>
        </p:txBody>
      </p:sp>
      <p:sp>
        <p:nvSpPr>
          <p:cNvPr id="8" name="Text 5"/>
          <p:cNvSpPr/>
          <p:nvPr/>
        </p:nvSpPr>
        <p:spPr>
          <a:xfrm>
            <a:off x="914400" y="2651760"/>
            <a:ext cx="4754880" cy="3108960"/>
          </a:xfrm>
          <a:prstGeom prst="rect">
            <a:avLst/>
          </a:prstGeom>
          <a:noFill/>
          <a:ln/>
        </p:spPr>
        <p:txBody>
          <a:bodyPr wrap="square" rtlCol="0" anchor="ctr"/>
          <a:lstStyle/>
          <a:p>
            <a:pPr marL="228600" indent="-228600">
              <a:spcAft>
                <a:spcPts val="1000"/>
              </a:spcAft>
              <a:buSzPct val="100000"/>
              <a:buChar char="•"/>
            </a:pPr>
            <a:r>
              <a:rPr lang="en-US" sz="1700" dirty="0">
                <a:solidFill>
                  <a:srgbClr val="24303F"/>
                </a:solidFill>
                <a:latin typeface="Calibri" pitchFamily="34" charset="0"/>
                <a:ea typeface="Calibri" pitchFamily="34" charset="-122"/>
                <a:cs typeface="Calibri" pitchFamily="34" charset="-120"/>
              </a:rPr>
              <a:t>Events and Groups</a:t>
            </a:r>
            <a:endParaRPr lang="en-US" sz="1700" dirty="0"/>
          </a:p>
          <a:p>
            <a:pPr marL="228600" indent="-228600">
              <a:spcAft>
                <a:spcPts val="1000"/>
              </a:spcAft>
              <a:buSzPct val="100000"/>
              <a:buChar char="•"/>
            </a:pPr>
            <a:r>
              <a:rPr lang="en-US" sz="1700" dirty="0">
                <a:solidFill>
                  <a:srgbClr val="24303F"/>
                </a:solidFill>
                <a:latin typeface="Calibri" pitchFamily="34" charset="0"/>
                <a:ea typeface="Calibri" pitchFamily="34" charset="-122"/>
                <a:cs typeface="Calibri" pitchFamily="34" charset="-120"/>
              </a:rPr>
              <a:t>Fundraisers and donate button</a:t>
            </a:r>
            <a:endParaRPr lang="en-US" sz="1700" dirty="0"/>
          </a:p>
          <a:p>
            <a:pPr marL="228600" indent="-228600">
              <a:spcAft>
                <a:spcPts val="1000"/>
              </a:spcAft>
              <a:buSzPct val="100000"/>
              <a:buChar char="•"/>
            </a:pPr>
            <a:r>
              <a:rPr lang="en-US" sz="1700" dirty="0">
                <a:solidFill>
                  <a:srgbClr val="24303F"/>
                </a:solidFill>
                <a:latin typeface="Calibri" pitchFamily="34" charset="0"/>
                <a:ea typeface="Calibri" pitchFamily="34" charset="-122"/>
                <a:cs typeface="Calibri" pitchFamily="34" charset="-120"/>
              </a:rPr>
              <a:t>Longer community posts</a:t>
            </a:r>
            <a:endParaRPr lang="en-US" sz="1700" dirty="0"/>
          </a:p>
        </p:txBody>
      </p:sp>
      <p:sp>
        <p:nvSpPr>
          <p:cNvPr id="9" name="Shape 6"/>
          <p:cNvSpPr/>
          <p:nvPr/>
        </p:nvSpPr>
        <p:spPr>
          <a:xfrm>
            <a:off x="6245352" y="1737360"/>
            <a:ext cx="5394960" cy="4206240"/>
          </a:xfrm>
          <a:prstGeom prst="roundRect">
            <a:avLst>
              <a:gd name="adj" fmla="val 2609"/>
            </a:avLst>
          </a:prstGeom>
          <a:solidFill>
            <a:srgbClr val="1E2A44"/>
          </a:solidFill>
          <a:ln/>
          <a:effectLst>
            <a:outerShdw sx="100000" sy="100000" kx="0" ky="0" algn="bl" rotWithShape="0" blurRad="101600" dist="38100" dir="5400000">
              <a:srgbClr val="9AA6B8">
                <a:alpha val="35000"/>
              </a:srgbClr>
            </a:outerShdw>
          </a:effectLst>
        </p:spPr>
      </p:sp>
      <p:sp>
        <p:nvSpPr>
          <p:cNvPr id="10" name="Text 7"/>
          <p:cNvSpPr/>
          <p:nvPr/>
        </p:nvSpPr>
        <p:spPr>
          <a:xfrm>
            <a:off x="6629400" y="2011680"/>
            <a:ext cx="4754880" cy="50292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Why We Selected It</a:t>
            </a:r>
            <a:endParaRPr lang="en-US" sz="2000" dirty="0"/>
          </a:p>
        </p:txBody>
      </p:sp>
      <p:sp>
        <p:nvSpPr>
          <p:cNvPr id="11" name="Text 8"/>
          <p:cNvSpPr/>
          <p:nvPr/>
        </p:nvSpPr>
        <p:spPr>
          <a:xfrm>
            <a:off x="6629400" y="2651760"/>
            <a:ext cx="4754880" cy="3108960"/>
          </a:xfrm>
          <a:prstGeom prst="rect">
            <a:avLst/>
          </a:prstGeom>
          <a:noFill/>
          <a:ln/>
        </p:spPr>
        <p:txBody>
          <a:bodyPr wrap="square" rtlCol="0" anchor="ctr"/>
          <a:lstStyle/>
          <a:p>
            <a:pPr marL="228600" indent="-228600">
              <a:spcAft>
                <a:spcPts val="1000"/>
              </a:spcAft>
              <a:buSzPct val="100000"/>
              <a:buChar char="•"/>
            </a:pPr>
            <a:r>
              <a:rPr lang="en-US" sz="1700" dirty="0">
                <a:solidFill>
                  <a:srgbClr val="E6ECF7"/>
                </a:solidFill>
                <a:latin typeface="Calibri" pitchFamily="34" charset="0"/>
                <a:ea typeface="Calibri" pitchFamily="34" charset="-122"/>
                <a:cs typeface="Calibri" pitchFamily="34" charset="-120"/>
              </a:rPr>
              <a:t>Local Richmond community hub</a:t>
            </a:r>
            <a:endParaRPr lang="en-US" sz="1700" dirty="0"/>
          </a:p>
          <a:p>
            <a:pPr marL="228600" indent="-228600">
              <a:spcAft>
                <a:spcPts val="1000"/>
              </a:spcAft>
              <a:buSzPct val="100000"/>
              <a:buChar char="•"/>
            </a:pPr>
            <a:r>
              <a:rPr lang="en-US" sz="1700" dirty="0">
                <a:solidFill>
                  <a:srgbClr val="E6ECF7"/>
                </a:solidFill>
                <a:latin typeface="Calibri" pitchFamily="34" charset="0"/>
                <a:ea typeface="Calibri" pitchFamily="34" charset="-122"/>
                <a:cs typeface="Calibri" pitchFamily="34" charset="-120"/>
              </a:rPr>
              <a:t>Reaches running clubs, older donors</a:t>
            </a:r>
            <a:endParaRPr lang="en-US" sz="1700" dirty="0"/>
          </a:p>
          <a:p>
            <a:pPr marL="228600" indent="-228600">
              <a:spcAft>
                <a:spcPts val="1000"/>
              </a:spcAft>
              <a:buSzPct val="100000"/>
              <a:buChar char="•"/>
            </a:pPr>
            <a:r>
              <a:rPr lang="en-US" sz="1700" dirty="0">
                <a:solidFill>
                  <a:srgbClr val="E6ECF7"/>
                </a:solidFill>
                <a:latin typeface="Calibri" pitchFamily="34" charset="0"/>
                <a:ea typeface="Calibri" pitchFamily="34" charset="-122"/>
                <a:cs typeface="Calibri" pitchFamily="34" charset="-120"/>
              </a:rPr>
              <a:t>Organizes real-world drives</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256032"/>
            <a:ext cx="10972800" cy="320040"/>
          </a:xfrm>
          <a:prstGeom prst="rect">
            <a:avLst/>
          </a:prstGeom>
          <a:noFill/>
          <a:ln/>
        </p:spPr>
        <p:txBody>
          <a:bodyPr wrap="square" rtlCol="0" anchor="ctr"/>
          <a:lstStyle/>
          <a:p>
            <a:pPr indent="0" marL="0">
              <a:buNone/>
            </a:pPr>
            <a:r>
              <a:rPr lang="en-US" sz="1200" b="1" spc="300" kern="0" dirty="0">
                <a:solidFill>
                  <a:srgbClr val="FF6B4A"/>
                </a:solidFill>
                <a:latin typeface="Calibri" pitchFamily="34" charset="0"/>
                <a:ea typeface="Calibri" pitchFamily="34" charset="-122"/>
                <a:cs typeface="Calibri" pitchFamily="34" charset="-120"/>
              </a:rPr>
              <a:t>DIGITAL MEDIA  •  MOBILE TECHNOLOGY</a:t>
            </a:r>
            <a:endParaRPr lang="en-US" sz="1200" dirty="0"/>
          </a:p>
        </p:txBody>
      </p:sp>
      <p:sp>
        <p:nvSpPr>
          <p:cNvPr id="3" name="Text 1"/>
          <p:cNvSpPr/>
          <p:nvPr/>
        </p:nvSpPr>
        <p:spPr>
          <a:xfrm>
            <a:off x="548640" y="457200"/>
            <a:ext cx="11064240" cy="822960"/>
          </a:xfrm>
          <a:prstGeom prst="rect">
            <a:avLst/>
          </a:prstGeom>
          <a:noFill/>
          <a:ln/>
        </p:spPr>
        <p:txBody>
          <a:bodyPr wrap="square" rtlCol="0" anchor="ctr"/>
          <a:lstStyle/>
          <a:p>
            <a:pPr algn="l" indent="0" marL="0">
              <a:buNone/>
            </a:pPr>
            <a:r>
              <a:rPr lang="en-US" sz="3400" b="1" dirty="0">
                <a:solidFill>
                  <a:srgbClr val="1E2A44"/>
                </a:solidFill>
                <a:latin typeface="Cambria" pitchFamily="34" charset="0"/>
                <a:ea typeface="Cambria" pitchFamily="34" charset="-122"/>
                <a:cs typeface="Cambria" pitchFamily="34" charset="-120"/>
              </a:rPr>
              <a:t>Mobile: Meet Them Moving</a:t>
            </a:r>
            <a:endParaRPr lang="en-US" sz="3400" dirty="0"/>
          </a:p>
        </p:txBody>
      </p:sp>
      <p:sp>
        <p:nvSpPr>
          <p:cNvPr id="4" name="Shape 2"/>
          <p:cNvSpPr/>
          <p:nvPr/>
        </p:nvSpPr>
        <p:spPr>
          <a:xfrm>
            <a:off x="548640" y="1737360"/>
            <a:ext cx="5394960" cy="4206240"/>
          </a:xfrm>
          <a:prstGeom prst="roundRect">
            <a:avLst>
              <a:gd name="adj" fmla="val 2609"/>
            </a:avLst>
          </a:prstGeom>
          <a:solidFill>
            <a:srgbClr val="F3F6FB"/>
          </a:solidFill>
          <a:ln/>
          <a:effectLst>
            <a:outerShdw sx="100000" sy="100000" kx="0" ky="0" algn="bl" rotWithShape="0" blurRad="101600" dist="38100" dir="5400000">
              <a:srgbClr val="9AA6B8">
                <a:alpha val="35000"/>
              </a:srgbClr>
            </a:outerShdw>
          </a:effectLst>
        </p:spPr>
      </p:sp>
      <p:sp>
        <p:nvSpPr>
          <p:cNvPr id="5" name="Shape 3"/>
          <p:cNvSpPr/>
          <p:nvPr/>
        </p:nvSpPr>
        <p:spPr>
          <a:xfrm>
            <a:off x="868680" y="2057400"/>
            <a:ext cx="914400" cy="914400"/>
          </a:xfrm>
          <a:prstGeom prst="ellipse">
            <a:avLst/>
          </a:prstGeom>
          <a:solidFill>
            <a:srgbClr val="FF6B4A"/>
          </a:solidFill>
          <a:ln/>
        </p:spPr>
      </p:sp>
      <p:pic>
        <p:nvPicPr>
          <p:cNvPr id="6" name="Image 0" descr="preencoded.png">    </p:cNvPr>
          <p:cNvPicPr>
            <a:picLocks noChangeAspect="1"/>
          </p:cNvPicPr>
          <p:nvPr/>
        </p:nvPicPr>
        <p:blipFill>
          <a:blip r:embed="rId1"/>
          <a:stretch>
            <a:fillRect/>
          </a:stretch>
        </p:blipFill>
        <p:spPr>
          <a:xfrm>
            <a:off x="1115568" y="2304288"/>
            <a:ext cx="420624" cy="420624"/>
          </a:xfrm>
          <a:prstGeom prst="rect">
            <a:avLst/>
          </a:prstGeom>
        </p:spPr>
      </p:pic>
      <p:sp>
        <p:nvSpPr>
          <p:cNvPr id="7" name="Text 4"/>
          <p:cNvSpPr/>
          <p:nvPr/>
        </p:nvSpPr>
        <p:spPr>
          <a:xfrm>
            <a:off x="1920240" y="2194560"/>
            <a:ext cx="3840480" cy="640080"/>
          </a:xfrm>
          <a:prstGeom prst="rect">
            <a:avLst/>
          </a:prstGeom>
          <a:noFill/>
          <a:ln/>
        </p:spPr>
        <p:txBody>
          <a:bodyPr wrap="square" rtlCol="0" anchor="ctr"/>
          <a:lstStyle/>
          <a:p>
            <a:pPr indent="0" marL="0">
              <a:buNone/>
            </a:pPr>
            <a:r>
              <a:rPr lang="en-US" sz="1800" b="1" dirty="0">
                <a:solidFill>
                  <a:srgbClr val="1E2A44"/>
                </a:solidFill>
                <a:latin typeface="Cambria" pitchFamily="34" charset="0"/>
                <a:ea typeface="Cambria" pitchFamily="34" charset="-122"/>
                <a:cs typeface="Cambria" pitchFamily="34" charset="-120"/>
              </a:rPr>
              <a:t>Strava: “Miles for Soles”</a:t>
            </a:r>
            <a:endParaRPr lang="en-US" sz="1800" dirty="0"/>
          </a:p>
        </p:txBody>
      </p:sp>
      <p:sp>
        <p:nvSpPr>
          <p:cNvPr id="8" name="Text 5"/>
          <p:cNvSpPr/>
          <p:nvPr/>
        </p:nvSpPr>
        <p:spPr>
          <a:xfrm>
            <a:off x="914400" y="3108960"/>
            <a:ext cx="4754880" cy="2651760"/>
          </a:xfrm>
          <a:prstGeom prst="rect">
            <a:avLst/>
          </a:prstGeom>
          <a:noFill/>
          <a:ln/>
        </p:spPr>
        <p:txBody>
          <a:bodyPr wrap="square" rtlCol="0" anchor="ctr"/>
          <a:lstStyle/>
          <a:p>
            <a:pPr marL="228600" indent="-228600">
              <a:spcAft>
                <a:spcPts val="1000"/>
              </a:spcAft>
              <a:buSzPct val="100000"/>
              <a:buChar char="•"/>
            </a:pPr>
            <a:r>
              <a:rPr lang="en-US" sz="1700" dirty="0">
                <a:solidFill>
                  <a:srgbClr val="24303F"/>
                </a:solidFill>
                <a:latin typeface="Calibri" pitchFamily="34" charset="0"/>
                <a:ea typeface="Calibri" pitchFamily="34" charset="-122"/>
                <a:cs typeface="Calibri" pitchFamily="34" charset="-120"/>
              </a:rPr>
              <a:t>Log miles in the app</a:t>
            </a:r>
            <a:endParaRPr lang="en-US" sz="1700" dirty="0"/>
          </a:p>
          <a:p>
            <a:pPr marL="228600" indent="-228600">
              <a:spcAft>
                <a:spcPts val="1000"/>
              </a:spcAft>
              <a:buSzPct val="100000"/>
              <a:buChar char="•"/>
            </a:pPr>
            <a:r>
              <a:rPr lang="en-US" sz="1700" dirty="0">
                <a:solidFill>
                  <a:srgbClr val="24303F"/>
                </a:solidFill>
                <a:latin typeface="Calibri" pitchFamily="34" charset="0"/>
                <a:ea typeface="Calibri" pitchFamily="34" charset="-122"/>
                <a:cs typeface="Calibri" pitchFamily="34" charset="-120"/>
              </a:rPr>
              <a:t>Join the September club</a:t>
            </a:r>
            <a:endParaRPr lang="en-US" sz="1700" dirty="0"/>
          </a:p>
          <a:p>
            <a:pPr marL="228600" indent="-228600">
              <a:spcAft>
                <a:spcPts val="1000"/>
              </a:spcAft>
              <a:buSzPct val="100000"/>
              <a:buChar char="•"/>
            </a:pPr>
            <a:r>
              <a:rPr lang="en-US" sz="1700" dirty="0">
                <a:solidFill>
                  <a:srgbClr val="24303F"/>
                </a:solidFill>
                <a:latin typeface="Calibri" pitchFamily="34" charset="0"/>
                <a:ea typeface="Calibri" pitchFamily="34" charset="-122"/>
                <a:cs typeface="Calibri" pitchFamily="34" charset="-120"/>
              </a:rPr>
              <a:t>Mileage unlocks donated shoes</a:t>
            </a:r>
            <a:endParaRPr lang="en-US" sz="1700" dirty="0"/>
          </a:p>
        </p:txBody>
      </p:sp>
      <p:sp>
        <p:nvSpPr>
          <p:cNvPr id="9" name="Shape 6"/>
          <p:cNvSpPr/>
          <p:nvPr/>
        </p:nvSpPr>
        <p:spPr>
          <a:xfrm>
            <a:off x="6245352" y="1737360"/>
            <a:ext cx="5394960" cy="4206240"/>
          </a:xfrm>
          <a:prstGeom prst="roundRect">
            <a:avLst>
              <a:gd name="adj" fmla="val 2609"/>
            </a:avLst>
          </a:prstGeom>
          <a:solidFill>
            <a:srgbClr val="1E2A44"/>
          </a:solidFill>
          <a:ln/>
          <a:effectLst>
            <a:outerShdw sx="100000" sy="100000" kx="0" ky="0" algn="bl" rotWithShape="0" blurRad="101600" dist="38100" dir="5400000">
              <a:srgbClr val="9AA6B8">
                <a:alpha val="35000"/>
              </a:srgbClr>
            </a:outerShdw>
          </a:effectLst>
        </p:spPr>
      </p:sp>
      <p:sp>
        <p:nvSpPr>
          <p:cNvPr id="10" name="Shape 7"/>
          <p:cNvSpPr/>
          <p:nvPr/>
        </p:nvSpPr>
        <p:spPr>
          <a:xfrm>
            <a:off x="6583680" y="2057400"/>
            <a:ext cx="914400" cy="914400"/>
          </a:xfrm>
          <a:prstGeom prst="ellipse">
            <a:avLst/>
          </a:prstGeom>
          <a:solidFill>
            <a:srgbClr val="FF6B4A"/>
          </a:solidFill>
          <a:ln/>
        </p:spPr>
      </p:sp>
      <p:pic>
        <p:nvPicPr>
          <p:cNvPr id="11" name="Image 1" descr="preencoded.png">    </p:cNvPr>
          <p:cNvPicPr>
            <a:picLocks noChangeAspect="1"/>
          </p:cNvPicPr>
          <p:nvPr/>
        </p:nvPicPr>
        <p:blipFill>
          <a:blip r:embed="rId2"/>
          <a:stretch>
            <a:fillRect/>
          </a:stretch>
        </p:blipFill>
        <p:spPr>
          <a:xfrm>
            <a:off x="6830568" y="2304288"/>
            <a:ext cx="420624" cy="420624"/>
          </a:xfrm>
          <a:prstGeom prst="rect">
            <a:avLst/>
          </a:prstGeom>
        </p:spPr>
      </p:pic>
      <p:sp>
        <p:nvSpPr>
          <p:cNvPr id="12" name="Text 8"/>
          <p:cNvSpPr/>
          <p:nvPr/>
        </p:nvSpPr>
        <p:spPr>
          <a:xfrm>
            <a:off x="7635240" y="2194560"/>
            <a:ext cx="3840480" cy="64008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Text-to-Give &amp; QR</a:t>
            </a:r>
            <a:endParaRPr lang="en-US" sz="1800" dirty="0"/>
          </a:p>
        </p:txBody>
      </p:sp>
      <p:sp>
        <p:nvSpPr>
          <p:cNvPr id="13" name="Text 9"/>
          <p:cNvSpPr/>
          <p:nvPr/>
        </p:nvSpPr>
        <p:spPr>
          <a:xfrm>
            <a:off x="6629400" y="3108960"/>
            <a:ext cx="4754880" cy="2651760"/>
          </a:xfrm>
          <a:prstGeom prst="rect">
            <a:avLst/>
          </a:prstGeom>
          <a:noFill/>
          <a:ln/>
        </p:spPr>
        <p:txBody>
          <a:bodyPr wrap="square" rtlCol="0" anchor="ctr"/>
          <a:lstStyle/>
          <a:p>
            <a:pPr marL="228600" indent="-228600">
              <a:spcAft>
                <a:spcPts val="1000"/>
              </a:spcAft>
              <a:buSzPct val="100000"/>
              <a:buChar char="•"/>
            </a:pPr>
            <a:r>
              <a:rPr lang="en-US" sz="1700" dirty="0">
                <a:solidFill>
                  <a:srgbClr val="E6ECF7"/>
                </a:solidFill>
                <a:latin typeface="Calibri" pitchFamily="34" charset="0"/>
                <a:ea typeface="Calibri" pitchFamily="34" charset="-122"/>
                <a:cs typeface="Calibri" pitchFamily="34" charset="-120"/>
              </a:rPr>
              <a:t>Text a keyword to give</a:t>
            </a:r>
            <a:endParaRPr lang="en-US" sz="1700" dirty="0"/>
          </a:p>
          <a:p>
            <a:pPr marL="228600" indent="-228600">
              <a:spcAft>
                <a:spcPts val="1000"/>
              </a:spcAft>
              <a:buSzPct val="100000"/>
              <a:buChar char="•"/>
            </a:pPr>
            <a:r>
              <a:rPr lang="en-US" sz="1700" dirty="0">
                <a:solidFill>
                  <a:srgbClr val="E6ECF7"/>
                </a:solidFill>
                <a:latin typeface="Calibri" pitchFamily="34" charset="0"/>
                <a:ea typeface="Calibri" pitchFamily="34" charset="-122"/>
                <a:cs typeface="Calibri" pitchFamily="34" charset="-120"/>
              </a:rPr>
              <a:t>Scan a QR code anywhere</a:t>
            </a:r>
            <a:endParaRPr lang="en-US" sz="1700" dirty="0"/>
          </a:p>
          <a:p>
            <a:pPr marL="228600" indent="-228600">
              <a:spcAft>
                <a:spcPts val="1000"/>
              </a:spcAft>
              <a:buSzPct val="100000"/>
              <a:buChar char="•"/>
            </a:pPr>
            <a:r>
              <a:rPr lang="en-US" sz="1700" dirty="0">
                <a:solidFill>
                  <a:srgbClr val="E6ECF7"/>
                </a:solidFill>
                <a:latin typeface="Calibri" pitchFamily="34" charset="0"/>
                <a:ea typeface="Calibri" pitchFamily="34" charset="-122"/>
                <a:cs typeface="Calibri" pitchFamily="34" charset="-120"/>
              </a:rPr>
              <a:t>Mobile page, gift in seconds</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256032"/>
            <a:ext cx="10972800" cy="320040"/>
          </a:xfrm>
          <a:prstGeom prst="rect">
            <a:avLst/>
          </a:prstGeom>
          <a:noFill/>
          <a:ln/>
        </p:spPr>
        <p:txBody>
          <a:bodyPr wrap="square" rtlCol="0" anchor="ctr"/>
          <a:lstStyle/>
          <a:p>
            <a:pPr indent="0" marL="0">
              <a:buNone/>
            </a:pPr>
            <a:r>
              <a:rPr lang="en-US" sz="1200" b="1" spc="300" kern="0" dirty="0">
                <a:solidFill>
                  <a:srgbClr val="FF6B4A"/>
                </a:solidFill>
                <a:latin typeface="Calibri" pitchFamily="34" charset="0"/>
                <a:ea typeface="Calibri" pitchFamily="34" charset="-122"/>
                <a:cs typeface="Calibri" pitchFamily="34" charset="-120"/>
              </a:rPr>
              <a:t>DIGITAL MEDIA  •  BLOGGING</a:t>
            </a:r>
            <a:endParaRPr lang="en-US" sz="1200" dirty="0"/>
          </a:p>
        </p:txBody>
      </p:sp>
      <p:sp>
        <p:nvSpPr>
          <p:cNvPr id="3" name="Text 1"/>
          <p:cNvSpPr/>
          <p:nvPr/>
        </p:nvSpPr>
        <p:spPr>
          <a:xfrm>
            <a:off x="548640" y="457200"/>
            <a:ext cx="11064240" cy="822960"/>
          </a:xfrm>
          <a:prstGeom prst="rect">
            <a:avLst/>
          </a:prstGeom>
          <a:noFill/>
          <a:ln/>
        </p:spPr>
        <p:txBody>
          <a:bodyPr wrap="square" rtlCol="0" anchor="ctr"/>
          <a:lstStyle/>
          <a:p>
            <a:pPr algn="l" indent="0" marL="0">
              <a:buNone/>
            </a:pPr>
            <a:r>
              <a:rPr lang="en-US" sz="3400" b="1" dirty="0">
                <a:solidFill>
                  <a:srgbClr val="1E2A44"/>
                </a:solidFill>
                <a:latin typeface="Cambria" pitchFamily="34" charset="0"/>
                <a:ea typeface="Cambria" pitchFamily="34" charset="-122"/>
                <a:cs typeface="Cambria" pitchFamily="34" charset="-120"/>
              </a:rPr>
              <a:t>Blog: The Campaign Home</a:t>
            </a:r>
            <a:endParaRPr lang="en-US" sz="3400" dirty="0"/>
          </a:p>
        </p:txBody>
      </p:sp>
      <p:sp>
        <p:nvSpPr>
          <p:cNvPr id="4" name="Shape 2"/>
          <p:cNvSpPr/>
          <p:nvPr/>
        </p:nvSpPr>
        <p:spPr>
          <a:xfrm>
            <a:off x="10195560" y="256032"/>
            <a:ext cx="1234440" cy="1234440"/>
          </a:xfrm>
          <a:prstGeom prst="ellipse">
            <a:avLst/>
          </a:prstGeom>
          <a:solidFill>
            <a:srgbClr val="FF6B4A"/>
          </a:solidFill>
          <a:ln/>
        </p:spPr>
      </p:sp>
      <p:pic>
        <p:nvPicPr>
          <p:cNvPr id="5" name="Image 0" descr="preencoded.png">    </p:cNvPr>
          <p:cNvPicPr>
            <a:picLocks noChangeAspect="1"/>
          </p:cNvPicPr>
          <p:nvPr/>
        </p:nvPicPr>
        <p:blipFill>
          <a:blip r:embed="rId1"/>
          <a:stretch>
            <a:fillRect/>
          </a:stretch>
        </p:blipFill>
        <p:spPr>
          <a:xfrm>
            <a:off x="10543032" y="603504"/>
            <a:ext cx="539496" cy="539496"/>
          </a:xfrm>
          <a:prstGeom prst="rect">
            <a:avLst/>
          </a:prstGeom>
        </p:spPr>
      </p:pic>
      <p:sp>
        <p:nvSpPr>
          <p:cNvPr id="6" name="Shape 3"/>
          <p:cNvSpPr/>
          <p:nvPr/>
        </p:nvSpPr>
        <p:spPr>
          <a:xfrm>
            <a:off x="548640" y="1783080"/>
            <a:ext cx="11091672" cy="1965960"/>
          </a:xfrm>
          <a:prstGeom prst="roundRect">
            <a:avLst>
              <a:gd name="adj" fmla="val 5581"/>
            </a:avLst>
          </a:prstGeom>
          <a:solidFill>
            <a:srgbClr val="F3F6FB"/>
          </a:solidFill>
          <a:ln/>
          <a:effectLst>
            <a:outerShdw sx="100000" sy="100000" kx="0" ky="0" algn="bl" rotWithShape="0" blurRad="101600" dist="38100" dir="5400000">
              <a:srgbClr val="9AA6B8">
                <a:alpha val="35000"/>
              </a:srgbClr>
            </a:outerShdw>
          </a:effectLst>
        </p:spPr>
      </p:sp>
      <p:sp>
        <p:nvSpPr>
          <p:cNvPr id="7" name="Text 4"/>
          <p:cNvSpPr/>
          <p:nvPr/>
        </p:nvSpPr>
        <p:spPr>
          <a:xfrm>
            <a:off x="914400" y="1965960"/>
            <a:ext cx="10332720" cy="1554480"/>
          </a:xfrm>
          <a:prstGeom prst="rect">
            <a:avLst/>
          </a:prstGeom>
          <a:noFill/>
          <a:ln/>
        </p:spPr>
        <p:txBody>
          <a:bodyPr wrap="square" rtlCol="0" anchor="ctr"/>
          <a:lstStyle/>
          <a:p>
            <a:pPr indent="0" marL="0">
              <a:buNone/>
            </a:pPr>
            <a:r>
              <a:rPr lang="en-US" sz="2000" i="1" dirty="0">
                <a:solidFill>
                  <a:srgbClr val="24303F"/>
                </a:solidFill>
                <a:latin typeface="Calibri" pitchFamily="34" charset="0"/>
                <a:ea typeface="Calibri" pitchFamily="34" charset="-122"/>
                <a:cs typeface="Calibri" pitchFamily="34" charset="-120"/>
              </a:rPr>
              <a:t>Hosted on shood.org — the search-visible archive that ties every channel together</a:t>
            </a:r>
            <a:endParaRPr lang="en-US" sz="2000" dirty="0"/>
          </a:p>
        </p:txBody>
      </p:sp>
      <p:sp>
        <p:nvSpPr>
          <p:cNvPr id="8" name="Shape 5"/>
          <p:cNvSpPr/>
          <p:nvPr/>
        </p:nvSpPr>
        <p:spPr>
          <a:xfrm>
            <a:off x="548640" y="3977640"/>
            <a:ext cx="2615184" cy="2148840"/>
          </a:xfrm>
          <a:prstGeom prst="roundRect">
            <a:avLst>
              <a:gd name="adj" fmla="val 5106"/>
            </a:avLst>
          </a:prstGeom>
          <a:solidFill>
            <a:srgbClr val="FFFFFF"/>
          </a:solidFill>
          <a:ln/>
          <a:effectLst>
            <a:outerShdw sx="100000" sy="100000" kx="0" ky="0" algn="bl" rotWithShape="0" blurRad="101600" dist="38100" dir="5400000">
              <a:srgbClr val="9AA6B8">
                <a:alpha val="35000"/>
              </a:srgbClr>
            </a:outerShdw>
          </a:effectLst>
        </p:spPr>
      </p:sp>
      <p:sp>
        <p:nvSpPr>
          <p:cNvPr id="9" name="Shape 6"/>
          <p:cNvSpPr/>
          <p:nvPr/>
        </p:nvSpPr>
        <p:spPr>
          <a:xfrm>
            <a:off x="1371600" y="4206240"/>
            <a:ext cx="960120" cy="960120"/>
          </a:xfrm>
          <a:prstGeom prst="ellipse">
            <a:avLst/>
          </a:prstGeom>
          <a:solidFill>
            <a:srgbClr val="FF6B4A"/>
          </a:solidFill>
          <a:ln/>
        </p:spPr>
      </p:sp>
      <p:pic>
        <p:nvPicPr>
          <p:cNvPr id="10" name="Image 1" descr="preencoded.png">    </p:cNvPr>
          <p:cNvPicPr>
            <a:picLocks noChangeAspect="1"/>
          </p:cNvPicPr>
          <p:nvPr/>
        </p:nvPicPr>
        <p:blipFill>
          <a:blip r:embed="rId2"/>
          <a:stretch>
            <a:fillRect/>
          </a:stretch>
        </p:blipFill>
        <p:spPr>
          <a:xfrm>
            <a:off x="1627632" y="4462272"/>
            <a:ext cx="448056" cy="448056"/>
          </a:xfrm>
          <a:prstGeom prst="rect">
            <a:avLst/>
          </a:prstGeom>
        </p:spPr>
      </p:pic>
      <p:sp>
        <p:nvSpPr>
          <p:cNvPr id="11" name="Text 7"/>
          <p:cNvSpPr/>
          <p:nvPr/>
        </p:nvSpPr>
        <p:spPr>
          <a:xfrm>
            <a:off x="685800" y="5257800"/>
            <a:ext cx="2340864" cy="777240"/>
          </a:xfrm>
          <a:prstGeom prst="rect">
            <a:avLst/>
          </a:prstGeom>
          <a:noFill/>
          <a:ln/>
        </p:spPr>
        <p:txBody>
          <a:bodyPr wrap="square" rtlCol="0" anchor="ctr"/>
          <a:lstStyle/>
          <a:p>
            <a:pPr algn="ctr" indent="0" marL="0">
              <a:buNone/>
            </a:pPr>
            <a:r>
              <a:rPr lang="en-US" sz="1500" b="1" dirty="0">
                <a:solidFill>
                  <a:srgbClr val="24303F"/>
                </a:solidFill>
                <a:latin typeface="Calibri" pitchFamily="34" charset="0"/>
                <a:ea typeface="Calibri" pitchFamily="34" charset="-122"/>
                <a:cs typeface="Calibri" pitchFamily="34" charset="-120"/>
              </a:rPr>
              <a:t>Depth social can't hold</a:t>
            </a:r>
            <a:endParaRPr lang="en-US" sz="1500" dirty="0"/>
          </a:p>
        </p:txBody>
      </p:sp>
      <p:sp>
        <p:nvSpPr>
          <p:cNvPr id="12" name="Shape 8"/>
          <p:cNvSpPr/>
          <p:nvPr/>
        </p:nvSpPr>
        <p:spPr>
          <a:xfrm>
            <a:off x="3328416" y="3977640"/>
            <a:ext cx="2615184" cy="2148840"/>
          </a:xfrm>
          <a:prstGeom prst="roundRect">
            <a:avLst>
              <a:gd name="adj" fmla="val 5106"/>
            </a:avLst>
          </a:prstGeom>
          <a:solidFill>
            <a:srgbClr val="FFFFFF"/>
          </a:solidFill>
          <a:ln/>
          <a:effectLst>
            <a:outerShdw sx="100000" sy="100000" kx="0" ky="0" algn="bl" rotWithShape="0" blurRad="101600" dist="38100" dir="5400000">
              <a:srgbClr val="9AA6B8">
                <a:alpha val="35000"/>
              </a:srgbClr>
            </a:outerShdw>
          </a:effectLst>
        </p:spPr>
      </p:sp>
      <p:sp>
        <p:nvSpPr>
          <p:cNvPr id="13" name="Shape 9"/>
          <p:cNvSpPr/>
          <p:nvPr/>
        </p:nvSpPr>
        <p:spPr>
          <a:xfrm>
            <a:off x="4151376" y="4206240"/>
            <a:ext cx="960120" cy="960120"/>
          </a:xfrm>
          <a:prstGeom prst="ellipse">
            <a:avLst/>
          </a:prstGeom>
          <a:solidFill>
            <a:srgbClr val="FF6B4A"/>
          </a:solidFill>
          <a:ln/>
        </p:spPr>
      </p:sp>
      <p:pic>
        <p:nvPicPr>
          <p:cNvPr id="14" name="Image 2" descr="preencoded.png">    </p:cNvPr>
          <p:cNvPicPr>
            <a:picLocks noChangeAspect="1"/>
          </p:cNvPicPr>
          <p:nvPr/>
        </p:nvPicPr>
        <p:blipFill>
          <a:blip r:embed="rId3"/>
          <a:stretch>
            <a:fillRect/>
          </a:stretch>
        </p:blipFill>
        <p:spPr>
          <a:xfrm>
            <a:off x="4407408" y="4462272"/>
            <a:ext cx="448056" cy="448056"/>
          </a:xfrm>
          <a:prstGeom prst="rect">
            <a:avLst/>
          </a:prstGeom>
        </p:spPr>
      </p:pic>
      <p:sp>
        <p:nvSpPr>
          <p:cNvPr id="15" name="Text 10"/>
          <p:cNvSpPr/>
          <p:nvPr/>
        </p:nvSpPr>
        <p:spPr>
          <a:xfrm>
            <a:off x="3465576" y="5257800"/>
            <a:ext cx="2340864" cy="777240"/>
          </a:xfrm>
          <a:prstGeom prst="rect">
            <a:avLst/>
          </a:prstGeom>
          <a:noFill/>
          <a:ln/>
        </p:spPr>
        <p:txBody>
          <a:bodyPr wrap="square" rtlCol="0" anchor="ctr"/>
          <a:lstStyle/>
          <a:p>
            <a:pPr algn="ctr" indent="0" marL="0">
              <a:buNone/>
            </a:pPr>
            <a:r>
              <a:rPr lang="en-US" sz="1500" b="1" dirty="0">
                <a:solidFill>
                  <a:srgbClr val="24303F"/>
                </a:solidFill>
                <a:latin typeface="Calibri" pitchFamily="34" charset="0"/>
                <a:ea typeface="Calibri" pitchFamily="34" charset="-122"/>
                <a:cs typeface="Calibri" pitchFamily="34" charset="-120"/>
              </a:rPr>
              <a:t>One long story weekly</a:t>
            </a:r>
            <a:endParaRPr lang="en-US" sz="1500" dirty="0"/>
          </a:p>
        </p:txBody>
      </p:sp>
      <p:sp>
        <p:nvSpPr>
          <p:cNvPr id="16" name="Shape 11"/>
          <p:cNvSpPr/>
          <p:nvPr/>
        </p:nvSpPr>
        <p:spPr>
          <a:xfrm>
            <a:off x="6108192" y="3977640"/>
            <a:ext cx="2615184" cy="2148840"/>
          </a:xfrm>
          <a:prstGeom prst="roundRect">
            <a:avLst>
              <a:gd name="adj" fmla="val 5106"/>
            </a:avLst>
          </a:prstGeom>
          <a:solidFill>
            <a:srgbClr val="FFFFFF"/>
          </a:solidFill>
          <a:ln/>
          <a:effectLst>
            <a:outerShdw sx="100000" sy="100000" kx="0" ky="0" algn="bl" rotWithShape="0" blurRad="101600" dist="38100" dir="5400000">
              <a:srgbClr val="9AA6B8">
                <a:alpha val="35000"/>
              </a:srgbClr>
            </a:outerShdw>
          </a:effectLst>
        </p:spPr>
      </p:sp>
      <p:sp>
        <p:nvSpPr>
          <p:cNvPr id="17" name="Shape 12"/>
          <p:cNvSpPr/>
          <p:nvPr/>
        </p:nvSpPr>
        <p:spPr>
          <a:xfrm>
            <a:off x="6931152" y="4206240"/>
            <a:ext cx="960120" cy="960120"/>
          </a:xfrm>
          <a:prstGeom prst="ellipse">
            <a:avLst/>
          </a:prstGeom>
          <a:solidFill>
            <a:srgbClr val="FF6B4A"/>
          </a:solidFill>
          <a:ln/>
        </p:spPr>
      </p:sp>
      <p:pic>
        <p:nvPicPr>
          <p:cNvPr id="18" name="Image 3" descr="preencoded.png">    </p:cNvPr>
          <p:cNvPicPr>
            <a:picLocks noChangeAspect="1"/>
          </p:cNvPicPr>
          <p:nvPr/>
        </p:nvPicPr>
        <p:blipFill>
          <a:blip r:embed="rId4"/>
          <a:stretch>
            <a:fillRect/>
          </a:stretch>
        </p:blipFill>
        <p:spPr>
          <a:xfrm>
            <a:off x="7187184" y="4462272"/>
            <a:ext cx="448056" cy="448056"/>
          </a:xfrm>
          <a:prstGeom prst="rect">
            <a:avLst/>
          </a:prstGeom>
        </p:spPr>
      </p:pic>
      <p:sp>
        <p:nvSpPr>
          <p:cNvPr id="19" name="Text 13"/>
          <p:cNvSpPr/>
          <p:nvPr/>
        </p:nvSpPr>
        <p:spPr>
          <a:xfrm>
            <a:off x="6245352" y="5257800"/>
            <a:ext cx="2340864" cy="777240"/>
          </a:xfrm>
          <a:prstGeom prst="rect">
            <a:avLst/>
          </a:prstGeom>
          <a:noFill/>
          <a:ln/>
        </p:spPr>
        <p:txBody>
          <a:bodyPr wrap="square" rtlCol="0" anchor="ctr"/>
          <a:lstStyle/>
          <a:p>
            <a:pPr algn="ctr" indent="0" marL="0">
              <a:buNone/>
            </a:pPr>
            <a:r>
              <a:rPr lang="en-US" sz="1500" b="1" dirty="0">
                <a:solidFill>
                  <a:srgbClr val="24303F"/>
                </a:solidFill>
                <a:latin typeface="Calibri" pitchFamily="34" charset="0"/>
                <a:ea typeface="Calibri" pitchFamily="34" charset="-122"/>
                <a:cs typeface="Calibri" pitchFamily="34" charset="-120"/>
              </a:rPr>
              <a:t>Social posts link back</a:t>
            </a:r>
            <a:endParaRPr lang="en-US" sz="1500" dirty="0"/>
          </a:p>
        </p:txBody>
      </p:sp>
      <p:sp>
        <p:nvSpPr>
          <p:cNvPr id="20" name="Shape 14"/>
          <p:cNvSpPr/>
          <p:nvPr/>
        </p:nvSpPr>
        <p:spPr>
          <a:xfrm>
            <a:off x="8887968" y="3977640"/>
            <a:ext cx="2615184" cy="2148840"/>
          </a:xfrm>
          <a:prstGeom prst="roundRect">
            <a:avLst>
              <a:gd name="adj" fmla="val 5106"/>
            </a:avLst>
          </a:prstGeom>
          <a:solidFill>
            <a:srgbClr val="FFFFFF"/>
          </a:solidFill>
          <a:ln/>
          <a:effectLst>
            <a:outerShdw sx="100000" sy="100000" kx="0" ky="0" algn="bl" rotWithShape="0" blurRad="101600" dist="38100" dir="5400000">
              <a:srgbClr val="9AA6B8">
                <a:alpha val="35000"/>
              </a:srgbClr>
            </a:outerShdw>
          </a:effectLst>
        </p:spPr>
      </p:sp>
      <p:sp>
        <p:nvSpPr>
          <p:cNvPr id="21" name="Shape 15"/>
          <p:cNvSpPr/>
          <p:nvPr/>
        </p:nvSpPr>
        <p:spPr>
          <a:xfrm>
            <a:off x="9710928" y="4206240"/>
            <a:ext cx="960120" cy="960120"/>
          </a:xfrm>
          <a:prstGeom prst="ellipse">
            <a:avLst/>
          </a:prstGeom>
          <a:solidFill>
            <a:srgbClr val="FF6B4A"/>
          </a:solidFill>
          <a:ln/>
        </p:spPr>
      </p:sp>
      <p:pic>
        <p:nvPicPr>
          <p:cNvPr id="22" name="Image 4" descr="preencoded.png">    </p:cNvPr>
          <p:cNvPicPr>
            <a:picLocks noChangeAspect="1"/>
          </p:cNvPicPr>
          <p:nvPr/>
        </p:nvPicPr>
        <p:blipFill>
          <a:blip r:embed="rId5"/>
          <a:stretch>
            <a:fillRect/>
          </a:stretch>
        </p:blipFill>
        <p:spPr>
          <a:xfrm>
            <a:off x="9966960" y="4462272"/>
            <a:ext cx="448056" cy="448056"/>
          </a:xfrm>
          <a:prstGeom prst="rect">
            <a:avLst/>
          </a:prstGeom>
        </p:spPr>
      </p:pic>
      <p:sp>
        <p:nvSpPr>
          <p:cNvPr id="23" name="Text 16"/>
          <p:cNvSpPr/>
          <p:nvPr/>
        </p:nvSpPr>
        <p:spPr>
          <a:xfrm>
            <a:off x="9025128" y="5257800"/>
            <a:ext cx="2340864" cy="777240"/>
          </a:xfrm>
          <a:prstGeom prst="rect">
            <a:avLst/>
          </a:prstGeom>
          <a:noFill/>
          <a:ln/>
        </p:spPr>
        <p:txBody>
          <a:bodyPr wrap="square" rtlCol="0" anchor="ctr"/>
          <a:lstStyle/>
          <a:p>
            <a:pPr algn="ctr" indent="0" marL="0">
              <a:buNone/>
            </a:pPr>
            <a:r>
              <a:rPr lang="en-US" sz="1500" b="1" dirty="0">
                <a:solidFill>
                  <a:srgbClr val="24303F"/>
                </a:solidFill>
                <a:latin typeface="Calibri" pitchFamily="34" charset="0"/>
                <a:ea typeface="Calibri" pitchFamily="34" charset="-122"/>
                <a:cs typeface="Calibri" pitchFamily="34" charset="-120"/>
              </a:rPr>
              <a:t>Every post ends in action</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256032"/>
            <a:ext cx="10972800" cy="320040"/>
          </a:xfrm>
          <a:prstGeom prst="rect">
            <a:avLst/>
          </a:prstGeom>
          <a:noFill/>
          <a:ln/>
        </p:spPr>
        <p:txBody>
          <a:bodyPr wrap="square" rtlCol="0" anchor="ctr"/>
          <a:lstStyle/>
          <a:p>
            <a:pPr indent="0" marL="0">
              <a:buNone/>
            </a:pPr>
            <a:r>
              <a:rPr lang="en-US" sz="1200" b="1" spc="300" kern="0" dirty="0">
                <a:solidFill>
                  <a:srgbClr val="FF6B4A"/>
                </a:solidFill>
                <a:latin typeface="Calibri" pitchFamily="34" charset="0"/>
                <a:ea typeface="Calibri" pitchFamily="34" charset="-122"/>
                <a:cs typeface="Calibri" pitchFamily="34" charset="-120"/>
              </a:rPr>
              <a:t>CONTENT EXAMPLES</a:t>
            </a:r>
            <a:endParaRPr lang="en-US" sz="1200" dirty="0"/>
          </a:p>
        </p:txBody>
      </p:sp>
      <p:sp>
        <p:nvSpPr>
          <p:cNvPr id="3" name="Text 1"/>
          <p:cNvSpPr/>
          <p:nvPr/>
        </p:nvSpPr>
        <p:spPr>
          <a:xfrm>
            <a:off x="548640" y="457200"/>
            <a:ext cx="11064240" cy="822960"/>
          </a:xfrm>
          <a:prstGeom prst="rect">
            <a:avLst/>
          </a:prstGeom>
          <a:noFill/>
          <a:ln/>
        </p:spPr>
        <p:txBody>
          <a:bodyPr wrap="square" rtlCol="0" anchor="ctr"/>
          <a:lstStyle/>
          <a:p>
            <a:pPr algn="l" indent="0" marL="0">
              <a:buNone/>
            </a:pPr>
            <a:r>
              <a:rPr lang="en-US" sz="3400" b="1" dirty="0">
                <a:solidFill>
                  <a:srgbClr val="1E2A44"/>
                </a:solidFill>
                <a:latin typeface="Cambria" pitchFamily="34" charset="0"/>
                <a:ea typeface="Cambria" pitchFamily="34" charset="-122"/>
                <a:cs typeface="Cambria" pitchFamily="34" charset="-120"/>
              </a:rPr>
              <a:t>Content That Connects to the Theme</a:t>
            </a:r>
            <a:endParaRPr lang="en-US" sz="3400" dirty="0"/>
          </a:p>
        </p:txBody>
      </p:sp>
      <p:sp>
        <p:nvSpPr>
          <p:cNvPr id="4" name="Shape 2"/>
          <p:cNvSpPr/>
          <p:nvPr/>
        </p:nvSpPr>
        <p:spPr>
          <a:xfrm>
            <a:off x="548640" y="1691640"/>
            <a:ext cx="3575304" cy="4297680"/>
          </a:xfrm>
          <a:prstGeom prst="roundRect">
            <a:avLst>
              <a:gd name="adj" fmla="val 3069"/>
            </a:avLst>
          </a:prstGeom>
          <a:solidFill>
            <a:srgbClr val="F3F6FB"/>
          </a:solidFill>
          <a:ln/>
          <a:effectLst>
            <a:outerShdw sx="100000" sy="100000" kx="0" ky="0" algn="bl" rotWithShape="0" blurRad="101600" dist="38100" dir="5400000">
              <a:srgbClr val="9AA6B8">
                <a:alpha val="35000"/>
              </a:srgbClr>
            </a:outerShdw>
          </a:effectLst>
        </p:spPr>
      </p:sp>
      <p:sp>
        <p:nvSpPr>
          <p:cNvPr id="5" name="Shape 3"/>
          <p:cNvSpPr/>
          <p:nvPr/>
        </p:nvSpPr>
        <p:spPr>
          <a:xfrm>
            <a:off x="868680" y="2011680"/>
            <a:ext cx="914400" cy="914400"/>
          </a:xfrm>
          <a:prstGeom prst="ellipse">
            <a:avLst/>
          </a:prstGeom>
          <a:solidFill>
            <a:srgbClr val="FF6B4A"/>
          </a:solidFill>
          <a:ln/>
        </p:spPr>
      </p:sp>
      <p:pic>
        <p:nvPicPr>
          <p:cNvPr id="6" name="Image 0" descr="preencoded.png">    </p:cNvPr>
          <p:cNvPicPr>
            <a:picLocks noChangeAspect="1"/>
          </p:cNvPicPr>
          <p:nvPr/>
        </p:nvPicPr>
        <p:blipFill>
          <a:blip r:embed="rId1"/>
          <a:stretch>
            <a:fillRect/>
          </a:stretch>
        </p:blipFill>
        <p:spPr>
          <a:xfrm>
            <a:off x="1115568" y="2258568"/>
            <a:ext cx="420624" cy="420624"/>
          </a:xfrm>
          <a:prstGeom prst="rect">
            <a:avLst/>
          </a:prstGeom>
        </p:spPr>
      </p:pic>
      <p:sp>
        <p:nvSpPr>
          <p:cNvPr id="7" name="Text 4"/>
          <p:cNvSpPr/>
          <p:nvPr/>
        </p:nvSpPr>
        <p:spPr>
          <a:xfrm>
            <a:off x="1920240" y="2148840"/>
            <a:ext cx="2103120" cy="640080"/>
          </a:xfrm>
          <a:prstGeom prst="rect">
            <a:avLst/>
          </a:prstGeom>
          <a:noFill/>
          <a:ln/>
        </p:spPr>
        <p:txBody>
          <a:bodyPr wrap="square" rtlCol="0" anchor="ctr"/>
          <a:lstStyle/>
          <a:p>
            <a:pPr indent="0" marL="0">
              <a:buNone/>
            </a:pPr>
            <a:r>
              <a:rPr lang="en-US" sz="2000" b="1" dirty="0">
                <a:solidFill>
                  <a:srgbClr val="1E2A44"/>
                </a:solidFill>
                <a:latin typeface="Cambria" pitchFamily="34" charset="0"/>
                <a:ea typeface="Cambria" pitchFamily="34" charset="-122"/>
                <a:cs typeface="Cambria" pitchFamily="34" charset="-120"/>
              </a:rPr>
              <a:t>Instagram</a:t>
            </a:r>
            <a:endParaRPr lang="en-US" sz="2000" dirty="0"/>
          </a:p>
        </p:txBody>
      </p:sp>
      <p:sp>
        <p:nvSpPr>
          <p:cNvPr id="8" name="Text 5"/>
          <p:cNvSpPr/>
          <p:nvPr/>
        </p:nvSpPr>
        <p:spPr>
          <a:xfrm>
            <a:off x="868680" y="3154680"/>
            <a:ext cx="2926080" cy="731520"/>
          </a:xfrm>
          <a:prstGeom prst="rect">
            <a:avLst/>
          </a:prstGeom>
          <a:noFill/>
          <a:ln/>
        </p:spPr>
        <p:txBody>
          <a:bodyPr wrap="square" rtlCol="0" anchor="ctr"/>
          <a:lstStyle/>
          <a:p>
            <a:pPr indent="0" marL="0">
              <a:buNone/>
            </a:pPr>
            <a:r>
              <a:rPr lang="en-US" sz="1600" b="1" dirty="0">
                <a:solidFill>
                  <a:srgbClr val="24303F"/>
                </a:solidFill>
                <a:latin typeface="Calibri" pitchFamily="34" charset="0"/>
                <a:ea typeface="Calibri" pitchFamily="34" charset="-122"/>
                <a:cs typeface="Calibri" pitchFamily="34" charset="-120"/>
              </a:rPr>
              <a:t>Before / after shoe carousel</a:t>
            </a:r>
            <a:endParaRPr lang="en-US" sz="1600" dirty="0"/>
          </a:p>
        </p:txBody>
      </p:sp>
      <p:sp>
        <p:nvSpPr>
          <p:cNvPr id="9" name="Text 6"/>
          <p:cNvSpPr/>
          <p:nvPr/>
        </p:nvSpPr>
        <p:spPr>
          <a:xfrm>
            <a:off x="868680" y="3977640"/>
            <a:ext cx="2926080" cy="1463040"/>
          </a:xfrm>
          <a:prstGeom prst="rect">
            <a:avLst/>
          </a:prstGeom>
          <a:noFill/>
          <a:ln/>
        </p:spPr>
        <p:txBody>
          <a:bodyPr wrap="square" rtlCol="0" anchor="ctr"/>
          <a:lstStyle/>
          <a:p>
            <a:pPr indent="0" marL="0">
              <a:buNone/>
            </a:pPr>
            <a:r>
              <a:rPr lang="en-US" sz="1700" i="1" dirty="0">
                <a:solidFill>
                  <a:srgbClr val="FF6B4A"/>
                </a:solidFill>
                <a:latin typeface="Cambria" pitchFamily="34" charset="0"/>
                <a:ea typeface="Cambria" pitchFamily="34" charset="-122"/>
                <a:cs typeface="Cambria" pitchFamily="34" charset="-120"/>
              </a:rPr>
              <a:t>“One pair, two lives changed.”</a:t>
            </a:r>
            <a:endParaRPr lang="en-US" sz="1700" dirty="0"/>
          </a:p>
        </p:txBody>
      </p:sp>
      <p:sp>
        <p:nvSpPr>
          <p:cNvPr id="10" name="Shape 7"/>
          <p:cNvSpPr/>
          <p:nvPr/>
        </p:nvSpPr>
        <p:spPr>
          <a:xfrm>
            <a:off x="4261104" y="1691640"/>
            <a:ext cx="3575304" cy="4297680"/>
          </a:xfrm>
          <a:prstGeom prst="roundRect">
            <a:avLst>
              <a:gd name="adj" fmla="val 3069"/>
            </a:avLst>
          </a:prstGeom>
          <a:solidFill>
            <a:srgbClr val="F3F6FB"/>
          </a:solidFill>
          <a:ln/>
          <a:effectLst>
            <a:outerShdw sx="100000" sy="100000" kx="0" ky="0" algn="bl" rotWithShape="0" blurRad="101600" dist="38100" dir="5400000">
              <a:srgbClr val="9AA6B8">
                <a:alpha val="35000"/>
              </a:srgbClr>
            </a:outerShdw>
          </a:effectLst>
        </p:spPr>
      </p:sp>
      <p:sp>
        <p:nvSpPr>
          <p:cNvPr id="11" name="Shape 8"/>
          <p:cNvSpPr/>
          <p:nvPr/>
        </p:nvSpPr>
        <p:spPr>
          <a:xfrm>
            <a:off x="4581144" y="2011680"/>
            <a:ext cx="914400" cy="914400"/>
          </a:xfrm>
          <a:prstGeom prst="ellipse">
            <a:avLst/>
          </a:prstGeom>
          <a:solidFill>
            <a:srgbClr val="FF6B4A"/>
          </a:solidFill>
          <a:ln/>
        </p:spPr>
      </p:sp>
      <p:pic>
        <p:nvPicPr>
          <p:cNvPr id="12" name="Image 1" descr="preencoded.png">    </p:cNvPr>
          <p:cNvPicPr>
            <a:picLocks noChangeAspect="1"/>
          </p:cNvPicPr>
          <p:nvPr/>
        </p:nvPicPr>
        <p:blipFill>
          <a:blip r:embed="rId2"/>
          <a:stretch>
            <a:fillRect/>
          </a:stretch>
        </p:blipFill>
        <p:spPr>
          <a:xfrm>
            <a:off x="4828032" y="2258568"/>
            <a:ext cx="420624" cy="420624"/>
          </a:xfrm>
          <a:prstGeom prst="rect">
            <a:avLst/>
          </a:prstGeom>
        </p:spPr>
      </p:pic>
      <p:sp>
        <p:nvSpPr>
          <p:cNvPr id="13" name="Text 9"/>
          <p:cNvSpPr/>
          <p:nvPr/>
        </p:nvSpPr>
        <p:spPr>
          <a:xfrm>
            <a:off x="5632704" y="2148840"/>
            <a:ext cx="2103120" cy="640080"/>
          </a:xfrm>
          <a:prstGeom prst="rect">
            <a:avLst/>
          </a:prstGeom>
          <a:noFill/>
          <a:ln/>
        </p:spPr>
        <p:txBody>
          <a:bodyPr wrap="square" rtlCol="0" anchor="ctr"/>
          <a:lstStyle/>
          <a:p>
            <a:pPr indent="0" marL="0">
              <a:buNone/>
            </a:pPr>
            <a:r>
              <a:rPr lang="en-US" sz="2000" b="1" dirty="0">
                <a:solidFill>
                  <a:srgbClr val="1E2A44"/>
                </a:solidFill>
                <a:latin typeface="Cambria" pitchFamily="34" charset="0"/>
                <a:ea typeface="Cambria" pitchFamily="34" charset="-122"/>
                <a:cs typeface="Cambria" pitchFamily="34" charset="-120"/>
              </a:rPr>
              <a:t>TikTok</a:t>
            </a:r>
            <a:endParaRPr lang="en-US" sz="2000" dirty="0"/>
          </a:p>
        </p:txBody>
      </p:sp>
      <p:sp>
        <p:nvSpPr>
          <p:cNvPr id="14" name="Text 10"/>
          <p:cNvSpPr/>
          <p:nvPr/>
        </p:nvSpPr>
        <p:spPr>
          <a:xfrm>
            <a:off x="4581144" y="3154680"/>
            <a:ext cx="2926080" cy="731520"/>
          </a:xfrm>
          <a:prstGeom prst="rect">
            <a:avLst/>
          </a:prstGeom>
          <a:noFill/>
          <a:ln/>
        </p:spPr>
        <p:txBody>
          <a:bodyPr wrap="square" rtlCol="0" anchor="ctr"/>
          <a:lstStyle/>
          <a:p>
            <a:pPr indent="0" marL="0">
              <a:buNone/>
            </a:pPr>
            <a:r>
              <a:rPr lang="en-US" sz="1600" b="1" dirty="0">
                <a:solidFill>
                  <a:srgbClr val="24303F"/>
                </a:solidFill>
                <a:latin typeface="Calibri" pitchFamily="34" charset="0"/>
                <a:ea typeface="Calibri" pitchFamily="34" charset="-122"/>
                <a:cs typeface="Calibri" pitchFamily="34" charset="-120"/>
              </a:rPr>
              <a:t>Workshop transformation video</a:t>
            </a:r>
            <a:endParaRPr lang="en-US" sz="1600" dirty="0"/>
          </a:p>
        </p:txBody>
      </p:sp>
      <p:sp>
        <p:nvSpPr>
          <p:cNvPr id="15" name="Text 11"/>
          <p:cNvSpPr/>
          <p:nvPr/>
        </p:nvSpPr>
        <p:spPr>
          <a:xfrm>
            <a:off x="4581144" y="3977640"/>
            <a:ext cx="2926080" cy="1463040"/>
          </a:xfrm>
          <a:prstGeom prst="rect">
            <a:avLst/>
          </a:prstGeom>
          <a:noFill/>
          <a:ln/>
        </p:spPr>
        <p:txBody>
          <a:bodyPr wrap="square" rtlCol="0" anchor="ctr"/>
          <a:lstStyle/>
          <a:p>
            <a:pPr indent="0" marL="0">
              <a:buNone/>
            </a:pPr>
            <a:r>
              <a:rPr lang="en-US" sz="1700" i="1" dirty="0">
                <a:solidFill>
                  <a:srgbClr val="FF6B4A"/>
                </a:solidFill>
                <a:latin typeface="Cambria" pitchFamily="34" charset="0"/>
                <a:ea typeface="Cambria" pitchFamily="34" charset="-122"/>
                <a:cs typeface="Cambria" pitchFamily="34" charset="-120"/>
              </a:rPr>
              <a:t>“Throwaway to fresh start.”</a:t>
            </a:r>
            <a:endParaRPr lang="en-US" sz="1700" dirty="0"/>
          </a:p>
        </p:txBody>
      </p:sp>
      <p:sp>
        <p:nvSpPr>
          <p:cNvPr id="16" name="Shape 12"/>
          <p:cNvSpPr/>
          <p:nvPr/>
        </p:nvSpPr>
        <p:spPr>
          <a:xfrm>
            <a:off x="7973568" y="1691640"/>
            <a:ext cx="3575304" cy="4297680"/>
          </a:xfrm>
          <a:prstGeom prst="roundRect">
            <a:avLst>
              <a:gd name="adj" fmla="val 3069"/>
            </a:avLst>
          </a:prstGeom>
          <a:solidFill>
            <a:srgbClr val="F3F6FB"/>
          </a:solidFill>
          <a:ln/>
          <a:effectLst>
            <a:outerShdw sx="100000" sy="100000" kx="0" ky="0" algn="bl" rotWithShape="0" blurRad="101600" dist="38100" dir="5400000">
              <a:srgbClr val="9AA6B8">
                <a:alpha val="35000"/>
              </a:srgbClr>
            </a:outerShdw>
          </a:effectLst>
        </p:spPr>
      </p:sp>
      <p:sp>
        <p:nvSpPr>
          <p:cNvPr id="17" name="Shape 13"/>
          <p:cNvSpPr/>
          <p:nvPr/>
        </p:nvSpPr>
        <p:spPr>
          <a:xfrm>
            <a:off x="8293608" y="2011680"/>
            <a:ext cx="914400" cy="914400"/>
          </a:xfrm>
          <a:prstGeom prst="ellipse">
            <a:avLst/>
          </a:prstGeom>
          <a:solidFill>
            <a:srgbClr val="FF6B4A"/>
          </a:solidFill>
          <a:ln/>
        </p:spPr>
      </p:sp>
      <p:pic>
        <p:nvPicPr>
          <p:cNvPr id="18" name="Image 2" descr="preencoded.png">    </p:cNvPr>
          <p:cNvPicPr>
            <a:picLocks noChangeAspect="1"/>
          </p:cNvPicPr>
          <p:nvPr/>
        </p:nvPicPr>
        <p:blipFill>
          <a:blip r:embed="rId3"/>
          <a:stretch>
            <a:fillRect/>
          </a:stretch>
        </p:blipFill>
        <p:spPr>
          <a:xfrm>
            <a:off x="8540496" y="2258568"/>
            <a:ext cx="420624" cy="420624"/>
          </a:xfrm>
          <a:prstGeom prst="rect">
            <a:avLst/>
          </a:prstGeom>
        </p:spPr>
      </p:pic>
      <p:sp>
        <p:nvSpPr>
          <p:cNvPr id="19" name="Text 14"/>
          <p:cNvSpPr/>
          <p:nvPr/>
        </p:nvSpPr>
        <p:spPr>
          <a:xfrm>
            <a:off x="9345168" y="2148840"/>
            <a:ext cx="2103120" cy="640080"/>
          </a:xfrm>
          <a:prstGeom prst="rect">
            <a:avLst/>
          </a:prstGeom>
          <a:noFill/>
          <a:ln/>
        </p:spPr>
        <p:txBody>
          <a:bodyPr wrap="square" rtlCol="0" anchor="ctr"/>
          <a:lstStyle/>
          <a:p>
            <a:pPr indent="0" marL="0">
              <a:buNone/>
            </a:pPr>
            <a:r>
              <a:rPr lang="en-US" sz="2000" b="1" dirty="0">
                <a:solidFill>
                  <a:srgbClr val="1E2A44"/>
                </a:solidFill>
                <a:latin typeface="Cambria" pitchFamily="34" charset="0"/>
                <a:ea typeface="Cambria" pitchFamily="34" charset="-122"/>
                <a:cs typeface="Cambria" pitchFamily="34" charset="-120"/>
              </a:rPr>
              <a:t>Facebook</a:t>
            </a:r>
            <a:endParaRPr lang="en-US" sz="2000" dirty="0"/>
          </a:p>
        </p:txBody>
      </p:sp>
      <p:sp>
        <p:nvSpPr>
          <p:cNvPr id="20" name="Text 15"/>
          <p:cNvSpPr/>
          <p:nvPr/>
        </p:nvSpPr>
        <p:spPr>
          <a:xfrm>
            <a:off x="8293608" y="3154680"/>
            <a:ext cx="2926080" cy="731520"/>
          </a:xfrm>
          <a:prstGeom prst="rect">
            <a:avLst/>
          </a:prstGeom>
          <a:noFill/>
          <a:ln/>
        </p:spPr>
        <p:txBody>
          <a:bodyPr wrap="square" rtlCol="0" anchor="ctr"/>
          <a:lstStyle/>
          <a:p>
            <a:pPr indent="0" marL="0">
              <a:buNone/>
            </a:pPr>
            <a:r>
              <a:rPr lang="en-US" sz="1600" b="1" dirty="0">
                <a:solidFill>
                  <a:srgbClr val="24303F"/>
                </a:solidFill>
                <a:latin typeface="Calibri" pitchFamily="34" charset="0"/>
                <a:ea typeface="Calibri" pitchFamily="34" charset="-122"/>
                <a:cs typeface="Calibri" pitchFamily="34" charset="-120"/>
              </a:rPr>
              <a:t>Saturday drive event post</a:t>
            </a:r>
            <a:endParaRPr lang="en-US" sz="1600" dirty="0"/>
          </a:p>
        </p:txBody>
      </p:sp>
      <p:sp>
        <p:nvSpPr>
          <p:cNvPr id="21" name="Text 16"/>
          <p:cNvSpPr/>
          <p:nvPr/>
        </p:nvSpPr>
        <p:spPr>
          <a:xfrm>
            <a:off x="8293608" y="3977640"/>
            <a:ext cx="2926080" cy="1463040"/>
          </a:xfrm>
          <a:prstGeom prst="rect">
            <a:avLst/>
          </a:prstGeom>
          <a:noFill/>
          <a:ln/>
        </p:spPr>
        <p:txBody>
          <a:bodyPr wrap="square" rtlCol="0" anchor="ctr"/>
          <a:lstStyle/>
          <a:p>
            <a:pPr indent="0" marL="0">
              <a:buNone/>
            </a:pPr>
            <a:r>
              <a:rPr lang="en-US" sz="1700" i="1" dirty="0">
                <a:solidFill>
                  <a:srgbClr val="FF6B4A"/>
                </a:solidFill>
                <a:latin typeface="Cambria" pitchFamily="34" charset="0"/>
                <a:ea typeface="Cambria" pitchFamily="34" charset="-122"/>
                <a:cs typeface="Cambria" pitchFamily="34" charset="-120"/>
              </a:rPr>
              <a:t>“Clear your closet, give dignity.”</a:t>
            </a:r>
            <a:endParaRPr lang="en-US" sz="1700" dirty="0"/>
          </a:p>
        </p:txBody>
      </p:sp>
      <p:sp>
        <p:nvSpPr>
          <p:cNvPr id="22" name="Text 17"/>
          <p:cNvSpPr/>
          <p:nvPr/>
        </p:nvSpPr>
        <p:spPr>
          <a:xfrm>
            <a:off x="548640" y="6172200"/>
            <a:ext cx="11064240" cy="457200"/>
          </a:xfrm>
          <a:prstGeom prst="rect">
            <a:avLst/>
          </a:prstGeom>
          <a:noFill/>
          <a:ln/>
        </p:spPr>
        <p:txBody>
          <a:bodyPr wrap="square" rtlCol="0" anchor="ctr"/>
          <a:lstStyle/>
          <a:p>
            <a:pPr algn="ctr" indent="0" marL="0">
              <a:buNone/>
            </a:pPr>
            <a:r>
              <a:rPr lang="en-US" sz="1400" i="1" dirty="0">
                <a:solidFill>
                  <a:srgbClr val="6B7688"/>
                </a:solidFill>
                <a:latin typeface="Calibri" pitchFamily="34" charset="0"/>
                <a:ea typeface="Calibri" pitchFamily="34" charset="-122"/>
                <a:cs typeface="Calibri" pitchFamily="34" charset="-120"/>
              </a:rPr>
              <a:t>Every post literalizes the journey: a discarded sole becomes a message of dignity to another soul.</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256032"/>
            <a:ext cx="10972800" cy="320040"/>
          </a:xfrm>
          <a:prstGeom prst="rect">
            <a:avLst/>
          </a:prstGeom>
          <a:noFill/>
          <a:ln/>
        </p:spPr>
        <p:txBody>
          <a:bodyPr wrap="square" rtlCol="0" anchor="ctr"/>
          <a:lstStyle/>
          <a:p>
            <a:pPr indent="0" marL="0">
              <a:buNone/>
            </a:pPr>
            <a:r>
              <a:rPr lang="en-US" sz="1200" b="1" spc="300" kern="0" dirty="0">
                <a:solidFill>
                  <a:srgbClr val="FF6B4A"/>
                </a:solidFill>
                <a:latin typeface="Calibri" pitchFamily="34" charset="0"/>
                <a:ea typeface="Calibri" pitchFamily="34" charset="-122"/>
                <a:cs typeface="Calibri" pitchFamily="34" charset="-120"/>
              </a:rPr>
              <a:t>USER-GENERATED CONTENT</a:t>
            </a:r>
            <a:endParaRPr lang="en-US" sz="1200" dirty="0"/>
          </a:p>
        </p:txBody>
      </p:sp>
      <p:sp>
        <p:nvSpPr>
          <p:cNvPr id="3" name="Text 1"/>
          <p:cNvSpPr/>
          <p:nvPr/>
        </p:nvSpPr>
        <p:spPr>
          <a:xfrm>
            <a:off x="548640" y="457200"/>
            <a:ext cx="11064240" cy="822960"/>
          </a:xfrm>
          <a:prstGeom prst="rect">
            <a:avLst/>
          </a:prstGeom>
          <a:noFill/>
          <a:ln/>
        </p:spPr>
        <p:txBody>
          <a:bodyPr wrap="square" rtlCol="0" anchor="ctr"/>
          <a:lstStyle/>
          <a:p>
            <a:pPr algn="l" indent="0" marL="0">
              <a:buNone/>
            </a:pPr>
            <a:r>
              <a:rPr lang="en-US" sz="3400" b="1" dirty="0">
                <a:solidFill>
                  <a:srgbClr val="1E2A44"/>
                </a:solidFill>
                <a:latin typeface="Cambria" pitchFamily="34" charset="0"/>
                <a:ea typeface="Cambria" pitchFamily="34" charset="-122"/>
                <a:cs typeface="Cambria" pitchFamily="34" charset="-120"/>
              </a:rPr>
              <a:t>How Supporters Co-Create Each Week</a:t>
            </a:r>
            <a:endParaRPr lang="en-US" sz="3400" dirty="0"/>
          </a:p>
        </p:txBody>
      </p:sp>
      <p:sp>
        <p:nvSpPr>
          <p:cNvPr id="4" name="Shape 2"/>
          <p:cNvSpPr/>
          <p:nvPr/>
        </p:nvSpPr>
        <p:spPr>
          <a:xfrm>
            <a:off x="548640" y="1737360"/>
            <a:ext cx="2688336" cy="4206240"/>
          </a:xfrm>
          <a:prstGeom prst="roundRect">
            <a:avLst>
              <a:gd name="adj" fmla="val 4082"/>
            </a:avLst>
          </a:prstGeom>
          <a:solidFill>
            <a:srgbClr val="F3F6FB"/>
          </a:solidFill>
          <a:ln/>
          <a:effectLst>
            <a:outerShdw sx="100000" sy="100000" kx="0" ky="0" algn="bl" rotWithShape="0" blurRad="101600" dist="38100" dir="5400000">
              <a:srgbClr val="9AA6B8">
                <a:alpha val="35000"/>
              </a:srgbClr>
            </a:outerShdw>
          </a:effectLst>
        </p:spPr>
      </p:sp>
      <p:sp>
        <p:nvSpPr>
          <p:cNvPr id="5" name="Shape 3"/>
          <p:cNvSpPr/>
          <p:nvPr/>
        </p:nvSpPr>
        <p:spPr>
          <a:xfrm>
            <a:off x="1527048" y="2011680"/>
            <a:ext cx="731520" cy="731520"/>
          </a:xfrm>
          <a:prstGeom prst="ellipse">
            <a:avLst/>
          </a:prstGeom>
          <a:solidFill>
            <a:srgbClr val="FF6B4A"/>
          </a:solidFill>
          <a:ln/>
        </p:spPr>
      </p:sp>
      <p:sp>
        <p:nvSpPr>
          <p:cNvPr id="6" name="Text 4"/>
          <p:cNvSpPr/>
          <p:nvPr/>
        </p:nvSpPr>
        <p:spPr>
          <a:xfrm>
            <a:off x="1527048" y="2011680"/>
            <a:ext cx="731520" cy="7315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W1</a:t>
            </a:r>
            <a:endParaRPr lang="en-US" sz="1800" dirty="0"/>
          </a:p>
        </p:txBody>
      </p:sp>
      <p:sp>
        <p:nvSpPr>
          <p:cNvPr id="7" name="Shape 5"/>
          <p:cNvSpPr/>
          <p:nvPr/>
        </p:nvSpPr>
        <p:spPr>
          <a:xfrm>
            <a:off x="1435608" y="2926080"/>
            <a:ext cx="914400" cy="914400"/>
          </a:xfrm>
          <a:prstGeom prst="ellipse">
            <a:avLst/>
          </a:prstGeom>
          <a:solidFill>
            <a:srgbClr val="1E2A44"/>
          </a:solidFill>
          <a:ln/>
        </p:spPr>
      </p:sp>
      <p:pic>
        <p:nvPicPr>
          <p:cNvPr id="8" name="Image 0" descr="preencoded.png">    </p:cNvPr>
          <p:cNvPicPr>
            <a:picLocks noChangeAspect="1"/>
          </p:cNvPicPr>
          <p:nvPr/>
        </p:nvPicPr>
        <p:blipFill>
          <a:blip r:embed="rId1"/>
          <a:stretch>
            <a:fillRect/>
          </a:stretch>
        </p:blipFill>
        <p:spPr>
          <a:xfrm>
            <a:off x="1682496" y="3172968"/>
            <a:ext cx="420624" cy="420624"/>
          </a:xfrm>
          <a:prstGeom prst="rect">
            <a:avLst/>
          </a:prstGeom>
        </p:spPr>
      </p:pic>
      <p:sp>
        <p:nvSpPr>
          <p:cNvPr id="9" name="Text 6"/>
          <p:cNvSpPr/>
          <p:nvPr/>
        </p:nvSpPr>
        <p:spPr>
          <a:xfrm>
            <a:off x="640080" y="3977640"/>
            <a:ext cx="2505456" cy="640080"/>
          </a:xfrm>
          <a:prstGeom prst="rect">
            <a:avLst/>
          </a:prstGeom>
          <a:noFill/>
          <a:ln/>
        </p:spPr>
        <p:txBody>
          <a:bodyPr wrap="square" rtlCol="0" anchor="ctr"/>
          <a:lstStyle/>
          <a:p>
            <a:pPr algn="ctr" indent="0" marL="0">
              <a:buNone/>
            </a:pPr>
            <a:r>
              <a:rPr lang="en-US" sz="1800" b="1" dirty="0">
                <a:solidFill>
                  <a:srgbClr val="1E2A44"/>
                </a:solidFill>
                <a:latin typeface="Cambria" pitchFamily="34" charset="0"/>
                <a:ea typeface="Cambria" pitchFamily="34" charset="-122"/>
                <a:cs typeface="Cambria" pitchFamily="34" charset="-120"/>
              </a:rPr>
              <a:t>Photo Challenge</a:t>
            </a:r>
            <a:endParaRPr lang="en-US" sz="1800" dirty="0"/>
          </a:p>
        </p:txBody>
      </p:sp>
      <p:sp>
        <p:nvSpPr>
          <p:cNvPr id="10" name="Text 7"/>
          <p:cNvSpPr/>
          <p:nvPr/>
        </p:nvSpPr>
        <p:spPr>
          <a:xfrm>
            <a:off x="685800" y="4617720"/>
            <a:ext cx="2414016" cy="1097280"/>
          </a:xfrm>
          <a:prstGeom prst="rect">
            <a:avLst/>
          </a:prstGeom>
          <a:noFill/>
          <a:ln/>
        </p:spPr>
        <p:txBody>
          <a:bodyPr wrap="square" rtlCol="0" anchor="ctr"/>
          <a:lstStyle/>
          <a:p>
            <a:pPr algn="ctr" indent="0" marL="0">
              <a:buNone/>
            </a:pPr>
            <a:r>
              <a:rPr lang="en-US" sz="1400" dirty="0">
                <a:solidFill>
                  <a:srgbClr val="6B7688"/>
                </a:solidFill>
                <a:latin typeface="Calibri" pitchFamily="34" charset="0"/>
                <a:ea typeface="Calibri" pitchFamily="34" charset="-122"/>
                <a:cs typeface="Calibri" pitchFamily="34" charset="-120"/>
              </a:rPr>
              <a:t>Post your donation shoes</a:t>
            </a:r>
            <a:endParaRPr lang="en-US" sz="1400" dirty="0"/>
          </a:p>
        </p:txBody>
      </p:sp>
      <p:sp>
        <p:nvSpPr>
          <p:cNvPr id="11" name="Shape 8"/>
          <p:cNvSpPr/>
          <p:nvPr/>
        </p:nvSpPr>
        <p:spPr>
          <a:xfrm>
            <a:off x="3328416" y="1737360"/>
            <a:ext cx="2688336" cy="4206240"/>
          </a:xfrm>
          <a:prstGeom prst="roundRect">
            <a:avLst>
              <a:gd name="adj" fmla="val 4082"/>
            </a:avLst>
          </a:prstGeom>
          <a:solidFill>
            <a:srgbClr val="F3F6FB"/>
          </a:solidFill>
          <a:ln/>
          <a:effectLst>
            <a:outerShdw sx="100000" sy="100000" kx="0" ky="0" algn="bl" rotWithShape="0" blurRad="101600" dist="38100" dir="5400000">
              <a:srgbClr val="9AA6B8">
                <a:alpha val="35000"/>
              </a:srgbClr>
            </a:outerShdw>
          </a:effectLst>
        </p:spPr>
      </p:sp>
      <p:sp>
        <p:nvSpPr>
          <p:cNvPr id="12" name="Shape 9"/>
          <p:cNvSpPr/>
          <p:nvPr/>
        </p:nvSpPr>
        <p:spPr>
          <a:xfrm>
            <a:off x="4306824" y="2011680"/>
            <a:ext cx="731520" cy="731520"/>
          </a:xfrm>
          <a:prstGeom prst="ellipse">
            <a:avLst/>
          </a:prstGeom>
          <a:solidFill>
            <a:srgbClr val="FF6B4A"/>
          </a:solidFill>
          <a:ln/>
        </p:spPr>
      </p:sp>
      <p:sp>
        <p:nvSpPr>
          <p:cNvPr id="13" name="Text 10"/>
          <p:cNvSpPr/>
          <p:nvPr/>
        </p:nvSpPr>
        <p:spPr>
          <a:xfrm>
            <a:off x="4306824" y="2011680"/>
            <a:ext cx="731520" cy="7315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W2</a:t>
            </a:r>
            <a:endParaRPr lang="en-US" sz="1800" dirty="0"/>
          </a:p>
        </p:txBody>
      </p:sp>
      <p:sp>
        <p:nvSpPr>
          <p:cNvPr id="14" name="Shape 11"/>
          <p:cNvSpPr/>
          <p:nvPr/>
        </p:nvSpPr>
        <p:spPr>
          <a:xfrm>
            <a:off x="4215384" y="2926080"/>
            <a:ext cx="914400" cy="914400"/>
          </a:xfrm>
          <a:prstGeom prst="ellipse">
            <a:avLst/>
          </a:prstGeom>
          <a:solidFill>
            <a:srgbClr val="1E2A44"/>
          </a:solidFill>
          <a:ln/>
        </p:spPr>
      </p:sp>
      <p:pic>
        <p:nvPicPr>
          <p:cNvPr id="15" name="Image 1" descr="preencoded.png">    </p:cNvPr>
          <p:cNvPicPr>
            <a:picLocks noChangeAspect="1"/>
          </p:cNvPicPr>
          <p:nvPr/>
        </p:nvPicPr>
        <p:blipFill>
          <a:blip r:embed="rId2"/>
          <a:stretch>
            <a:fillRect/>
          </a:stretch>
        </p:blipFill>
        <p:spPr>
          <a:xfrm>
            <a:off x="4462272" y="3172968"/>
            <a:ext cx="420624" cy="420624"/>
          </a:xfrm>
          <a:prstGeom prst="rect">
            <a:avLst/>
          </a:prstGeom>
        </p:spPr>
      </p:pic>
      <p:sp>
        <p:nvSpPr>
          <p:cNvPr id="16" name="Text 12"/>
          <p:cNvSpPr/>
          <p:nvPr/>
        </p:nvSpPr>
        <p:spPr>
          <a:xfrm>
            <a:off x="3419856" y="3977640"/>
            <a:ext cx="2505456" cy="640080"/>
          </a:xfrm>
          <a:prstGeom prst="rect">
            <a:avLst/>
          </a:prstGeom>
          <a:noFill/>
          <a:ln/>
        </p:spPr>
        <p:txBody>
          <a:bodyPr wrap="square" rtlCol="0" anchor="ctr"/>
          <a:lstStyle/>
          <a:p>
            <a:pPr algn="ctr" indent="0" marL="0">
              <a:buNone/>
            </a:pPr>
            <a:r>
              <a:rPr lang="en-US" sz="1800" b="1" dirty="0">
                <a:solidFill>
                  <a:srgbClr val="1E2A44"/>
                </a:solidFill>
                <a:latin typeface="Cambria" pitchFamily="34" charset="0"/>
                <a:ea typeface="Cambria" pitchFamily="34" charset="-122"/>
                <a:cs typeface="Cambria" pitchFamily="34" charset="-120"/>
              </a:rPr>
              <a:t>“Why I Run”</a:t>
            </a:r>
            <a:endParaRPr lang="en-US" sz="1800" dirty="0"/>
          </a:p>
        </p:txBody>
      </p:sp>
      <p:sp>
        <p:nvSpPr>
          <p:cNvPr id="17" name="Text 13"/>
          <p:cNvSpPr/>
          <p:nvPr/>
        </p:nvSpPr>
        <p:spPr>
          <a:xfrm>
            <a:off x="3465576" y="4617720"/>
            <a:ext cx="2414016" cy="1097280"/>
          </a:xfrm>
          <a:prstGeom prst="rect">
            <a:avLst/>
          </a:prstGeom>
          <a:noFill/>
          <a:ln/>
        </p:spPr>
        <p:txBody>
          <a:bodyPr wrap="square" rtlCol="0" anchor="ctr"/>
          <a:lstStyle/>
          <a:p>
            <a:pPr algn="ctr" indent="0" marL="0">
              <a:buNone/>
            </a:pPr>
            <a:r>
              <a:rPr lang="en-US" sz="1400" dirty="0">
                <a:solidFill>
                  <a:srgbClr val="6B7688"/>
                </a:solidFill>
                <a:latin typeface="Calibri" pitchFamily="34" charset="0"/>
                <a:ea typeface="Calibri" pitchFamily="34" charset="-122"/>
                <a:cs typeface="Calibri" pitchFamily="34" charset="-120"/>
              </a:rPr>
              <a:t>Share your story sticker</a:t>
            </a:r>
            <a:endParaRPr lang="en-US" sz="1400" dirty="0"/>
          </a:p>
        </p:txBody>
      </p:sp>
      <p:sp>
        <p:nvSpPr>
          <p:cNvPr id="18" name="Shape 14"/>
          <p:cNvSpPr/>
          <p:nvPr/>
        </p:nvSpPr>
        <p:spPr>
          <a:xfrm>
            <a:off x="6108192" y="1737360"/>
            <a:ext cx="2688336" cy="4206240"/>
          </a:xfrm>
          <a:prstGeom prst="roundRect">
            <a:avLst>
              <a:gd name="adj" fmla="val 4082"/>
            </a:avLst>
          </a:prstGeom>
          <a:solidFill>
            <a:srgbClr val="F3F6FB"/>
          </a:solidFill>
          <a:ln/>
          <a:effectLst>
            <a:outerShdw sx="100000" sy="100000" kx="0" ky="0" algn="bl" rotWithShape="0" blurRad="101600" dist="38100" dir="5400000">
              <a:srgbClr val="9AA6B8">
                <a:alpha val="35000"/>
              </a:srgbClr>
            </a:outerShdw>
          </a:effectLst>
        </p:spPr>
      </p:sp>
      <p:sp>
        <p:nvSpPr>
          <p:cNvPr id="19" name="Shape 15"/>
          <p:cNvSpPr/>
          <p:nvPr/>
        </p:nvSpPr>
        <p:spPr>
          <a:xfrm>
            <a:off x="7086600" y="2011680"/>
            <a:ext cx="731520" cy="731520"/>
          </a:xfrm>
          <a:prstGeom prst="ellipse">
            <a:avLst/>
          </a:prstGeom>
          <a:solidFill>
            <a:srgbClr val="FF6B4A"/>
          </a:solidFill>
          <a:ln/>
        </p:spPr>
      </p:sp>
      <p:sp>
        <p:nvSpPr>
          <p:cNvPr id="20" name="Text 16"/>
          <p:cNvSpPr/>
          <p:nvPr/>
        </p:nvSpPr>
        <p:spPr>
          <a:xfrm>
            <a:off x="7086600" y="2011680"/>
            <a:ext cx="731520" cy="7315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W3</a:t>
            </a:r>
            <a:endParaRPr lang="en-US" sz="1800" dirty="0"/>
          </a:p>
        </p:txBody>
      </p:sp>
      <p:sp>
        <p:nvSpPr>
          <p:cNvPr id="21" name="Shape 17"/>
          <p:cNvSpPr/>
          <p:nvPr/>
        </p:nvSpPr>
        <p:spPr>
          <a:xfrm>
            <a:off x="6995160" y="2926080"/>
            <a:ext cx="914400" cy="914400"/>
          </a:xfrm>
          <a:prstGeom prst="ellipse">
            <a:avLst/>
          </a:prstGeom>
          <a:solidFill>
            <a:srgbClr val="1E2A44"/>
          </a:solidFill>
          <a:ln/>
        </p:spPr>
      </p:sp>
      <p:pic>
        <p:nvPicPr>
          <p:cNvPr id="22" name="Image 2" descr="preencoded.png">    </p:cNvPr>
          <p:cNvPicPr>
            <a:picLocks noChangeAspect="1"/>
          </p:cNvPicPr>
          <p:nvPr/>
        </p:nvPicPr>
        <p:blipFill>
          <a:blip r:embed="rId3"/>
          <a:stretch>
            <a:fillRect/>
          </a:stretch>
        </p:blipFill>
        <p:spPr>
          <a:xfrm>
            <a:off x="7242048" y="3172968"/>
            <a:ext cx="420624" cy="420624"/>
          </a:xfrm>
          <a:prstGeom prst="rect">
            <a:avLst/>
          </a:prstGeom>
        </p:spPr>
      </p:pic>
      <p:sp>
        <p:nvSpPr>
          <p:cNvPr id="23" name="Text 18"/>
          <p:cNvSpPr/>
          <p:nvPr/>
        </p:nvSpPr>
        <p:spPr>
          <a:xfrm>
            <a:off x="6199632" y="3977640"/>
            <a:ext cx="2505456" cy="640080"/>
          </a:xfrm>
          <a:prstGeom prst="rect">
            <a:avLst/>
          </a:prstGeom>
          <a:noFill/>
          <a:ln/>
        </p:spPr>
        <p:txBody>
          <a:bodyPr wrap="square" rtlCol="0" anchor="ctr"/>
          <a:lstStyle/>
          <a:p>
            <a:pPr algn="ctr" indent="0" marL="0">
              <a:buNone/>
            </a:pPr>
            <a:r>
              <a:rPr lang="en-US" sz="1800" b="1" dirty="0">
                <a:solidFill>
                  <a:srgbClr val="1E2A44"/>
                </a:solidFill>
                <a:latin typeface="Cambria" pitchFamily="34" charset="0"/>
                <a:ea typeface="Cambria" pitchFamily="34" charset="-122"/>
                <a:cs typeface="Cambria" pitchFamily="34" charset="-120"/>
              </a:rPr>
              <a:t>Miles for Soles</a:t>
            </a:r>
            <a:endParaRPr lang="en-US" sz="1800" dirty="0"/>
          </a:p>
        </p:txBody>
      </p:sp>
      <p:sp>
        <p:nvSpPr>
          <p:cNvPr id="24" name="Text 19"/>
          <p:cNvSpPr/>
          <p:nvPr/>
        </p:nvSpPr>
        <p:spPr>
          <a:xfrm>
            <a:off x="6245352" y="4617720"/>
            <a:ext cx="2414016" cy="1097280"/>
          </a:xfrm>
          <a:prstGeom prst="rect">
            <a:avLst/>
          </a:prstGeom>
          <a:noFill/>
          <a:ln/>
        </p:spPr>
        <p:txBody>
          <a:bodyPr wrap="square" rtlCol="0" anchor="ctr"/>
          <a:lstStyle/>
          <a:p>
            <a:pPr algn="ctr" indent="0" marL="0">
              <a:buNone/>
            </a:pPr>
            <a:r>
              <a:rPr lang="en-US" sz="1400" dirty="0">
                <a:solidFill>
                  <a:srgbClr val="6B7688"/>
                </a:solidFill>
                <a:latin typeface="Calibri" pitchFamily="34" charset="0"/>
                <a:ea typeface="Calibri" pitchFamily="34" charset="-122"/>
                <a:cs typeface="Calibri" pitchFamily="34" charset="-120"/>
              </a:rPr>
              <a:t>Screenshot your Strava totals</a:t>
            </a:r>
            <a:endParaRPr lang="en-US" sz="1400" dirty="0"/>
          </a:p>
        </p:txBody>
      </p:sp>
      <p:sp>
        <p:nvSpPr>
          <p:cNvPr id="25" name="Shape 20"/>
          <p:cNvSpPr/>
          <p:nvPr/>
        </p:nvSpPr>
        <p:spPr>
          <a:xfrm>
            <a:off x="8887968" y="1737360"/>
            <a:ext cx="2688336" cy="4206240"/>
          </a:xfrm>
          <a:prstGeom prst="roundRect">
            <a:avLst>
              <a:gd name="adj" fmla="val 4082"/>
            </a:avLst>
          </a:prstGeom>
          <a:solidFill>
            <a:srgbClr val="F3F6FB"/>
          </a:solidFill>
          <a:ln/>
          <a:effectLst>
            <a:outerShdw sx="100000" sy="100000" kx="0" ky="0" algn="bl" rotWithShape="0" blurRad="101600" dist="38100" dir="5400000">
              <a:srgbClr val="9AA6B8">
                <a:alpha val="35000"/>
              </a:srgbClr>
            </a:outerShdw>
          </a:effectLst>
        </p:spPr>
      </p:sp>
      <p:sp>
        <p:nvSpPr>
          <p:cNvPr id="26" name="Shape 21"/>
          <p:cNvSpPr/>
          <p:nvPr/>
        </p:nvSpPr>
        <p:spPr>
          <a:xfrm>
            <a:off x="9866376" y="2011680"/>
            <a:ext cx="731520" cy="731520"/>
          </a:xfrm>
          <a:prstGeom prst="ellipse">
            <a:avLst/>
          </a:prstGeom>
          <a:solidFill>
            <a:srgbClr val="FF6B4A"/>
          </a:solidFill>
          <a:ln/>
        </p:spPr>
      </p:sp>
      <p:sp>
        <p:nvSpPr>
          <p:cNvPr id="27" name="Text 22"/>
          <p:cNvSpPr/>
          <p:nvPr/>
        </p:nvSpPr>
        <p:spPr>
          <a:xfrm>
            <a:off x="9866376" y="2011680"/>
            <a:ext cx="731520" cy="7315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W4</a:t>
            </a:r>
            <a:endParaRPr lang="en-US" sz="1800" dirty="0"/>
          </a:p>
        </p:txBody>
      </p:sp>
      <p:sp>
        <p:nvSpPr>
          <p:cNvPr id="28" name="Shape 23"/>
          <p:cNvSpPr/>
          <p:nvPr/>
        </p:nvSpPr>
        <p:spPr>
          <a:xfrm>
            <a:off x="9774936" y="2926080"/>
            <a:ext cx="914400" cy="914400"/>
          </a:xfrm>
          <a:prstGeom prst="ellipse">
            <a:avLst/>
          </a:prstGeom>
          <a:solidFill>
            <a:srgbClr val="1E2A44"/>
          </a:solidFill>
          <a:ln/>
        </p:spPr>
      </p:sp>
      <p:pic>
        <p:nvPicPr>
          <p:cNvPr id="29" name="Image 3" descr="preencoded.png">    </p:cNvPr>
          <p:cNvPicPr>
            <a:picLocks noChangeAspect="1"/>
          </p:cNvPicPr>
          <p:nvPr/>
        </p:nvPicPr>
        <p:blipFill>
          <a:blip r:embed="rId4"/>
          <a:stretch>
            <a:fillRect/>
          </a:stretch>
        </p:blipFill>
        <p:spPr>
          <a:xfrm>
            <a:off x="10021824" y="3172968"/>
            <a:ext cx="420624" cy="420624"/>
          </a:xfrm>
          <a:prstGeom prst="rect">
            <a:avLst/>
          </a:prstGeom>
        </p:spPr>
      </p:pic>
      <p:sp>
        <p:nvSpPr>
          <p:cNvPr id="30" name="Text 24"/>
          <p:cNvSpPr/>
          <p:nvPr/>
        </p:nvSpPr>
        <p:spPr>
          <a:xfrm>
            <a:off x="8979408" y="3977640"/>
            <a:ext cx="2505456" cy="640080"/>
          </a:xfrm>
          <a:prstGeom prst="rect">
            <a:avLst/>
          </a:prstGeom>
          <a:noFill/>
          <a:ln/>
        </p:spPr>
        <p:txBody>
          <a:bodyPr wrap="square" rtlCol="0" anchor="ctr"/>
          <a:lstStyle/>
          <a:p>
            <a:pPr algn="ctr" indent="0" marL="0">
              <a:buNone/>
            </a:pPr>
            <a:r>
              <a:rPr lang="en-US" sz="1800" b="1" dirty="0">
                <a:solidFill>
                  <a:srgbClr val="1E2A44"/>
                </a:solidFill>
                <a:latin typeface="Cambria" pitchFamily="34" charset="0"/>
                <a:ea typeface="Cambria" pitchFamily="34" charset="-122"/>
                <a:cs typeface="Cambria" pitchFamily="34" charset="-120"/>
              </a:rPr>
              <a:t>Dignity Quiz</a:t>
            </a:r>
            <a:endParaRPr lang="en-US" sz="1800" dirty="0"/>
          </a:p>
        </p:txBody>
      </p:sp>
      <p:sp>
        <p:nvSpPr>
          <p:cNvPr id="31" name="Text 25"/>
          <p:cNvSpPr/>
          <p:nvPr/>
        </p:nvSpPr>
        <p:spPr>
          <a:xfrm>
            <a:off x="9025128" y="4617720"/>
            <a:ext cx="2414016" cy="1097280"/>
          </a:xfrm>
          <a:prstGeom prst="rect">
            <a:avLst/>
          </a:prstGeom>
          <a:noFill/>
          <a:ln/>
        </p:spPr>
        <p:txBody>
          <a:bodyPr wrap="square" rtlCol="0" anchor="ctr"/>
          <a:lstStyle/>
          <a:p>
            <a:pPr algn="ctr" indent="0" marL="0">
              <a:buNone/>
            </a:pPr>
            <a:r>
              <a:rPr lang="en-US" sz="1400" dirty="0">
                <a:solidFill>
                  <a:srgbClr val="6B7688"/>
                </a:solidFill>
                <a:latin typeface="Calibri" pitchFamily="34" charset="0"/>
                <a:ea typeface="Calibri" pitchFamily="34" charset="-122"/>
                <a:cs typeface="Calibri" pitchFamily="34" charset="-120"/>
              </a:rPr>
              <a:t>Test your shoe-fit know-how</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A44"/>
        </a:solidFill>
      </p:bgPr>
    </p:bg>
    <p:spTree>
      <p:nvGrpSpPr>
        <p:cNvPr id="1" name=""/>
        <p:cNvGrpSpPr/>
        <p:nvPr/>
      </p:nvGrpSpPr>
      <p:grpSpPr>
        <a:xfrm>
          <a:off x="0" y="0"/>
          <a:ext cx="0" cy="0"/>
          <a:chOff x="0" y="0"/>
          <a:chExt cx="0" cy="0"/>
        </a:xfrm>
      </p:grpSpPr>
      <p:sp>
        <p:nvSpPr>
          <p:cNvPr id="2" name="Text 0"/>
          <p:cNvSpPr/>
          <p:nvPr/>
        </p:nvSpPr>
        <p:spPr>
          <a:xfrm>
            <a:off x="566928" y="256032"/>
            <a:ext cx="10972800" cy="320040"/>
          </a:xfrm>
          <a:prstGeom prst="rect">
            <a:avLst/>
          </a:prstGeom>
          <a:noFill/>
          <a:ln/>
        </p:spPr>
        <p:txBody>
          <a:bodyPr wrap="square" rtlCol="0" anchor="ctr"/>
          <a:lstStyle/>
          <a:p>
            <a:pPr indent="0" marL="0">
              <a:buNone/>
            </a:pPr>
            <a:r>
              <a:rPr lang="en-US" sz="1200" b="1" spc="300" kern="0" dirty="0">
                <a:solidFill>
                  <a:srgbClr val="F4B740"/>
                </a:solidFill>
                <a:latin typeface="Calibri" pitchFamily="34" charset="0"/>
                <a:ea typeface="Calibri" pitchFamily="34" charset="-122"/>
                <a:cs typeface="Calibri" pitchFamily="34" charset="-120"/>
              </a:rPr>
              <a:t>IMPLEMENTATION TIMELINE</a:t>
            </a:r>
            <a:endParaRPr lang="en-US" sz="1200" dirty="0"/>
          </a:p>
        </p:txBody>
      </p:sp>
      <p:sp>
        <p:nvSpPr>
          <p:cNvPr id="3" name="Text 1"/>
          <p:cNvSpPr/>
          <p:nvPr/>
        </p:nvSpPr>
        <p:spPr>
          <a:xfrm>
            <a:off x="548640" y="457200"/>
            <a:ext cx="11064240" cy="822960"/>
          </a:xfrm>
          <a:prstGeom prst="rect">
            <a:avLst/>
          </a:prstGeom>
          <a:noFill/>
          <a:ln/>
        </p:spPr>
        <p:txBody>
          <a:bodyPr wrap="square"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September 2026 at a Glance</a:t>
            </a:r>
            <a:endParaRPr lang="en-US" sz="3400" dirty="0"/>
          </a:p>
        </p:txBody>
      </p:sp>
      <p:sp>
        <p:nvSpPr>
          <p:cNvPr id="4" name="Shape 2"/>
          <p:cNvSpPr/>
          <p:nvPr/>
        </p:nvSpPr>
        <p:spPr>
          <a:xfrm>
            <a:off x="548640" y="1965960"/>
            <a:ext cx="2688336" cy="3566160"/>
          </a:xfrm>
          <a:prstGeom prst="roundRect">
            <a:avLst>
              <a:gd name="adj" fmla="val 4082"/>
            </a:avLst>
          </a:prstGeom>
          <a:solidFill>
            <a:srgbClr val="27334F"/>
          </a:solidFill>
          <a:ln/>
          <a:effectLst>
            <a:outerShdw sx="100000" sy="100000" kx="0" ky="0" algn="bl" rotWithShape="0" blurRad="101600" dist="38100" dir="5400000">
              <a:srgbClr val="9AA6B8">
                <a:alpha val="35000"/>
              </a:srgbClr>
            </a:outerShdw>
          </a:effectLst>
        </p:spPr>
      </p:sp>
      <p:sp>
        <p:nvSpPr>
          <p:cNvPr id="5" name="Shape 3"/>
          <p:cNvSpPr/>
          <p:nvPr/>
        </p:nvSpPr>
        <p:spPr>
          <a:xfrm>
            <a:off x="1527048" y="2286000"/>
            <a:ext cx="731520" cy="731520"/>
          </a:xfrm>
          <a:prstGeom prst="ellipse">
            <a:avLst/>
          </a:prstGeom>
          <a:solidFill>
            <a:srgbClr val="FF6B4A"/>
          </a:solidFill>
          <a:ln/>
        </p:spPr>
      </p:sp>
      <p:sp>
        <p:nvSpPr>
          <p:cNvPr id="6" name="Text 4"/>
          <p:cNvSpPr/>
          <p:nvPr/>
        </p:nvSpPr>
        <p:spPr>
          <a:xfrm>
            <a:off x="1527048" y="2286000"/>
            <a:ext cx="731520" cy="7315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640080" y="3200400"/>
            <a:ext cx="2505456" cy="365760"/>
          </a:xfrm>
          <a:prstGeom prst="rect">
            <a:avLst/>
          </a:prstGeom>
          <a:noFill/>
          <a:ln/>
        </p:spPr>
        <p:txBody>
          <a:bodyPr wrap="square" rtlCol="0" anchor="ctr"/>
          <a:lstStyle/>
          <a:p>
            <a:pPr algn="ctr" indent="0" marL="0">
              <a:buNone/>
            </a:pPr>
            <a:r>
              <a:rPr lang="en-US" sz="1300" b="1" dirty="0">
                <a:solidFill>
                  <a:srgbClr val="F4B740"/>
                </a:solidFill>
                <a:latin typeface="Calibri" pitchFamily="34" charset="0"/>
                <a:ea typeface="Calibri" pitchFamily="34" charset="-122"/>
                <a:cs typeface="Calibri" pitchFamily="34" charset="-120"/>
              </a:rPr>
              <a:t>Sept 1–7</a:t>
            </a:r>
            <a:endParaRPr lang="en-US" sz="1300" dirty="0"/>
          </a:p>
        </p:txBody>
      </p:sp>
      <p:sp>
        <p:nvSpPr>
          <p:cNvPr id="8" name="Text 6"/>
          <p:cNvSpPr/>
          <p:nvPr/>
        </p:nvSpPr>
        <p:spPr>
          <a:xfrm>
            <a:off x="640080" y="3611880"/>
            <a:ext cx="2505456" cy="548640"/>
          </a:xfrm>
          <a:prstGeom prst="rect">
            <a:avLst/>
          </a:prstGeom>
          <a:noFill/>
          <a:ln/>
        </p:spPr>
        <p:txBody>
          <a:bodyPr wrap="square"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Launch</a:t>
            </a:r>
            <a:endParaRPr lang="en-US" sz="2100" dirty="0"/>
          </a:p>
        </p:txBody>
      </p:sp>
      <p:sp>
        <p:nvSpPr>
          <p:cNvPr id="9" name="Text 7"/>
          <p:cNvSpPr/>
          <p:nvPr/>
        </p:nvSpPr>
        <p:spPr>
          <a:xfrm>
            <a:off x="731520" y="4251960"/>
            <a:ext cx="2322576" cy="1097280"/>
          </a:xfrm>
          <a:prstGeom prst="rect">
            <a:avLst/>
          </a:prstGeom>
          <a:noFill/>
          <a:ln/>
        </p:spPr>
        <p:txBody>
          <a:bodyPr wrap="square" rtlCol="0" anchor="ctr"/>
          <a:lstStyle/>
          <a:p>
            <a:pPr algn="ctr" indent="0" marL="0">
              <a:buNone/>
            </a:pPr>
            <a:r>
              <a:rPr lang="en-US" sz="1400" dirty="0">
                <a:solidFill>
                  <a:srgbClr val="C6D0E2"/>
                </a:solidFill>
                <a:latin typeface="Calibri" pitchFamily="34" charset="0"/>
                <a:ea typeface="Calibri" pitchFamily="34" charset="-122"/>
                <a:cs typeface="Calibri" pitchFamily="34" charset="-120"/>
              </a:rPr>
              <a:t>Reveal + photo challenge</a:t>
            </a:r>
            <a:endParaRPr lang="en-US" sz="1400" dirty="0"/>
          </a:p>
        </p:txBody>
      </p:sp>
      <p:sp>
        <p:nvSpPr>
          <p:cNvPr id="10" name="Text 8"/>
          <p:cNvSpPr/>
          <p:nvPr/>
        </p:nvSpPr>
        <p:spPr>
          <a:xfrm>
            <a:off x="3090672" y="3246120"/>
            <a:ext cx="457200" cy="548640"/>
          </a:xfrm>
          <a:prstGeom prst="rect">
            <a:avLst/>
          </a:prstGeom>
          <a:noFill/>
          <a:ln/>
        </p:spPr>
        <p:txBody>
          <a:bodyPr wrap="square" rtlCol="0" anchor="ctr"/>
          <a:lstStyle/>
          <a:p>
            <a:pPr algn="ctr" indent="0" marL="0">
              <a:buNone/>
            </a:pPr>
            <a:r>
              <a:rPr lang="en-US" sz="2600" b="1" dirty="0">
                <a:solidFill>
                  <a:srgbClr val="FF6B4A"/>
                </a:solidFill>
                <a:latin typeface="Calibri" pitchFamily="34" charset="0"/>
                <a:ea typeface="Calibri" pitchFamily="34" charset="-122"/>
                <a:cs typeface="Calibri" pitchFamily="34" charset="-120"/>
              </a:rPr>
              <a:t>→</a:t>
            </a:r>
            <a:endParaRPr lang="en-US" sz="2600" dirty="0"/>
          </a:p>
        </p:txBody>
      </p:sp>
      <p:sp>
        <p:nvSpPr>
          <p:cNvPr id="11" name="Shape 9"/>
          <p:cNvSpPr/>
          <p:nvPr/>
        </p:nvSpPr>
        <p:spPr>
          <a:xfrm>
            <a:off x="3328416" y="1965960"/>
            <a:ext cx="2688336" cy="3566160"/>
          </a:xfrm>
          <a:prstGeom prst="roundRect">
            <a:avLst>
              <a:gd name="adj" fmla="val 4082"/>
            </a:avLst>
          </a:prstGeom>
          <a:solidFill>
            <a:srgbClr val="27334F"/>
          </a:solidFill>
          <a:ln/>
          <a:effectLst>
            <a:outerShdw sx="100000" sy="100000" kx="0" ky="0" algn="bl" rotWithShape="0" blurRad="101600" dist="38100" dir="5400000">
              <a:srgbClr val="9AA6B8">
                <a:alpha val="35000"/>
              </a:srgbClr>
            </a:outerShdw>
          </a:effectLst>
        </p:spPr>
      </p:sp>
      <p:sp>
        <p:nvSpPr>
          <p:cNvPr id="12" name="Shape 10"/>
          <p:cNvSpPr/>
          <p:nvPr/>
        </p:nvSpPr>
        <p:spPr>
          <a:xfrm>
            <a:off x="4306824" y="2286000"/>
            <a:ext cx="731520" cy="731520"/>
          </a:xfrm>
          <a:prstGeom prst="ellipse">
            <a:avLst/>
          </a:prstGeom>
          <a:solidFill>
            <a:srgbClr val="FF6B4A"/>
          </a:solidFill>
          <a:ln/>
        </p:spPr>
      </p:sp>
      <p:sp>
        <p:nvSpPr>
          <p:cNvPr id="13" name="Text 11"/>
          <p:cNvSpPr/>
          <p:nvPr/>
        </p:nvSpPr>
        <p:spPr>
          <a:xfrm>
            <a:off x="4306824" y="2286000"/>
            <a:ext cx="731520" cy="7315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2"/>
          <p:cNvSpPr/>
          <p:nvPr/>
        </p:nvSpPr>
        <p:spPr>
          <a:xfrm>
            <a:off x="3419856" y="3200400"/>
            <a:ext cx="2505456" cy="365760"/>
          </a:xfrm>
          <a:prstGeom prst="rect">
            <a:avLst/>
          </a:prstGeom>
          <a:noFill/>
          <a:ln/>
        </p:spPr>
        <p:txBody>
          <a:bodyPr wrap="square" rtlCol="0" anchor="ctr"/>
          <a:lstStyle/>
          <a:p>
            <a:pPr algn="ctr" indent="0" marL="0">
              <a:buNone/>
            </a:pPr>
            <a:r>
              <a:rPr lang="en-US" sz="1300" b="1" dirty="0">
                <a:solidFill>
                  <a:srgbClr val="F4B740"/>
                </a:solidFill>
                <a:latin typeface="Calibri" pitchFamily="34" charset="0"/>
                <a:ea typeface="Calibri" pitchFamily="34" charset="-122"/>
                <a:cs typeface="Calibri" pitchFamily="34" charset="-120"/>
              </a:rPr>
              <a:t>Sept 8–14</a:t>
            </a:r>
            <a:endParaRPr lang="en-US" sz="1300" dirty="0"/>
          </a:p>
        </p:txBody>
      </p:sp>
      <p:sp>
        <p:nvSpPr>
          <p:cNvPr id="15" name="Text 13"/>
          <p:cNvSpPr/>
          <p:nvPr/>
        </p:nvSpPr>
        <p:spPr>
          <a:xfrm>
            <a:off x="3419856" y="3611880"/>
            <a:ext cx="2505456" cy="548640"/>
          </a:xfrm>
          <a:prstGeom prst="rect">
            <a:avLst/>
          </a:prstGeom>
          <a:noFill/>
          <a:ln/>
        </p:spPr>
        <p:txBody>
          <a:bodyPr wrap="square"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Community</a:t>
            </a:r>
            <a:endParaRPr lang="en-US" sz="2100" dirty="0"/>
          </a:p>
        </p:txBody>
      </p:sp>
      <p:sp>
        <p:nvSpPr>
          <p:cNvPr id="16" name="Text 14"/>
          <p:cNvSpPr/>
          <p:nvPr/>
        </p:nvSpPr>
        <p:spPr>
          <a:xfrm>
            <a:off x="3511296" y="4251960"/>
            <a:ext cx="2322576" cy="1097280"/>
          </a:xfrm>
          <a:prstGeom prst="rect">
            <a:avLst/>
          </a:prstGeom>
          <a:noFill/>
          <a:ln/>
        </p:spPr>
        <p:txBody>
          <a:bodyPr wrap="square" rtlCol="0" anchor="ctr"/>
          <a:lstStyle/>
          <a:p>
            <a:pPr algn="ctr" indent="0" marL="0">
              <a:buNone/>
            </a:pPr>
            <a:r>
              <a:rPr lang="en-US" sz="1400" dirty="0">
                <a:solidFill>
                  <a:srgbClr val="C6D0E2"/>
                </a:solidFill>
                <a:latin typeface="Calibri" pitchFamily="34" charset="0"/>
                <a:ea typeface="Calibri" pitchFamily="34" charset="-122"/>
                <a:cs typeface="Calibri" pitchFamily="34" charset="-120"/>
              </a:rPr>
              <a:t>“Why I Run” stories</a:t>
            </a:r>
            <a:endParaRPr lang="en-US" sz="1400" dirty="0"/>
          </a:p>
        </p:txBody>
      </p:sp>
      <p:sp>
        <p:nvSpPr>
          <p:cNvPr id="17" name="Text 15"/>
          <p:cNvSpPr/>
          <p:nvPr/>
        </p:nvSpPr>
        <p:spPr>
          <a:xfrm>
            <a:off x="5870448" y="3246120"/>
            <a:ext cx="457200" cy="548640"/>
          </a:xfrm>
          <a:prstGeom prst="rect">
            <a:avLst/>
          </a:prstGeom>
          <a:noFill/>
          <a:ln/>
        </p:spPr>
        <p:txBody>
          <a:bodyPr wrap="square" rtlCol="0" anchor="ctr"/>
          <a:lstStyle/>
          <a:p>
            <a:pPr algn="ctr" indent="0" marL="0">
              <a:buNone/>
            </a:pPr>
            <a:r>
              <a:rPr lang="en-US" sz="2600" b="1" dirty="0">
                <a:solidFill>
                  <a:srgbClr val="FF6B4A"/>
                </a:solidFill>
                <a:latin typeface="Calibri" pitchFamily="34" charset="0"/>
                <a:ea typeface="Calibri" pitchFamily="34" charset="-122"/>
                <a:cs typeface="Calibri" pitchFamily="34" charset="-120"/>
              </a:rPr>
              <a:t>→</a:t>
            </a:r>
            <a:endParaRPr lang="en-US" sz="2600" dirty="0"/>
          </a:p>
        </p:txBody>
      </p:sp>
      <p:sp>
        <p:nvSpPr>
          <p:cNvPr id="18" name="Shape 16"/>
          <p:cNvSpPr/>
          <p:nvPr/>
        </p:nvSpPr>
        <p:spPr>
          <a:xfrm>
            <a:off x="6108192" y="1965960"/>
            <a:ext cx="2688336" cy="3566160"/>
          </a:xfrm>
          <a:prstGeom prst="roundRect">
            <a:avLst>
              <a:gd name="adj" fmla="val 4082"/>
            </a:avLst>
          </a:prstGeom>
          <a:solidFill>
            <a:srgbClr val="27334F"/>
          </a:solidFill>
          <a:ln/>
          <a:effectLst>
            <a:outerShdw sx="100000" sy="100000" kx="0" ky="0" algn="bl" rotWithShape="0" blurRad="101600" dist="38100" dir="5400000">
              <a:srgbClr val="9AA6B8">
                <a:alpha val="35000"/>
              </a:srgbClr>
            </a:outerShdw>
          </a:effectLst>
        </p:spPr>
      </p:sp>
      <p:sp>
        <p:nvSpPr>
          <p:cNvPr id="19" name="Shape 17"/>
          <p:cNvSpPr/>
          <p:nvPr/>
        </p:nvSpPr>
        <p:spPr>
          <a:xfrm>
            <a:off x="7086600" y="2286000"/>
            <a:ext cx="731520" cy="731520"/>
          </a:xfrm>
          <a:prstGeom prst="ellipse">
            <a:avLst/>
          </a:prstGeom>
          <a:solidFill>
            <a:srgbClr val="FF6B4A"/>
          </a:solidFill>
          <a:ln/>
        </p:spPr>
      </p:sp>
      <p:sp>
        <p:nvSpPr>
          <p:cNvPr id="20" name="Text 18"/>
          <p:cNvSpPr/>
          <p:nvPr/>
        </p:nvSpPr>
        <p:spPr>
          <a:xfrm>
            <a:off x="7086600" y="2286000"/>
            <a:ext cx="731520" cy="7315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1" name="Text 19"/>
          <p:cNvSpPr/>
          <p:nvPr/>
        </p:nvSpPr>
        <p:spPr>
          <a:xfrm>
            <a:off x="6199632" y="3200400"/>
            <a:ext cx="2505456" cy="365760"/>
          </a:xfrm>
          <a:prstGeom prst="rect">
            <a:avLst/>
          </a:prstGeom>
          <a:noFill/>
          <a:ln/>
        </p:spPr>
        <p:txBody>
          <a:bodyPr wrap="square" rtlCol="0" anchor="ctr"/>
          <a:lstStyle/>
          <a:p>
            <a:pPr algn="ctr" indent="0" marL="0">
              <a:buNone/>
            </a:pPr>
            <a:r>
              <a:rPr lang="en-US" sz="1300" b="1" dirty="0">
                <a:solidFill>
                  <a:srgbClr val="F4B740"/>
                </a:solidFill>
                <a:latin typeface="Calibri" pitchFamily="34" charset="0"/>
                <a:ea typeface="Calibri" pitchFamily="34" charset="-122"/>
                <a:cs typeface="Calibri" pitchFamily="34" charset="-120"/>
              </a:rPr>
              <a:t>Sept 15–21</a:t>
            </a:r>
            <a:endParaRPr lang="en-US" sz="1300" dirty="0"/>
          </a:p>
        </p:txBody>
      </p:sp>
      <p:sp>
        <p:nvSpPr>
          <p:cNvPr id="22" name="Text 20"/>
          <p:cNvSpPr/>
          <p:nvPr/>
        </p:nvSpPr>
        <p:spPr>
          <a:xfrm>
            <a:off x="6199632" y="3611880"/>
            <a:ext cx="2505456" cy="548640"/>
          </a:xfrm>
          <a:prstGeom prst="rect">
            <a:avLst/>
          </a:prstGeom>
          <a:noFill/>
          <a:ln/>
        </p:spPr>
        <p:txBody>
          <a:bodyPr wrap="square"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Movement</a:t>
            </a:r>
            <a:endParaRPr lang="en-US" sz="2100" dirty="0"/>
          </a:p>
        </p:txBody>
      </p:sp>
      <p:sp>
        <p:nvSpPr>
          <p:cNvPr id="23" name="Text 21"/>
          <p:cNvSpPr/>
          <p:nvPr/>
        </p:nvSpPr>
        <p:spPr>
          <a:xfrm>
            <a:off x="6291072" y="4251960"/>
            <a:ext cx="2322576" cy="1097280"/>
          </a:xfrm>
          <a:prstGeom prst="rect">
            <a:avLst/>
          </a:prstGeom>
          <a:noFill/>
          <a:ln/>
        </p:spPr>
        <p:txBody>
          <a:bodyPr wrap="square" rtlCol="0" anchor="ctr"/>
          <a:lstStyle/>
          <a:p>
            <a:pPr algn="ctr" indent="0" marL="0">
              <a:buNone/>
            </a:pPr>
            <a:r>
              <a:rPr lang="en-US" sz="1400" dirty="0">
                <a:solidFill>
                  <a:srgbClr val="C6D0E2"/>
                </a:solidFill>
                <a:latin typeface="Calibri" pitchFamily="34" charset="0"/>
                <a:ea typeface="Calibri" pitchFamily="34" charset="-122"/>
                <a:cs typeface="Calibri" pitchFamily="34" charset="-120"/>
              </a:rPr>
              <a:t>Miles for Soles</a:t>
            </a:r>
            <a:endParaRPr lang="en-US" sz="1400" dirty="0"/>
          </a:p>
        </p:txBody>
      </p:sp>
      <p:sp>
        <p:nvSpPr>
          <p:cNvPr id="24" name="Text 22"/>
          <p:cNvSpPr/>
          <p:nvPr/>
        </p:nvSpPr>
        <p:spPr>
          <a:xfrm>
            <a:off x="8650224" y="3246120"/>
            <a:ext cx="457200" cy="548640"/>
          </a:xfrm>
          <a:prstGeom prst="rect">
            <a:avLst/>
          </a:prstGeom>
          <a:noFill/>
          <a:ln/>
        </p:spPr>
        <p:txBody>
          <a:bodyPr wrap="square" rtlCol="0" anchor="ctr"/>
          <a:lstStyle/>
          <a:p>
            <a:pPr algn="ctr" indent="0" marL="0">
              <a:buNone/>
            </a:pPr>
            <a:r>
              <a:rPr lang="en-US" sz="2600" b="1" dirty="0">
                <a:solidFill>
                  <a:srgbClr val="FF6B4A"/>
                </a:solidFill>
                <a:latin typeface="Calibri" pitchFamily="34" charset="0"/>
                <a:ea typeface="Calibri" pitchFamily="34" charset="-122"/>
                <a:cs typeface="Calibri" pitchFamily="34" charset="-120"/>
              </a:rPr>
              <a:t>→</a:t>
            </a:r>
            <a:endParaRPr lang="en-US" sz="2600" dirty="0"/>
          </a:p>
        </p:txBody>
      </p:sp>
      <p:sp>
        <p:nvSpPr>
          <p:cNvPr id="25" name="Shape 23"/>
          <p:cNvSpPr/>
          <p:nvPr/>
        </p:nvSpPr>
        <p:spPr>
          <a:xfrm>
            <a:off x="8887968" y="1965960"/>
            <a:ext cx="2688336" cy="3566160"/>
          </a:xfrm>
          <a:prstGeom prst="roundRect">
            <a:avLst>
              <a:gd name="adj" fmla="val 4082"/>
            </a:avLst>
          </a:prstGeom>
          <a:solidFill>
            <a:srgbClr val="27334F"/>
          </a:solidFill>
          <a:ln/>
          <a:effectLst>
            <a:outerShdw sx="100000" sy="100000" kx="0" ky="0" algn="bl" rotWithShape="0" blurRad="101600" dist="38100" dir="5400000">
              <a:srgbClr val="9AA6B8">
                <a:alpha val="35000"/>
              </a:srgbClr>
            </a:outerShdw>
          </a:effectLst>
        </p:spPr>
      </p:sp>
      <p:sp>
        <p:nvSpPr>
          <p:cNvPr id="26" name="Shape 24"/>
          <p:cNvSpPr/>
          <p:nvPr/>
        </p:nvSpPr>
        <p:spPr>
          <a:xfrm>
            <a:off x="9866376" y="2286000"/>
            <a:ext cx="731520" cy="731520"/>
          </a:xfrm>
          <a:prstGeom prst="ellipse">
            <a:avLst/>
          </a:prstGeom>
          <a:solidFill>
            <a:srgbClr val="FF6B4A"/>
          </a:solidFill>
          <a:ln/>
        </p:spPr>
      </p:sp>
      <p:sp>
        <p:nvSpPr>
          <p:cNvPr id="27" name="Text 25"/>
          <p:cNvSpPr/>
          <p:nvPr/>
        </p:nvSpPr>
        <p:spPr>
          <a:xfrm>
            <a:off x="9866376" y="2286000"/>
            <a:ext cx="731520" cy="7315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8" name="Text 26"/>
          <p:cNvSpPr/>
          <p:nvPr/>
        </p:nvSpPr>
        <p:spPr>
          <a:xfrm>
            <a:off x="8979408" y="3200400"/>
            <a:ext cx="2505456" cy="365760"/>
          </a:xfrm>
          <a:prstGeom prst="rect">
            <a:avLst/>
          </a:prstGeom>
          <a:noFill/>
          <a:ln/>
        </p:spPr>
        <p:txBody>
          <a:bodyPr wrap="square" rtlCol="0" anchor="ctr"/>
          <a:lstStyle/>
          <a:p>
            <a:pPr algn="ctr" indent="0" marL="0">
              <a:buNone/>
            </a:pPr>
            <a:r>
              <a:rPr lang="en-US" sz="1300" b="1" dirty="0">
                <a:solidFill>
                  <a:srgbClr val="F4B740"/>
                </a:solidFill>
                <a:latin typeface="Calibri" pitchFamily="34" charset="0"/>
                <a:ea typeface="Calibri" pitchFamily="34" charset="-122"/>
                <a:cs typeface="Calibri" pitchFamily="34" charset="-120"/>
              </a:rPr>
              <a:t>Sept 22–30</a:t>
            </a:r>
            <a:endParaRPr lang="en-US" sz="1300" dirty="0"/>
          </a:p>
        </p:txBody>
      </p:sp>
      <p:sp>
        <p:nvSpPr>
          <p:cNvPr id="29" name="Text 27"/>
          <p:cNvSpPr/>
          <p:nvPr/>
        </p:nvSpPr>
        <p:spPr>
          <a:xfrm>
            <a:off x="8979408" y="3611880"/>
            <a:ext cx="2505456" cy="548640"/>
          </a:xfrm>
          <a:prstGeom prst="rect">
            <a:avLst/>
          </a:prstGeom>
          <a:noFill/>
          <a:ln/>
        </p:spPr>
        <p:txBody>
          <a:bodyPr wrap="square"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Impact</a:t>
            </a:r>
            <a:endParaRPr lang="en-US" sz="2100" dirty="0"/>
          </a:p>
        </p:txBody>
      </p:sp>
      <p:sp>
        <p:nvSpPr>
          <p:cNvPr id="30" name="Text 28"/>
          <p:cNvSpPr/>
          <p:nvPr/>
        </p:nvSpPr>
        <p:spPr>
          <a:xfrm>
            <a:off x="9070848" y="4251960"/>
            <a:ext cx="2322576" cy="1097280"/>
          </a:xfrm>
          <a:prstGeom prst="rect">
            <a:avLst/>
          </a:prstGeom>
          <a:noFill/>
          <a:ln/>
        </p:spPr>
        <p:txBody>
          <a:bodyPr wrap="square" rtlCol="0" anchor="ctr"/>
          <a:lstStyle/>
          <a:p>
            <a:pPr algn="ctr" indent="0" marL="0">
              <a:buNone/>
            </a:pPr>
            <a:r>
              <a:rPr lang="en-US" sz="1400" dirty="0">
                <a:solidFill>
                  <a:srgbClr val="C6D0E2"/>
                </a:solidFill>
                <a:latin typeface="Calibri" pitchFamily="34" charset="0"/>
                <a:ea typeface="Calibri" pitchFamily="34" charset="-122"/>
                <a:cs typeface="Calibri" pitchFamily="34" charset="-120"/>
              </a:rPr>
              <a:t>Results + Dignity Quiz</a:t>
            </a:r>
            <a:endParaRPr lang="en-US" sz="1400" dirty="0"/>
          </a:p>
        </p:txBody>
      </p:sp>
      <p:sp>
        <p:nvSpPr>
          <p:cNvPr id="31" name="Text 29"/>
          <p:cNvSpPr/>
          <p:nvPr/>
        </p:nvSpPr>
        <p:spPr>
          <a:xfrm>
            <a:off x="548640" y="5897880"/>
            <a:ext cx="11064240" cy="457200"/>
          </a:xfrm>
          <a:prstGeom prst="rect">
            <a:avLst/>
          </a:prstGeom>
          <a:noFill/>
          <a:ln/>
        </p:spPr>
        <p:txBody>
          <a:bodyPr wrap="square" rtlCol="0" anchor="ctr"/>
          <a:lstStyle/>
          <a:p>
            <a:pPr algn="ctr" indent="0" marL="0">
              <a:buNone/>
            </a:pPr>
            <a:r>
              <a:rPr lang="en-US" sz="1500" i="1" dirty="0">
                <a:solidFill>
                  <a:srgbClr val="AEB9CE"/>
                </a:solidFill>
                <a:latin typeface="Calibri" pitchFamily="34" charset="0"/>
                <a:ea typeface="Calibri" pitchFamily="34" charset="-122"/>
                <a:cs typeface="Calibri" pitchFamily="34" charset="-120"/>
              </a:rPr>
              <a:t>Each week: one narrative beat, coordinated across every channel — never duplicated.</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A44"/>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27334F"/>
          </a:solidFill>
          <a:ln/>
        </p:spPr>
      </p:sp>
      <p:sp>
        <p:nvSpPr>
          <p:cNvPr id="3" name="Text 1"/>
          <p:cNvSpPr/>
          <p:nvPr/>
        </p:nvSpPr>
        <p:spPr>
          <a:xfrm>
            <a:off x="566928" y="256032"/>
            <a:ext cx="10972800" cy="320040"/>
          </a:xfrm>
          <a:prstGeom prst="rect">
            <a:avLst/>
          </a:prstGeom>
          <a:noFill/>
          <a:ln/>
        </p:spPr>
        <p:txBody>
          <a:bodyPr wrap="square" rtlCol="0" anchor="ctr"/>
          <a:lstStyle/>
          <a:p>
            <a:pPr indent="0" marL="0">
              <a:buNone/>
            </a:pPr>
            <a:r>
              <a:rPr lang="en-US" sz="1200" b="1" spc="300" kern="0" dirty="0">
                <a:solidFill>
                  <a:srgbClr val="F4B740"/>
                </a:solidFill>
                <a:latin typeface="Calibri" pitchFamily="34" charset="0"/>
                <a:ea typeface="Calibri" pitchFamily="34" charset="-122"/>
                <a:cs typeface="Calibri" pitchFamily="34" charset="-120"/>
              </a:rPr>
              <a:t>BIBLICAL INTEGRATION</a:t>
            </a:r>
            <a:endParaRPr lang="en-US" sz="1200" dirty="0"/>
          </a:p>
        </p:txBody>
      </p:sp>
      <p:sp>
        <p:nvSpPr>
          <p:cNvPr id="4" name="Text 2"/>
          <p:cNvSpPr/>
          <p:nvPr/>
        </p:nvSpPr>
        <p:spPr>
          <a:xfrm>
            <a:off x="548640" y="457200"/>
            <a:ext cx="11064240" cy="822960"/>
          </a:xfrm>
          <a:prstGeom prst="rect">
            <a:avLst/>
          </a:prstGeom>
          <a:noFill/>
          <a:ln/>
        </p:spPr>
        <p:txBody>
          <a:bodyPr wrap="square"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Faith in Action</a:t>
            </a:r>
            <a:endParaRPr lang="en-US" sz="3400" dirty="0"/>
          </a:p>
        </p:txBody>
      </p:sp>
      <p:sp>
        <p:nvSpPr>
          <p:cNvPr id="5" name="Shape 3"/>
          <p:cNvSpPr/>
          <p:nvPr/>
        </p:nvSpPr>
        <p:spPr>
          <a:xfrm>
            <a:off x="685800" y="1783080"/>
            <a:ext cx="1280160" cy="1280160"/>
          </a:xfrm>
          <a:prstGeom prst="ellipse">
            <a:avLst/>
          </a:prstGeom>
          <a:solidFill>
            <a:srgbClr val="FF6B4A"/>
          </a:solidFill>
          <a:ln/>
        </p:spPr>
      </p:sp>
      <p:pic>
        <p:nvPicPr>
          <p:cNvPr id="6" name="Image 0" descr="preencoded.png">    </p:cNvPr>
          <p:cNvPicPr>
            <a:picLocks noChangeAspect="1"/>
          </p:cNvPicPr>
          <p:nvPr/>
        </p:nvPicPr>
        <p:blipFill>
          <a:blip r:embed="rId1"/>
          <a:stretch>
            <a:fillRect/>
          </a:stretch>
        </p:blipFill>
        <p:spPr>
          <a:xfrm>
            <a:off x="1069848" y="2167128"/>
            <a:ext cx="512064" cy="512064"/>
          </a:xfrm>
          <a:prstGeom prst="rect">
            <a:avLst/>
          </a:prstGeom>
        </p:spPr>
      </p:pic>
      <p:sp>
        <p:nvSpPr>
          <p:cNvPr id="7" name="Text 4"/>
          <p:cNvSpPr/>
          <p:nvPr/>
        </p:nvSpPr>
        <p:spPr>
          <a:xfrm>
            <a:off x="2286000" y="1828800"/>
            <a:ext cx="9326880" cy="1143000"/>
          </a:xfrm>
          <a:prstGeom prst="rect">
            <a:avLst/>
          </a:prstGeom>
          <a:noFill/>
          <a:ln/>
        </p:spPr>
        <p:txBody>
          <a:bodyPr wrap="square" rtlCol="0" anchor="ctr"/>
          <a:lstStyle/>
          <a:p>
            <a:pPr indent="0" marL="0">
              <a:buNone/>
            </a:pPr>
            <a:r>
              <a:rPr lang="en-US" sz="2300" i="1" dirty="0">
                <a:solidFill>
                  <a:srgbClr val="FF6B4A"/>
                </a:solidFill>
                <a:latin typeface="Cambria" pitchFamily="34" charset="0"/>
                <a:ea typeface="Cambria" pitchFamily="34" charset="-122"/>
                <a:cs typeface="Cambria" pitchFamily="34" charset="-120"/>
              </a:rPr>
              <a:t>A campaign about fitting feet with dignity is the gospel made tangible.</a:t>
            </a:r>
            <a:endParaRPr lang="en-US" sz="2300" dirty="0"/>
          </a:p>
        </p:txBody>
      </p:sp>
      <p:sp>
        <p:nvSpPr>
          <p:cNvPr id="8" name="Text 5"/>
          <p:cNvSpPr/>
          <p:nvPr/>
        </p:nvSpPr>
        <p:spPr>
          <a:xfrm>
            <a:off x="777240" y="3291840"/>
            <a:ext cx="10698480" cy="640080"/>
          </a:xfrm>
          <a:prstGeom prst="rect">
            <a:avLst/>
          </a:prstGeom>
          <a:noFill/>
          <a:ln/>
        </p:spPr>
        <p:txBody>
          <a:bodyPr wrap="square" rtlCol="0" anchor="ctr"/>
          <a:lstStyle/>
          <a:p>
            <a:pPr indent="0" marL="0">
              <a:buNone/>
            </a:pPr>
            <a:r>
              <a:rPr lang="en-US" sz="1800" i="1" dirty="0">
                <a:solidFill>
                  <a:srgbClr val="FFFFFF"/>
                </a:solidFill>
                <a:latin typeface="Cambria" pitchFamily="34" charset="0"/>
                <a:ea typeface="Cambria" pitchFamily="34" charset="-122"/>
                <a:cs typeface="Cambria" pitchFamily="34" charset="-120"/>
              </a:rPr>
              <a:t>“The least of these… you did for me.”  </a:t>
            </a:r>
            <a:pPr indent="0" marL="0">
              <a:buNone/>
            </a:pPr>
            <a:r>
              <a:rPr lang="en-US" sz="1500" b="1" dirty="0">
                <a:solidFill>
                  <a:srgbClr val="F4B740"/>
                </a:solidFill>
                <a:latin typeface="Calibri" pitchFamily="34" charset="0"/>
                <a:ea typeface="Calibri" pitchFamily="34" charset="-122"/>
                <a:cs typeface="Calibri" pitchFamily="34" charset="-120"/>
              </a:rPr>
              <a:t>— Matthew 25:40</a:t>
            </a:r>
            <a:endParaRPr lang="en-US" sz="1800" dirty="0"/>
          </a:p>
        </p:txBody>
      </p:sp>
      <p:sp>
        <p:nvSpPr>
          <p:cNvPr id="9" name="Text 6"/>
          <p:cNvSpPr/>
          <p:nvPr/>
        </p:nvSpPr>
        <p:spPr>
          <a:xfrm>
            <a:off x="777240" y="4069080"/>
            <a:ext cx="10698480" cy="640080"/>
          </a:xfrm>
          <a:prstGeom prst="rect">
            <a:avLst/>
          </a:prstGeom>
          <a:noFill/>
          <a:ln/>
        </p:spPr>
        <p:txBody>
          <a:bodyPr wrap="square" rtlCol="0" anchor="ctr"/>
          <a:lstStyle/>
          <a:p>
            <a:pPr indent="0" marL="0">
              <a:buNone/>
            </a:pPr>
            <a:r>
              <a:rPr lang="en-US" sz="1800" i="1" dirty="0">
                <a:solidFill>
                  <a:srgbClr val="FFFFFF"/>
                </a:solidFill>
                <a:latin typeface="Cambria" pitchFamily="34" charset="0"/>
                <a:ea typeface="Cambria" pitchFamily="34" charset="-122"/>
                <a:cs typeface="Cambria" pitchFamily="34" charset="-120"/>
              </a:rPr>
              <a:t>“How beautiful are the feet that bring good news.”  </a:t>
            </a:r>
            <a:pPr indent="0" marL="0">
              <a:buNone/>
            </a:pPr>
            <a:r>
              <a:rPr lang="en-US" sz="1500" b="1" dirty="0">
                <a:solidFill>
                  <a:srgbClr val="F4B740"/>
                </a:solidFill>
                <a:latin typeface="Calibri" pitchFamily="34" charset="0"/>
                <a:ea typeface="Calibri" pitchFamily="34" charset="-122"/>
                <a:cs typeface="Calibri" pitchFamily="34" charset="-120"/>
              </a:rPr>
              <a:t>— Romans 10:15</a:t>
            </a:r>
            <a:endParaRPr lang="en-US" sz="1800" dirty="0"/>
          </a:p>
        </p:txBody>
      </p:sp>
      <p:sp>
        <p:nvSpPr>
          <p:cNvPr id="10" name="Text 7"/>
          <p:cNvSpPr/>
          <p:nvPr/>
        </p:nvSpPr>
        <p:spPr>
          <a:xfrm>
            <a:off x="777240" y="4846320"/>
            <a:ext cx="10698480" cy="640080"/>
          </a:xfrm>
          <a:prstGeom prst="rect">
            <a:avLst/>
          </a:prstGeom>
          <a:noFill/>
          <a:ln/>
        </p:spPr>
        <p:txBody>
          <a:bodyPr wrap="square" rtlCol="0" anchor="ctr"/>
          <a:lstStyle/>
          <a:p>
            <a:pPr indent="0" marL="0">
              <a:buNone/>
            </a:pPr>
            <a:r>
              <a:rPr lang="en-US" sz="1800" i="1" dirty="0">
                <a:solidFill>
                  <a:srgbClr val="FFFFFF"/>
                </a:solidFill>
                <a:latin typeface="Cambria" pitchFamily="34" charset="0"/>
                <a:ea typeface="Cambria" pitchFamily="34" charset="-122"/>
                <a:cs typeface="Cambria" pitchFamily="34" charset="-120"/>
              </a:rPr>
              <a:t>“Feet fitted with the gospel of peace.”  </a:t>
            </a:r>
            <a:pPr indent="0" marL="0">
              <a:buNone/>
            </a:pPr>
            <a:r>
              <a:rPr lang="en-US" sz="1500" b="1" dirty="0">
                <a:solidFill>
                  <a:srgbClr val="F4B740"/>
                </a:solidFill>
                <a:latin typeface="Calibri" pitchFamily="34" charset="0"/>
                <a:ea typeface="Calibri" pitchFamily="34" charset="-122"/>
                <a:cs typeface="Calibri" pitchFamily="34" charset="-120"/>
              </a:rPr>
              <a:t>— Ephesians 6:15</a:t>
            </a:r>
            <a:endParaRPr lang="en-US" sz="1800" dirty="0"/>
          </a:p>
        </p:txBody>
      </p:sp>
      <p:sp>
        <p:nvSpPr>
          <p:cNvPr id="11" name="Text 8"/>
          <p:cNvSpPr/>
          <p:nvPr/>
        </p:nvSpPr>
        <p:spPr>
          <a:xfrm>
            <a:off x="777240" y="5760720"/>
            <a:ext cx="10698480" cy="548640"/>
          </a:xfrm>
          <a:prstGeom prst="rect">
            <a:avLst/>
          </a:prstGeom>
          <a:noFill/>
          <a:ln/>
        </p:spPr>
        <p:txBody>
          <a:bodyPr wrap="square" rtlCol="0" anchor="ctr"/>
          <a:lstStyle/>
          <a:p>
            <a:pPr indent="0" marL="0">
              <a:buNone/>
            </a:pPr>
            <a:r>
              <a:rPr lang="en-US" sz="1600" b="1" dirty="0">
                <a:solidFill>
                  <a:srgbClr val="D9E1F0"/>
                </a:solidFill>
                <a:latin typeface="Calibri" pitchFamily="34" charset="0"/>
                <a:ea typeface="Calibri" pitchFamily="34" charset="-122"/>
                <a:cs typeface="Calibri" pitchFamily="34" charset="-120"/>
              </a:rPr>
              <a:t>Every person is an image-bearer worthy of dignity — service, not transaction.</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256032"/>
            <a:ext cx="10972800" cy="320040"/>
          </a:xfrm>
          <a:prstGeom prst="rect">
            <a:avLst/>
          </a:prstGeom>
          <a:noFill/>
          <a:ln/>
        </p:spPr>
        <p:txBody>
          <a:bodyPr wrap="square" rtlCol="0" anchor="ctr"/>
          <a:lstStyle/>
          <a:p>
            <a:pPr indent="0" marL="0">
              <a:buNone/>
            </a:pPr>
            <a:r>
              <a:rPr lang="en-US" sz="1200" b="1" spc="300" kern="0" dirty="0">
                <a:solidFill>
                  <a:srgbClr val="FF6B4A"/>
                </a:solidFill>
                <a:latin typeface="Calibri" pitchFamily="34" charset="0"/>
                <a:ea typeface="Calibri" pitchFamily="34" charset="-122"/>
                <a:cs typeface="Calibri" pitchFamily="34" charset="-120"/>
              </a:rPr>
              <a:t>REFERENCES</a:t>
            </a:r>
            <a:endParaRPr lang="en-US" sz="1200" dirty="0"/>
          </a:p>
        </p:txBody>
      </p:sp>
      <p:sp>
        <p:nvSpPr>
          <p:cNvPr id="3" name="Text 1"/>
          <p:cNvSpPr/>
          <p:nvPr/>
        </p:nvSpPr>
        <p:spPr>
          <a:xfrm>
            <a:off x="548640" y="457200"/>
            <a:ext cx="11064240" cy="822960"/>
          </a:xfrm>
          <a:prstGeom prst="rect">
            <a:avLst/>
          </a:prstGeom>
          <a:noFill/>
          <a:ln/>
        </p:spPr>
        <p:txBody>
          <a:bodyPr wrap="square" rtlCol="0" anchor="ctr"/>
          <a:lstStyle/>
          <a:p>
            <a:pPr algn="l" indent="0" marL="0">
              <a:buNone/>
            </a:pPr>
            <a:r>
              <a:rPr lang="en-US" sz="3400" b="1" dirty="0">
                <a:solidFill>
                  <a:srgbClr val="1E2A44"/>
                </a:solidFill>
                <a:latin typeface="Cambria" pitchFamily="34" charset="0"/>
                <a:ea typeface="Cambria" pitchFamily="34" charset="-122"/>
                <a:cs typeface="Cambria" pitchFamily="34" charset="-120"/>
              </a:rPr>
              <a:t>References (APA 7th ed.)</a:t>
            </a:r>
            <a:endParaRPr lang="en-US" sz="3400" dirty="0"/>
          </a:p>
        </p:txBody>
      </p:sp>
      <p:sp>
        <p:nvSpPr>
          <p:cNvPr id="4" name="Text 2"/>
          <p:cNvSpPr/>
          <p:nvPr/>
        </p:nvSpPr>
        <p:spPr>
          <a:xfrm>
            <a:off x="640080" y="1600200"/>
            <a:ext cx="10972800" cy="4937760"/>
          </a:xfrm>
          <a:prstGeom prst="rect">
            <a:avLst/>
          </a:prstGeom>
          <a:noFill/>
          <a:ln/>
        </p:spPr>
        <p:txBody>
          <a:bodyPr wrap="square" rtlCol="0" anchor="t"/>
          <a:lstStyle/>
          <a:p>
            <a:pPr indent="0" marL="0">
              <a:spcAft>
                <a:spcPts val="1000"/>
              </a:spcAft>
              <a:buNone/>
            </a:pPr>
            <a:r>
              <a:rPr lang="en-US" sz="1300" dirty="0">
                <a:solidFill>
                  <a:srgbClr val="24303F"/>
                </a:solidFill>
                <a:latin typeface="Calibri" pitchFamily="34" charset="0"/>
                <a:ea typeface="Calibri" pitchFamily="34" charset="-122"/>
                <a:cs typeface="Calibri" pitchFamily="34" charset="-120"/>
              </a:rPr>
              <a:t>Bhati, A., &amp; McDonnell, D. (2025). Message content and diversity as an effective nonprofit fundraising strategy on social media. Nonprofit and Voluntary Sector Quarterly. Advance online publication. https://doi.org/10.1177/08997640241303920</a:t>
            </a:r>
            <a:endParaRPr lang="en-US" sz="1300" dirty="0"/>
          </a:p>
          <a:p>
            <a:pPr indent="0" marL="0">
              <a:spcAft>
                <a:spcPts val="1000"/>
              </a:spcAft>
              <a:buNone/>
            </a:pPr>
            <a:r>
              <a:rPr lang="en-US" sz="1300" dirty="0">
                <a:solidFill>
                  <a:srgbClr val="24303F"/>
                </a:solidFill>
                <a:latin typeface="Calibri" pitchFamily="34" charset="0"/>
                <a:ea typeface="Calibri" pitchFamily="34" charset="-122"/>
                <a:cs typeface="Calibri" pitchFamily="34" charset="-120"/>
              </a:rPr>
              <a:t>DeMasters, C., Morgan, K., Schwoerer, K., &amp; Wiley, K. (2024). Forging connections: Nonprofits, TikTok, and authentic engagement—A mixed-methods study. Journal of Public and Nonprofit Affairs, 10(1), 27–51. https://doi.org/10.20899/jpna.dky82f18</a:t>
            </a:r>
            <a:endParaRPr lang="en-US" sz="1300" dirty="0"/>
          </a:p>
          <a:p>
            <a:pPr indent="0" marL="0">
              <a:spcAft>
                <a:spcPts val="1000"/>
              </a:spcAft>
              <a:buNone/>
            </a:pPr>
            <a:r>
              <a:rPr lang="en-US" sz="1300" dirty="0">
                <a:solidFill>
                  <a:srgbClr val="24303F"/>
                </a:solidFill>
                <a:latin typeface="Calibri" pitchFamily="34" charset="0"/>
                <a:ea typeface="Calibri" pitchFamily="34" charset="-122"/>
                <a:cs typeface="Calibri" pitchFamily="34" charset="-120"/>
              </a:rPr>
              <a:t>Elvira-Lorilla, T., García-Rodríguez, I., Romero-Merino, M. E., &amp; Santamaría-Mariscal, M. (2024). The role of social media in nonprofit organizations’ fundraising. Nonprofit and Voluntary Sector Quarterly, 53(6), 1353–1380. https://doi.org/10.1177/08997640231213286</a:t>
            </a:r>
            <a:endParaRPr lang="en-US" sz="1300" dirty="0"/>
          </a:p>
          <a:p>
            <a:pPr indent="0" marL="0">
              <a:spcAft>
                <a:spcPts val="1000"/>
              </a:spcAft>
              <a:buNone/>
            </a:pPr>
            <a:r>
              <a:rPr lang="en-US" sz="1300" dirty="0">
                <a:solidFill>
                  <a:srgbClr val="24303F"/>
                </a:solidFill>
                <a:latin typeface="Calibri" pitchFamily="34" charset="0"/>
                <a:ea typeface="Calibri" pitchFamily="34" charset="-122"/>
                <a:cs typeface="Calibri" pitchFamily="34" charset="-120"/>
              </a:rPr>
              <a:t>Luttrell, R. (2021). Social media: How to engage, share, and connect (4th ed.). Rowman &amp; Littlefield.</a:t>
            </a:r>
            <a:endParaRPr lang="en-US" sz="1300" dirty="0"/>
          </a:p>
          <a:p>
            <a:pPr indent="0" marL="0">
              <a:spcAft>
                <a:spcPts val="1000"/>
              </a:spcAft>
              <a:buNone/>
            </a:pPr>
            <a:r>
              <a:rPr lang="en-US" sz="1300" dirty="0">
                <a:solidFill>
                  <a:srgbClr val="24303F"/>
                </a:solidFill>
                <a:latin typeface="Calibri" pitchFamily="34" charset="0"/>
                <a:ea typeface="Calibri" pitchFamily="34" charset="-122"/>
                <a:cs typeface="Calibri" pitchFamily="34" charset="-120"/>
              </a:rPr>
              <a:t>New International Version. (2011). Bible Gateway. https://www.biblegateway.com (Original work published 1978)</a:t>
            </a:r>
            <a:endParaRPr lang="en-US" sz="1300" dirty="0"/>
          </a:p>
          <a:p>
            <a:pPr indent="0" marL="0">
              <a:spcAft>
                <a:spcPts val="1000"/>
              </a:spcAft>
              <a:buNone/>
            </a:pPr>
            <a:r>
              <a:rPr lang="en-US" sz="1300" dirty="0">
                <a:solidFill>
                  <a:srgbClr val="24303F"/>
                </a:solidFill>
                <a:latin typeface="Calibri" pitchFamily="34" charset="0"/>
                <a:ea typeface="Calibri" pitchFamily="34" charset="-122"/>
                <a:cs typeface="Calibri" pitchFamily="34" charset="-120"/>
              </a:rPr>
              <a:t>Telfian, R. (2026, September 3). Personal interview with the founder of Shood (Shoes for Good) [Client interview]. Richmond, VA.</a:t>
            </a:r>
            <a:endParaRPr lang="en-US" sz="1300" dirty="0"/>
          </a:p>
          <a:p>
            <a:pPr indent="0" marL="0">
              <a:spcAft>
                <a:spcPts val="1000"/>
              </a:spcAft>
              <a:buNone/>
            </a:pPr>
            <a:r>
              <a:rPr lang="en-US" sz="1300" dirty="0">
                <a:solidFill>
                  <a:srgbClr val="24303F"/>
                </a:solidFill>
                <a:latin typeface="Calibri" pitchFamily="34" charset="0"/>
                <a:ea typeface="Calibri" pitchFamily="34" charset="-122"/>
                <a:cs typeface="Calibri" pitchFamily="34" charset="-120"/>
              </a:rPr>
              <a:t>Wiley, K., Schwoerer, K., Richardson, M., &amp; Espinosa, M. B. (2023). Engaging stakeholders on TikTok: A multi-level social media analysis of nonprofit microvlogging. Public Administration, 101(3), 822–842. https://doi.org/10.1111/padm.12851</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2026-08-19T11:56:42Z</dcterms:created>
  <dcterms:modified xsi:type="dcterms:W3CDTF">2026-08-19T11:56:42Z</dcterms:modified>
</cp:coreProperties>
</file>